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5"/>
  </p:notesMasterIdLst>
  <p:sldIdLst>
    <p:sldId id="256" r:id="rId3"/>
    <p:sldId id="272" r:id="rId4"/>
  </p:sldIdLst>
  <p:sldSz cx="13335000" cy="885825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23" userDrawn="1">
          <p15:clr>
            <a:srgbClr val="A4A3A4"/>
          </p15:clr>
        </p15:guide>
        <p15:guide id="2" pos="296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CF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223"/>
        <p:guide pos="296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06129" y="1143000"/>
            <a:ext cx="4645742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59471" y="1999354"/>
            <a:ext cx="7294215" cy="1379584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03078" y="3647108"/>
            <a:ext cx="6007001" cy="1644774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z="1125" smtClean="0"/>
            </a:fld>
            <a:endParaRPr lang="en-US" sz="1125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z="1125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z="1125" smtClean="0"/>
            </a:fld>
            <a:endParaRPr lang="en-US" sz="1125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9" Type="http://schemas.openxmlformats.org/officeDocument/2006/relationships/tags" Target="../tags/tag99.xml"/><Relationship Id="rId98" Type="http://schemas.openxmlformats.org/officeDocument/2006/relationships/tags" Target="../tags/tag98.xml"/><Relationship Id="rId97" Type="http://schemas.openxmlformats.org/officeDocument/2006/relationships/tags" Target="../tags/tag97.xml"/><Relationship Id="rId96" Type="http://schemas.openxmlformats.org/officeDocument/2006/relationships/tags" Target="../tags/tag96.xml"/><Relationship Id="rId95" Type="http://schemas.openxmlformats.org/officeDocument/2006/relationships/tags" Target="../tags/tag95.xml"/><Relationship Id="rId94" Type="http://schemas.openxmlformats.org/officeDocument/2006/relationships/tags" Target="../tags/tag94.xml"/><Relationship Id="rId93" Type="http://schemas.openxmlformats.org/officeDocument/2006/relationships/tags" Target="../tags/tag93.xml"/><Relationship Id="rId92" Type="http://schemas.openxmlformats.org/officeDocument/2006/relationships/tags" Target="../tags/tag92.xml"/><Relationship Id="rId91" Type="http://schemas.openxmlformats.org/officeDocument/2006/relationships/tags" Target="../tags/tag91.xml"/><Relationship Id="rId90" Type="http://schemas.openxmlformats.org/officeDocument/2006/relationships/tags" Target="../tags/tag90.xml"/><Relationship Id="rId9" Type="http://schemas.openxmlformats.org/officeDocument/2006/relationships/tags" Target="../tags/tag9.xml"/><Relationship Id="rId89" Type="http://schemas.openxmlformats.org/officeDocument/2006/relationships/tags" Target="../tags/tag89.xml"/><Relationship Id="rId88" Type="http://schemas.openxmlformats.org/officeDocument/2006/relationships/tags" Target="../tags/tag88.xml"/><Relationship Id="rId87" Type="http://schemas.openxmlformats.org/officeDocument/2006/relationships/tags" Target="../tags/tag87.xml"/><Relationship Id="rId86" Type="http://schemas.openxmlformats.org/officeDocument/2006/relationships/tags" Target="../tags/tag86.xml"/><Relationship Id="rId85" Type="http://schemas.openxmlformats.org/officeDocument/2006/relationships/tags" Target="../tags/tag85.xml"/><Relationship Id="rId84" Type="http://schemas.openxmlformats.org/officeDocument/2006/relationships/tags" Target="../tags/tag84.xml"/><Relationship Id="rId83" Type="http://schemas.openxmlformats.org/officeDocument/2006/relationships/tags" Target="../tags/tag83.xml"/><Relationship Id="rId82" Type="http://schemas.openxmlformats.org/officeDocument/2006/relationships/tags" Target="../tags/tag82.xml"/><Relationship Id="rId81" Type="http://schemas.openxmlformats.org/officeDocument/2006/relationships/tags" Target="../tags/tag81.xml"/><Relationship Id="rId80" Type="http://schemas.openxmlformats.org/officeDocument/2006/relationships/tags" Target="../tags/tag80.xml"/><Relationship Id="rId8" Type="http://schemas.openxmlformats.org/officeDocument/2006/relationships/tags" Target="../tags/tag8.xml"/><Relationship Id="rId79" Type="http://schemas.openxmlformats.org/officeDocument/2006/relationships/tags" Target="../tags/tag79.xml"/><Relationship Id="rId78" Type="http://schemas.openxmlformats.org/officeDocument/2006/relationships/tags" Target="../tags/tag78.xml"/><Relationship Id="rId77" Type="http://schemas.openxmlformats.org/officeDocument/2006/relationships/tags" Target="../tags/tag77.xml"/><Relationship Id="rId76" Type="http://schemas.openxmlformats.org/officeDocument/2006/relationships/tags" Target="../tags/tag76.xml"/><Relationship Id="rId75" Type="http://schemas.openxmlformats.org/officeDocument/2006/relationships/tags" Target="../tags/tag75.xml"/><Relationship Id="rId74" Type="http://schemas.openxmlformats.org/officeDocument/2006/relationships/tags" Target="../tags/tag74.xml"/><Relationship Id="rId73" Type="http://schemas.openxmlformats.org/officeDocument/2006/relationships/tags" Target="../tags/tag73.xml"/><Relationship Id="rId72" Type="http://schemas.openxmlformats.org/officeDocument/2006/relationships/tags" Target="../tags/tag72.xml"/><Relationship Id="rId71" Type="http://schemas.openxmlformats.org/officeDocument/2006/relationships/tags" Target="../tags/tag71.xml"/><Relationship Id="rId70" Type="http://schemas.openxmlformats.org/officeDocument/2006/relationships/tags" Target="../tags/tag70.xml"/><Relationship Id="rId7" Type="http://schemas.openxmlformats.org/officeDocument/2006/relationships/tags" Target="../tags/tag7.xml"/><Relationship Id="rId69" Type="http://schemas.openxmlformats.org/officeDocument/2006/relationships/tags" Target="../tags/tag69.xml"/><Relationship Id="rId68" Type="http://schemas.openxmlformats.org/officeDocument/2006/relationships/tags" Target="../tags/tag68.xml"/><Relationship Id="rId67" Type="http://schemas.openxmlformats.org/officeDocument/2006/relationships/tags" Target="../tags/tag67.xml"/><Relationship Id="rId66" Type="http://schemas.openxmlformats.org/officeDocument/2006/relationships/tags" Target="../tags/tag66.xml"/><Relationship Id="rId65" Type="http://schemas.openxmlformats.org/officeDocument/2006/relationships/tags" Target="../tags/tag65.xml"/><Relationship Id="rId64" Type="http://schemas.openxmlformats.org/officeDocument/2006/relationships/tags" Target="../tags/tag64.xml"/><Relationship Id="rId63" Type="http://schemas.openxmlformats.org/officeDocument/2006/relationships/tags" Target="../tags/tag63.xml"/><Relationship Id="rId62" Type="http://schemas.openxmlformats.org/officeDocument/2006/relationships/tags" Target="../tags/tag62.xml"/><Relationship Id="rId61" Type="http://schemas.openxmlformats.org/officeDocument/2006/relationships/tags" Target="../tags/tag61.xml"/><Relationship Id="rId60" Type="http://schemas.openxmlformats.org/officeDocument/2006/relationships/tags" Target="../tags/tag60.xml"/><Relationship Id="rId6" Type="http://schemas.openxmlformats.org/officeDocument/2006/relationships/tags" Target="../tags/tag6.xml"/><Relationship Id="rId59" Type="http://schemas.openxmlformats.org/officeDocument/2006/relationships/tags" Target="../tags/tag59.xml"/><Relationship Id="rId58" Type="http://schemas.openxmlformats.org/officeDocument/2006/relationships/tags" Target="../tags/tag58.xml"/><Relationship Id="rId57" Type="http://schemas.openxmlformats.org/officeDocument/2006/relationships/tags" Target="../tags/tag57.xml"/><Relationship Id="rId56" Type="http://schemas.openxmlformats.org/officeDocument/2006/relationships/tags" Target="../tags/tag56.xml"/><Relationship Id="rId55" Type="http://schemas.openxmlformats.org/officeDocument/2006/relationships/tags" Target="../tags/tag55.xml"/><Relationship Id="rId54" Type="http://schemas.openxmlformats.org/officeDocument/2006/relationships/tags" Target="../tags/tag54.xml"/><Relationship Id="rId53" Type="http://schemas.openxmlformats.org/officeDocument/2006/relationships/tags" Target="../tags/tag53.xml"/><Relationship Id="rId52" Type="http://schemas.openxmlformats.org/officeDocument/2006/relationships/tags" Target="../tags/tag52.xml"/><Relationship Id="rId51" Type="http://schemas.openxmlformats.org/officeDocument/2006/relationships/tags" Target="../tags/tag51.xml"/><Relationship Id="rId50" Type="http://schemas.openxmlformats.org/officeDocument/2006/relationships/tags" Target="../tags/tag50.xml"/><Relationship Id="rId5" Type="http://schemas.openxmlformats.org/officeDocument/2006/relationships/tags" Target="../tags/tag5.xml"/><Relationship Id="rId49" Type="http://schemas.openxmlformats.org/officeDocument/2006/relationships/tags" Target="../tags/tag49.xml"/><Relationship Id="rId48" Type="http://schemas.openxmlformats.org/officeDocument/2006/relationships/tags" Target="../tags/tag48.xml"/><Relationship Id="rId47" Type="http://schemas.openxmlformats.org/officeDocument/2006/relationships/tags" Target="../tags/tag47.xml"/><Relationship Id="rId46" Type="http://schemas.openxmlformats.org/officeDocument/2006/relationships/tags" Target="../tags/tag46.xml"/><Relationship Id="rId45" Type="http://schemas.openxmlformats.org/officeDocument/2006/relationships/tags" Target="../tags/tag45.xml"/><Relationship Id="rId44" Type="http://schemas.openxmlformats.org/officeDocument/2006/relationships/tags" Target="../tags/tag44.xml"/><Relationship Id="rId43" Type="http://schemas.openxmlformats.org/officeDocument/2006/relationships/tags" Target="../tags/tag43.xml"/><Relationship Id="rId42" Type="http://schemas.openxmlformats.org/officeDocument/2006/relationships/tags" Target="../tags/tag42.xml"/><Relationship Id="rId41" Type="http://schemas.openxmlformats.org/officeDocument/2006/relationships/tags" Target="../tags/tag41.xml"/><Relationship Id="rId40" Type="http://schemas.openxmlformats.org/officeDocument/2006/relationships/tags" Target="../tags/tag40.xml"/><Relationship Id="rId4" Type="http://schemas.openxmlformats.org/officeDocument/2006/relationships/tags" Target="../tags/tag4.xml"/><Relationship Id="rId39" Type="http://schemas.openxmlformats.org/officeDocument/2006/relationships/tags" Target="../tags/tag39.xml"/><Relationship Id="rId38" Type="http://schemas.openxmlformats.org/officeDocument/2006/relationships/tags" Target="../tags/tag38.xml"/><Relationship Id="rId37" Type="http://schemas.openxmlformats.org/officeDocument/2006/relationships/tags" Target="../tags/tag37.xml"/><Relationship Id="rId36" Type="http://schemas.openxmlformats.org/officeDocument/2006/relationships/tags" Target="../tags/tag36.xml"/><Relationship Id="rId35" Type="http://schemas.openxmlformats.org/officeDocument/2006/relationships/tags" Target="../tags/tag35.xml"/><Relationship Id="rId34" Type="http://schemas.openxmlformats.org/officeDocument/2006/relationships/tags" Target="../tags/tag34.xml"/><Relationship Id="rId33" Type="http://schemas.openxmlformats.org/officeDocument/2006/relationships/tags" Target="../tags/tag33.xml"/><Relationship Id="rId32" Type="http://schemas.openxmlformats.org/officeDocument/2006/relationships/tags" Target="../tags/tag32.xml"/><Relationship Id="rId31" Type="http://schemas.openxmlformats.org/officeDocument/2006/relationships/tags" Target="../tags/tag31.xml"/><Relationship Id="rId30" Type="http://schemas.openxmlformats.org/officeDocument/2006/relationships/tags" Target="../tags/tag30.xml"/><Relationship Id="rId3" Type="http://schemas.openxmlformats.org/officeDocument/2006/relationships/tags" Target="../tags/tag3.xml"/><Relationship Id="rId29" Type="http://schemas.openxmlformats.org/officeDocument/2006/relationships/tags" Target="../tags/tag29.xml"/><Relationship Id="rId28" Type="http://schemas.openxmlformats.org/officeDocument/2006/relationships/tags" Target="../tags/tag28.xml"/><Relationship Id="rId27" Type="http://schemas.openxmlformats.org/officeDocument/2006/relationships/tags" Target="../tags/tag27.xml"/><Relationship Id="rId26" Type="http://schemas.openxmlformats.org/officeDocument/2006/relationships/tags" Target="../tags/tag26.xml"/><Relationship Id="rId25" Type="http://schemas.openxmlformats.org/officeDocument/2006/relationships/tags" Target="../tags/tag25.xml"/><Relationship Id="rId24" Type="http://schemas.openxmlformats.org/officeDocument/2006/relationships/tags" Target="../tags/tag24.xml"/><Relationship Id="rId23" Type="http://schemas.openxmlformats.org/officeDocument/2006/relationships/tags" Target="../tags/tag23.xml"/><Relationship Id="rId22" Type="http://schemas.openxmlformats.org/officeDocument/2006/relationships/tags" Target="../tags/tag22.xml"/><Relationship Id="rId21" Type="http://schemas.openxmlformats.org/officeDocument/2006/relationships/tags" Target="../tags/tag21.xml"/><Relationship Id="rId20" Type="http://schemas.openxmlformats.org/officeDocument/2006/relationships/tags" Target="../tags/tag20.xml"/><Relationship Id="rId2" Type="http://schemas.openxmlformats.org/officeDocument/2006/relationships/tags" Target="../tags/tag2.xml"/><Relationship Id="rId19" Type="http://schemas.openxmlformats.org/officeDocument/2006/relationships/tags" Target="../tags/tag19.xml"/><Relationship Id="rId18" Type="http://schemas.openxmlformats.org/officeDocument/2006/relationships/tags" Target="../tags/tag18.xml"/><Relationship Id="rId17" Type="http://schemas.openxmlformats.org/officeDocument/2006/relationships/tags" Target="../tags/tag17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6" Type="http://schemas.openxmlformats.org/officeDocument/2006/relationships/slideLayout" Target="../slideLayouts/slideLayout1.xml"/><Relationship Id="rId135" Type="http://schemas.openxmlformats.org/officeDocument/2006/relationships/image" Target="../media/image11.png"/><Relationship Id="rId134" Type="http://schemas.openxmlformats.org/officeDocument/2006/relationships/image" Target="../media/image10.png"/><Relationship Id="rId133" Type="http://schemas.openxmlformats.org/officeDocument/2006/relationships/image" Target="../media/image9.png"/><Relationship Id="rId132" Type="http://schemas.openxmlformats.org/officeDocument/2006/relationships/tags" Target="../tags/tag124.xml"/><Relationship Id="rId131" Type="http://schemas.openxmlformats.org/officeDocument/2006/relationships/tags" Target="../tags/tag123.xml"/><Relationship Id="rId130" Type="http://schemas.openxmlformats.org/officeDocument/2006/relationships/image" Target="../media/image8.png"/><Relationship Id="rId13" Type="http://schemas.openxmlformats.org/officeDocument/2006/relationships/tags" Target="../tags/tag13.xml"/><Relationship Id="rId129" Type="http://schemas.openxmlformats.org/officeDocument/2006/relationships/tags" Target="../tags/tag122.xml"/><Relationship Id="rId128" Type="http://schemas.openxmlformats.org/officeDocument/2006/relationships/tags" Target="../tags/tag121.xml"/><Relationship Id="rId127" Type="http://schemas.openxmlformats.org/officeDocument/2006/relationships/image" Target="../media/image7.png"/><Relationship Id="rId126" Type="http://schemas.openxmlformats.org/officeDocument/2006/relationships/tags" Target="../tags/tag120.xml"/><Relationship Id="rId125" Type="http://schemas.openxmlformats.org/officeDocument/2006/relationships/tags" Target="../tags/tag119.xml"/><Relationship Id="rId124" Type="http://schemas.openxmlformats.org/officeDocument/2006/relationships/tags" Target="../tags/tag118.xml"/><Relationship Id="rId123" Type="http://schemas.openxmlformats.org/officeDocument/2006/relationships/tags" Target="../tags/tag117.xml"/><Relationship Id="rId122" Type="http://schemas.openxmlformats.org/officeDocument/2006/relationships/tags" Target="../tags/tag116.xml"/><Relationship Id="rId121" Type="http://schemas.openxmlformats.org/officeDocument/2006/relationships/image" Target="../media/image6.png"/><Relationship Id="rId120" Type="http://schemas.openxmlformats.org/officeDocument/2006/relationships/tags" Target="../tags/tag115.xml"/><Relationship Id="rId12" Type="http://schemas.openxmlformats.org/officeDocument/2006/relationships/tags" Target="../tags/tag12.xml"/><Relationship Id="rId119" Type="http://schemas.openxmlformats.org/officeDocument/2006/relationships/tags" Target="../tags/tag114.xml"/><Relationship Id="rId118" Type="http://schemas.openxmlformats.org/officeDocument/2006/relationships/image" Target="../media/image5.png"/><Relationship Id="rId117" Type="http://schemas.openxmlformats.org/officeDocument/2006/relationships/tags" Target="../tags/tag113.xml"/><Relationship Id="rId116" Type="http://schemas.openxmlformats.org/officeDocument/2006/relationships/tags" Target="../tags/tag112.xml"/><Relationship Id="rId115" Type="http://schemas.openxmlformats.org/officeDocument/2006/relationships/image" Target="../media/image4.png"/><Relationship Id="rId114" Type="http://schemas.openxmlformats.org/officeDocument/2006/relationships/tags" Target="../tags/tag111.xml"/><Relationship Id="rId113" Type="http://schemas.openxmlformats.org/officeDocument/2006/relationships/tags" Target="../tags/tag110.xml"/><Relationship Id="rId112" Type="http://schemas.openxmlformats.org/officeDocument/2006/relationships/tags" Target="../tags/tag109.xml"/><Relationship Id="rId111" Type="http://schemas.openxmlformats.org/officeDocument/2006/relationships/tags" Target="../tags/tag108.xml"/><Relationship Id="rId110" Type="http://schemas.openxmlformats.org/officeDocument/2006/relationships/tags" Target="../tags/tag107.xml"/><Relationship Id="rId11" Type="http://schemas.openxmlformats.org/officeDocument/2006/relationships/tags" Target="../tags/tag11.xml"/><Relationship Id="rId109" Type="http://schemas.openxmlformats.org/officeDocument/2006/relationships/tags" Target="../tags/tag106.xml"/><Relationship Id="rId108" Type="http://schemas.openxmlformats.org/officeDocument/2006/relationships/tags" Target="../tags/tag105.xml"/><Relationship Id="rId107" Type="http://schemas.openxmlformats.org/officeDocument/2006/relationships/tags" Target="../tags/tag104.xml"/><Relationship Id="rId106" Type="http://schemas.openxmlformats.org/officeDocument/2006/relationships/image" Target="../media/image3.png"/><Relationship Id="rId105" Type="http://schemas.openxmlformats.org/officeDocument/2006/relationships/image" Target="../media/image2.png"/><Relationship Id="rId104" Type="http://schemas.openxmlformats.org/officeDocument/2006/relationships/image" Target="../media/image1.png"/><Relationship Id="rId103" Type="http://schemas.openxmlformats.org/officeDocument/2006/relationships/tags" Target="../tags/tag103.xml"/><Relationship Id="rId102" Type="http://schemas.openxmlformats.org/officeDocument/2006/relationships/tags" Target="../tags/tag102.xml"/><Relationship Id="rId101" Type="http://schemas.openxmlformats.org/officeDocument/2006/relationships/tags" Target="../tags/tag101.xml"/><Relationship Id="rId100" Type="http://schemas.openxmlformats.org/officeDocument/2006/relationships/tags" Target="../tags/tag100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3.png"/><Relationship Id="rId1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243205" y="130810"/>
            <a:ext cx="3048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</a:t>
            </a:r>
            <a:r>
              <a:rPr 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a</a:t>
            </a:r>
            <a:r>
              <a:rPr lang="en-US" alt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)</a:t>
            </a:r>
            <a:r>
              <a:rPr 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Graph representation</a:t>
            </a:r>
            <a:endParaRPr lang="zh-CN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153" name="Group 153"/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475960" y="5894705"/>
            <a:ext cx="7463502" cy="2521289"/>
            <a:chOff x="3519488" y="798076"/>
            <a:chExt cx="9555342" cy="3227945"/>
          </a:xfrm>
        </p:grpSpPr>
        <p:grpSp>
          <p:nvGrpSpPr>
            <p:cNvPr id="39" name="Group 39"/>
            <p:cNvGrpSpPr/>
            <p:nvPr/>
          </p:nvGrpSpPr>
          <p:grpSpPr>
            <a:xfrm>
              <a:off x="3589743" y="798076"/>
              <a:ext cx="8202215" cy="514614"/>
              <a:chOff x="3589743" y="798076"/>
              <a:chExt cx="8202215" cy="514614"/>
            </a:xfrm>
          </p:grpSpPr>
          <p:sp>
            <p:nvSpPr>
              <p:cNvPr id="34" name="TextBox 34"/>
              <p:cNvSpPr txBox="1"/>
              <p:nvPr>
                <p:custDataLst>
                  <p:tags r:id="rId2"/>
                </p:custDataLst>
              </p:nvPr>
            </p:nvSpPr>
            <p:spPr>
              <a:xfrm>
                <a:off x="3589743" y="798076"/>
                <a:ext cx="1359331" cy="51461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GINE layer 1</a:t>
                </a:r>
                <a:endParaRPr lang="zh-CN" sz="14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5" name="TextBox 35"/>
              <p:cNvSpPr txBox="1"/>
              <p:nvPr>
                <p:custDataLst>
                  <p:tags r:id="rId3"/>
                </p:custDataLst>
              </p:nvPr>
            </p:nvSpPr>
            <p:spPr>
              <a:xfrm>
                <a:off x="5325046" y="798076"/>
                <a:ext cx="1359331" cy="440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GINE layer 2</a:t>
                </a:r>
                <a:endParaRPr lang="zh-CN" sz="14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6" name="TextBox 36"/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7060349" y="798076"/>
                <a:ext cx="1359331" cy="376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GINE layer 3</a:t>
                </a:r>
                <a:endParaRPr lang="zh-CN" sz="14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7" name="TextBox 37"/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8795652" y="798076"/>
                <a:ext cx="1359331" cy="32216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GINE layer 4</a:t>
                </a:r>
                <a:endParaRPr lang="zh-CN" sz="14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38" name="TextBox 38"/>
              <p:cNvSpPr txBox="1"/>
              <p:nvPr>
                <p:custDataLst>
                  <p:tags r:id="rId6"/>
                </p:custDataLst>
              </p:nvPr>
            </p:nvSpPr>
            <p:spPr>
              <a:xfrm>
                <a:off x="10448923" y="798076"/>
                <a:ext cx="1343035" cy="27559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4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GINE layer 5</a:t>
                </a:r>
                <a:endParaRPr lang="zh-CN" sz="14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  <p:grpSp>
          <p:nvGrpSpPr>
            <p:cNvPr id="147" name="Group 147"/>
            <p:cNvGrpSpPr/>
            <p:nvPr/>
          </p:nvGrpSpPr>
          <p:grpSpPr>
            <a:xfrm>
              <a:off x="3519488" y="1233488"/>
              <a:ext cx="8343899" cy="2792533"/>
              <a:chOff x="3519488" y="1233488"/>
              <a:chExt cx="8343899" cy="2792533"/>
            </a:xfrm>
          </p:grpSpPr>
          <p:grpSp>
            <p:nvGrpSpPr>
              <p:cNvPr id="51" name="Group 51"/>
              <p:cNvGrpSpPr/>
              <p:nvPr/>
            </p:nvGrpSpPr>
            <p:grpSpPr>
              <a:xfrm>
                <a:off x="3519488" y="1233488"/>
                <a:ext cx="1485899" cy="1220908"/>
                <a:chOff x="3519488" y="1233488"/>
                <a:chExt cx="1485899" cy="1220908"/>
              </a:xfrm>
            </p:grpSpPr>
            <p:sp>
              <p:nvSpPr>
                <p:cNvPr id="40" name="Freeform 40"/>
                <p:cNvSpPr/>
                <p:nvPr>
                  <p:custDataLst>
                    <p:tags r:id="rId7"/>
                  </p:custDataLst>
                </p:nvPr>
              </p:nvSpPr>
              <p:spPr>
                <a:xfrm>
                  <a:off x="3619500" y="1333500"/>
                  <a:ext cx="1285875" cy="607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607219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1" name="Freeform 41"/>
                <p:cNvSpPr/>
                <p:nvPr>
                  <p:custDataLst>
                    <p:tags r:id="rId8"/>
                  </p:custDataLst>
                </p:nvPr>
              </p:nvSpPr>
              <p:spPr>
                <a:xfrm>
                  <a:off x="3619500" y="1333500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CCCCCC"/>
                  </a:solidFill>
                </a:ln>
              </p:spPr>
            </p:sp>
            <p:sp>
              <p:nvSpPr>
                <p:cNvPr id="42" name="Ellipse 42"/>
                <p:cNvSpPr/>
                <p:nvPr>
                  <p:custDataLst>
                    <p:tags r:id="rId9"/>
                  </p:custDataLst>
                </p:nvPr>
              </p:nvSpPr>
              <p:spPr>
                <a:xfrm>
                  <a:off x="3519488" y="1840706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3" name="Ellipse 43"/>
                <p:cNvSpPr/>
                <p:nvPr>
                  <p:custDataLst>
                    <p:tags r:id="rId10"/>
                  </p:custDataLst>
                </p:nvPr>
              </p:nvSpPr>
              <p:spPr>
                <a:xfrm>
                  <a:off x="3840956" y="137636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4" name="Ellipse 44"/>
                <p:cNvSpPr/>
                <p:nvPr>
                  <p:custDataLst>
                    <p:tags r:id="rId11"/>
                  </p:custDataLst>
                </p:nvPr>
              </p:nvSpPr>
              <p:spPr>
                <a:xfrm>
                  <a:off x="4162425" y="1626394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5" name="Ellipse 45"/>
                <p:cNvSpPr/>
                <p:nvPr>
                  <p:custDataLst>
                    <p:tags r:id="rId12"/>
                  </p:custDataLst>
                </p:nvPr>
              </p:nvSpPr>
              <p:spPr>
                <a:xfrm>
                  <a:off x="4519612" y="1233488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6" name="Ellipse 46"/>
                <p:cNvSpPr/>
                <p:nvPr>
                  <p:custDataLst>
                    <p:tags r:id="rId13"/>
                  </p:custDataLst>
                </p:nvPr>
              </p:nvSpPr>
              <p:spPr>
                <a:xfrm>
                  <a:off x="4805362" y="1733550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7" name="Ellipse 47"/>
                <p:cNvSpPr/>
                <p:nvPr>
                  <p:custDataLst>
                    <p:tags r:id="rId14"/>
                  </p:custDataLst>
                </p:nvPr>
              </p:nvSpPr>
              <p:spPr>
                <a:xfrm>
                  <a:off x="4126706" y="2233612"/>
                  <a:ext cx="200025" cy="200025"/>
                </a:xfrm>
                <a:prstGeom prst="ellipse">
                  <a:avLst/>
                </a:prstGeom>
                <a:solidFill>
                  <a:srgbClr val="FFFFFF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48" name="TextBox 48"/>
                <p:cNvSpPr txBox="1"/>
                <p:nvPr>
                  <p:custDataLst>
                    <p:tags r:id="rId15"/>
                  </p:custDataLst>
                </p:nvPr>
              </p:nvSpPr>
              <p:spPr>
                <a:xfrm>
                  <a:off x="4188915" y="2247900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49" name="Freeform 49"/>
                <p:cNvSpPr/>
                <p:nvPr>
                  <p:custDataLst>
                    <p:tags r:id="rId16"/>
                  </p:custDataLst>
                </p:nvPr>
              </p:nvSpPr>
              <p:spPr>
                <a:xfrm>
                  <a:off x="3562350" y="1476375"/>
                  <a:ext cx="250031" cy="321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0031" h="321469">
                      <a:moveTo>
                        <a:pt x="0" y="321469"/>
                      </a:moveTo>
                      <a:cubicBezTo>
                        <a:pt x="0" y="130969"/>
                        <a:pt x="83344" y="23812"/>
                        <a:pt x="250031" y="0"/>
                      </a:cubicBez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  <a:custDash>
                    <a:ds d="200000" sp="120000"/>
                  </a:custDash>
                </a:ln>
              </p:spPr>
            </p:sp>
            <p:sp>
              <p:nvSpPr>
                <p:cNvPr id="50" name="Freeform 50"/>
                <p:cNvSpPr/>
                <p:nvPr>
                  <p:custDataLst>
                    <p:tags r:id="rId17"/>
                  </p:custDataLst>
                </p:nvPr>
              </p:nvSpPr>
              <p:spPr>
                <a:xfrm>
                  <a:off x="3748088" y="1447800"/>
                  <a:ext cx="64294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94" h="78581">
                      <a:moveTo>
                        <a:pt x="64294" y="28575"/>
                      </a:moveTo>
                      <a:lnTo>
                        <a:pt x="0" y="0"/>
                      </a:lnTo>
                      <a:lnTo>
                        <a:pt x="21431" y="78581"/>
                      </a:lnTo>
                      <a:close/>
                    </a:path>
                  </a:pathLst>
                </a:custGeom>
                <a:solidFill>
                  <a:srgbClr val="111111"/>
                </a:solidFill>
                <a:ln>
                  <a:noFill/>
                </a:ln>
              </p:spPr>
            </p:sp>
          </p:grpSp>
          <p:grpSp>
            <p:nvGrpSpPr>
              <p:cNvPr id="63" name="Group 63"/>
              <p:cNvGrpSpPr/>
              <p:nvPr/>
            </p:nvGrpSpPr>
            <p:grpSpPr>
              <a:xfrm>
                <a:off x="5233988" y="1233488"/>
                <a:ext cx="1485899" cy="1220908"/>
                <a:chOff x="5233988" y="1233488"/>
                <a:chExt cx="1485899" cy="1220908"/>
              </a:xfrm>
            </p:grpSpPr>
            <p:sp>
              <p:nvSpPr>
                <p:cNvPr id="52" name="Freeform 52"/>
                <p:cNvSpPr/>
                <p:nvPr>
                  <p:custDataLst>
                    <p:tags r:id="rId18"/>
                  </p:custDataLst>
                </p:nvPr>
              </p:nvSpPr>
              <p:spPr>
                <a:xfrm>
                  <a:off x="5334000" y="1333500"/>
                  <a:ext cx="1285875" cy="607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607219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53" name="Freeform 53"/>
                <p:cNvSpPr/>
                <p:nvPr>
                  <p:custDataLst>
                    <p:tags r:id="rId19"/>
                  </p:custDataLst>
                </p:nvPr>
              </p:nvSpPr>
              <p:spPr>
                <a:xfrm>
                  <a:off x="5334000" y="1333500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CCCCCC"/>
                  </a:solidFill>
                </a:ln>
              </p:spPr>
            </p:sp>
            <p:sp>
              <p:nvSpPr>
                <p:cNvPr id="54" name="Ellipse 54"/>
                <p:cNvSpPr/>
                <p:nvPr>
                  <p:custDataLst>
                    <p:tags r:id="rId20"/>
                  </p:custDataLst>
                </p:nvPr>
              </p:nvSpPr>
              <p:spPr>
                <a:xfrm>
                  <a:off x="5233988" y="1840706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55" name="Ellipse 55"/>
                <p:cNvSpPr/>
                <p:nvPr>
                  <p:custDataLst>
                    <p:tags r:id="rId21"/>
                  </p:custDataLst>
                </p:nvPr>
              </p:nvSpPr>
              <p:spPr>
                <a:xfrm>
                  <a:off x="5555456" y="137636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56" name="Ellipse 56"/>
                <p:cNvSpPr/>
                <p:nvPr>
                  <p:custDataLst>
                    <p:tags r:id="rId22"/>
                  </p:custDataLst>
                </p:nvPr>
              </p:nvSpPr>
              <p:spPr>
                <a:xfrm>
                  <a:off x="5876925" y="1626394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57" name="Ellipse 57"/>
                <p:cNvSpPr/>
                <p:nvPr>
                  <p:custDataLst>
                    <p:tags r:id="rId23"/>
                  </p:custDataLst>
                </p:nvPr>
              </p:nvSpPr>
              <p:spPr>
                <a:xfrm>
                  <a:off x="6234112" y="1233488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58" name="Ellipse 58"/>
                <p:cNvSpPr/>
                <p:nvPr>
                  <p:custDataLst>
                    <p:tags r:id="rId24"/>
                  </p:custDataLst>
                </p:nvPr>
              </p:nvSpPr>
              <p:spPr>
                <a:xfrm>
                  <a:off x="6519862" y="1733550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59" name="Ellipse 59"/>
                <p:cNvSpPr/>
                <p:nvPr>
                  <p:custDataLst>
                    <p:tags r:id="rId25"/>
                  </p:custDataLst>
                </p:nvPr>
              </p:nvSpPr>
              <p:spPr>
                <a:xfrm>
                  <a:off x="5841206" y="2233612"/>
                  <a:ext cx="200025" cy="200025"/>
                </a:xfrm>
                <a:prstGeom prst="ellipse">
                  <a:avLst/>
                </a:prstGeom>
                <a:solidFill>
                  <a:srgbClr val="FFFFFF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60" name="TextBox 60"/>
                <p:cNvSpPr txBox="1"/>
                <p:nvPr>
                  <p:custDataLst>
                    <p:tags r:id="rId26"/>
                  </p:custDataLst>
                </p:nvPr>
              </p:nvSpPr>
              <p:spPr>
                <a:xfrm>
                  <a:off x="5903416" y="2247900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61" name="Freeform 61"/>
                <p:cNvSpPr/>
                <p:nvPr>
                  <p:custDataLst>
                    <p:tags r:id="rId27"/>
                  </p:custDataLst>
                </p:nvPr>
              </p:nvSpPr>
              <p:spPr>
                <a:xfrm>
                  <a:off x="5762625" y="1395412"/>
                  <a:ext cx="271462" cy="1881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2" h="188119">
                      <a:moveTo>
                        <a:pt x="0" y="9525"/>
                      </a:moveTo>
                      <a:cubicBezTo>
                        <a:pt x="157162" y="0"/>
                        <a:pt x="247650" y="59531"/>
                        <a:pt x="271462" y="188119"/>
                      </a:cubicBez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  <a:custDash>
                    <a:ds d="200000" sp="120000"/>
                  </a:custDash>
                </a:ln>
              </p:spPr>
            </p:sp>
            <p:sp>
              <p:nvSpPr>
                <p:cNvPr id="62" name="Freeform 62"/>
                <p:cNvSpPr/>
                <p:nvPr>
                  <p:custDataLst>
                    <p:tags r:id="rId28"/>
                  </p:custDataLst>
                </p:nvPr>
              </p:nvSpPr>
              <p:spPr>
                <a:xfrm>
                  <a:off x="5984081" y="1526381"/>
                  <a:ext cx="78581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57150">
                      <a:moveTo>
                        <a:pt x="50006" y="57150"/>
                      </a:moveTo>
                      <a:lnTo>
                        <a:pt x="0" y="7144"/>
                      </a:lnTo>
                      <a:lnTo>
                        <a:pt x="78581" y="0"/>
                      </a:lnTo>
                      <a:close/>
                    </a:path>
                  </a:pathLst>
                </a:custGeom>
                <a:solidFill>
                  <a:srgbClr val="111111"/>
                </a:solidFill>
                <a:ln>
                  <a:noFill/>
                </a:ln>
              </p:spPr>
            </p:sp>
          </p:grpSp>
          <p:grpSp>
            <p:nvGrpSpPr>
              <p:cNvPr id="75" name="Group 75"/>
              <p:cNvGrpSpPr/>
              <p:nvPr/>
            </p:nvGrpSpPr>
            <p:grpSpPr>
              <a:xfrm>
                <a:off x="6948488" y="1233488"/>
                <a:ext cx="1485899" cy="1220908"/>
                <a:chOff x="6948488" y="1233488"/>
                <a:chExt cx="1485899" cy="1220908"/>
              </a:xfrm>
            </p:grpSpPr>
            <p:sp>
              <p:nvSpPr>
                <p:cNvPr id="64" name="Freeform 64"/>
                <p:cNvSpPr/>
                <p:nvPr>
                  <p:custDataLst>
                    <p:tags r:id="rId29"/>
                  </p:custDataLst>
                </p:nvPr>
              </p:nvSpPr>
              <p:spPr>
                <a:xfrm>
                  <a:off x="7048500" y="1333500"/>
                  <a:ext cx="1285875" cy="607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607219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65" name="Freeform 65"/>
                <p:cNvSpPr/>
                <p:nvPr>
                  <p:custDataLst>
                    <p:tags r:id="rId30"/>
                  </p:custDataLst>
                </p:nvPr>
              </p:nvSpPr>
              <p:spPr>
                <a:xfrm>
                  <a:off x="7048500" y="1333500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CCCCCC"/>
                  </a:solidFill>
                </a:ln>
              </p:spPr>
            </p:sp>
            <p:sp>
              <p:nvSpPr>
                <p:cNvPr id="66" name="Ellipse 66"/>
                <p:cNvSpPr/>
                <p:nvPr>
                  <p:custDataLst>
                    <p:tags r:id="rId31"/>
                  </p:custDataLst>
                </p:nvPr>
              </p:nvSpPr>
              <p:spPr>
                <a:xfrm>
                  <a:off x="6948488" y="1840706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67" name="Ellipse 67"/>
                <p:cNvSpPr/>
                <p:nvPr>
                  <p:custDataLst>
                    <p:tags r:id="rId32"/>
                  </p:custDataLst>
                </p:nvPr>
              </p:nvSpPr>
              <p:spPr>
                <a:xfrm>
                  <a:off x="7269956" y="137636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68" name="Ellipse 68"/>
                <p:cNvSpPr/>
                <p:nvPr>
                  <p:custDataLst>
                    <p:tags r:id="rId33"/>
                  </p:custDataLst>
                </p:nvPr>
              </p:nvSpPr>
              <p:spPr>
                <a:xfrm>
                  <a:off x="7591425" y="1626394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69" name="Ellipse 69"/>
                <p:cNvSpPr/>
                <p:nvPr>
                  <p:custDataLst>
                    <p:tags r:id="rId34"/>
                  </p:custDataLst>
                </p:nvPr>
              </p:nvSpPr>
              <p:spPr>
                <a:xfrm>
                  <a:off x="7948612" y="12334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70" name="Ellipse 70"/>
                <p:cNvSpPr/>
                <p:nvPr>
                  <p:custDataLst>
                    <p:tags r:id="rId35"/>
                  </p:custDataLst>
                </p:nvPr>
              </p:nvSpPr>
              <p:spPr>
                <a:xfrm>
                  <a:off x="8234362" y="1733550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71" name="Ellipse 71"/>
                <p:cNvSpPr/>
                <p:nvPr>
                  <p:custDataLst>
                    <p:tags r:id="rId36"/>
                  </p:custDataLst>
                </p:nvPr>
              </p:nvSpPr>
              <p:spPr>
                <a:xfrm>
                  <a:off x="7555706" y="2233612"/>
                  <a:ext cx="200025" cy="200025"/>
                </a:xfrm>
                <a:prstGeom prst="ellipse">
                  <a:avLst/>
                </a:prstGeom>
                <a:solidFill>
                  <a:srgbClr val="FFFFFF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72" name="TextBox 72"/>
                <p:cNvSpPr txBox="1"/>
                <p:nvPr>
                  <p:custDataLst>
                    <p:tags r:id="rId37"/>
                  </p:custDataLst>
                </p:nvPr>
              </p:nvSpPr>
              <p:spPr>
                <a:xfrm>
                  <a:off x="7617916" y="2247900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73" name="Freeform 73"/>
                <p:cNvSpPr/>
                <p:nvPr>
                  <p:custDataLst>
                    <p:tags r:id="rId38"/>
                  </p:custDataLst>
                </p:nvPr>
              </p:nvSpPr>
              <p:spPr>
                <a:xfrm>
                  <a:off x="7791450" y="1476375"/>
                  <a:ext cx="314325" cy="2357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14325" h="235744">
                      <a:moveTo>
                        <a:pt x="0" y="235744"/>
                      </a:moveTo>
                      <a:cubicBezTo>
                        <a:pt x="185738" y="197644"/>
                        <a:pt x="290512" y="119062"/>
                        <a:pt x="314325" y="0"/>
                      </a:cubicBez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  <a:custDash>
                    <a:ds d="200000" sp="120000"/>
                  </a:custDash>
                </a:ln>
              </p:spPr>
            </p:sp>
            <p:sp>
              <p:nvSpPr>
                <p:cNvPr id="74" name="Freeform 74"/>
                <p:cNvSpPr/>
                <p:nvPr>
                  <p:custDataLst>
                    <p:tags r:id="rId39"/>
                  </p:custDataLst>
                </p:nvPr>
              </p:nvSpPr>
              <p:spPr>
                <a:xfrm>
                  <a:off x="8055769" y="1476375"/>
                  <a:ext cx="78581" cy="642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64294">
                      <a:moveTo>
                        <a:pt x="50006" y="0"/>
                      </a:moveTo>
                      <a:lnTo>
                        <a:pt x="0" y="50006"/>
                      </a:lnTo>
                      <a:lnTo>
                        <a:pt x="78581" y="64294"/>
                      </a:lnTo>
                      <a:close/>
                    </a:path>
                  </a:pathLst>
                </a:custGeom>
                <a:solidFill>
                  <a:srgbClr val="111111"/>
                </a:solidFill>
                <a:ln>
                  <a:noFill/>
                </a:ln>
              </p:spPr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8662988" y="1233488"/>
                <a:ext cx="1485899" cy="1220908"/>
                <a:chOff x="8662988" y="1233488"/>
                <a:chExt cx="1485899" cy="1220908"/>
              </a:xfrm>
            </p:grpSpPr>
            <p:sp>
              <p:nvSpPr>
                <p:cNvPr id="76" name="Freeform 76"/>
                <p:cNvSpPr/>
                <p:nvPr>
                  <p:custDataLst>
                    <p:tags r:id="rId40"/>
                  </p:custDataLst>
                </p:nvPr>
              </p:nvSpPr>
              <p:spPr>
                <a:xfrm>
                  <a:off x="8763000" y="1333500"/>
                  <a:ext cx="1285875" cy="607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607219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77" name="Freeform 77"/>
                <p:cNvSpPr/>
                <p:nvPr>
                  <p:custDataLst>
                    <p:tags r:id="rId41"/>
                  </p:custDataLst>
                </p:nvPr>
              </p:nvSpPr>
              <p:spPr>
                <a:xfrm>
                  <a:off x="8763000" y="1333500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CCCCCC"/>
                  </a:solidFill>
                </a:ln>
              </p:spPr>
            </p:sp>
            <p:sp>
              <p:nvSpPr>
                <p:cNvPr id="78" name="Ellipse 78"/>
                <p:cNvSpPr/>
                <p:nvPr>
                  <p:custDataLst>
                    <p:tags r:id="rId42"/>
                  </p:custDataLst>
                </p:nvPr>
              </p:nvSpPr>
              <p:spPr>
                <a:xfrm>
                  <a:off x="8662988" y="1840706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79" name="Ellipse 79"/>
                <p:cNvSpPr/>
                <p:nvPr>
                  <p:custDataLst>
                    <p:tags r:id="rId43"/>
                  </p:custDataLst>
                </p:nvPr>
              </p:nvSpPr>
              <p:spPr>
                <a:xfrm>
                  <a:off x="8984456" y="137636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80" name="Ellipse 80"/>
                <p:cNvSpPr/>
                <p:nvPr>
                  <p:custDataLst>
                    <p:tags r:id="rId44"/>
                  </p:custDataLst>
                </p:nvPr>
              </p:nvSpPr>
              <p:spPr>
                <a:xfrm>
                  <a:off x="9305925" y="1626394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81" name="Ellipse 81"/>
                <p:cNvSpPr/>
                <p:nvPr>
                  <p:custDataLst>
                    <p:tags r:id="rId45"/>
                  </p:custDataLst>
                </p:nvPr>
              </p:nvSpPr>
              <p:spPr>
                <a:xfrm>
                  <a:off x="9663112" y="12334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82" name="Ellipse 82"/>
                <p:cNvSpPr/>
                <p:nvPr>
                  <p:custDataLst>
                    <p:tags r:id="rId46"/>
                  </p:custDataLst>
                </p:nvPr>
              </p:nvSpPr>
              <p:spPr>
                <a:xfrm>
                  <a:off x="9948862" y="1733550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83" name="Ellipse 83"/>
                <p:cNvSpPr/>
                <p:nvPr>
                  <p:custDataLst>
                    <p:tags r:id="rId47"/>
                  </p:custDataLst>
                </p:nvPr>
              </p:nvSpPr>
              <p:spPr>
                <a:xfrm>
                  <a:off x="9270206" y="2233612"/>
                  <a:ext cx="200025" cy="200025"/>
                </a:xfrm>
                <a:prstGeom prst="ellipse">
                  <a:avLst/>
                </a:prstGeom>
                <a:solidFill>
                  <a:srgbClr val="FFFFFF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84" name="TextBox 84"/>
                <p:cNvSpPr txBox="1"/>
                <p:nvPr>
                  <p:custDataLst>
                    <p:tags r:id="rId48"/>
                  </p:custDataLst>
                </p:nvPr>
              </p:nvSpPr>
              <p:spPr>
                <a:xfrm>
                  <a:off x="9332416" y="2247900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85" name="Freeform 85"/>
                <p:cNvSpPr/>
                <p:nvPr>
                  <p:custDataLst>
                    <p:tags r:id="rId49"/>
                  </p:custDataLst>
                </p:nvPr>
              </p:nvSpPr>
              <p:spPr>
                <a:xfrm>
                  <a:off x="9877425" y="1297781"/>
                  <a:ext cx="242888" cy="39290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8" h="392906">
                      <a:moveTo>
                        <a:pt x="0" y="0"/>
                      </a:moveTo>
                      <a:cubicBezTo>
                        <a:pt x="166688" y="85725"/>
                        <a:pt x="242888" y="216694"/>
                        <a:pt x="228600" y="392906"/>
                      </a:cubicBez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  <a:custDash>
                    <a:ds d="200000" sp="120000"/>
                  </a:custDash>
                </a:ln>
              </p:spPr>
            </p:sp>
            <p:sp>
              <p:nvSpPr>
                <p:cNvPr id="86" name="Freeform 86"/>
                <p:cNvSpPr/>
                <p:nvPr>
                  <p:custDataLst>
                    <p:tags r:id="rId50"/>
                  </p:custDataLst>
                </p:nvPr>
              </p:nvSpPr>
              <p:spPr>
                <a:xfrm>
                  <a:off x="10070306" y="1619250"/>
                  <a:ext cx="78581" cy="71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581" h="71438">
                      <a:moveTo>
                        <a:pt x="35719" y="71438"/>
                      </a:moveTo>
                      <a:lnTo>
                        <a:pt x="0" y="0"/>
                      </a:lnTo>
                      <a:lnTo>
                        <a:pt x="78581" y="14288"/>
                      </a:lnTo>
                      <a:close/>
                    </a:path>
                  </a:pathLst>
                </a:custGeom>
                <a:solidFill>
                  <a:srgbClr val="111111"/>
                </a:solidFill>
                <a:ln>
                  <a:noFill/>
                </a:ln>
              </p:spPr>
            </p:sp>
          </p:grpSp>
          <p:grpSp>
            <p:nvGrpSpPr>
              <p:cNvPr id="97" name="Group 97"/>
              <p:cNvGrpSpPr/>
              <p:nvPr/>
            </p:nvGrpSpPr>
            <p:grpSpPr>
              <a:xfrm>
                <a:off x="10377488" y="1233488"/>
                <a:ext cx="1485899" cy="1220908"/>
                <a:chOff x="10377488" y="1233488"/>
                <a:chExt cx="1485899" cy="1220908"/>
              </a:xfrm>
            </p:grpSpPr>
            <p:sp>
              <p:nvSpPr>
                <p:cNvPr id="88" name="Freeform 88"/>
                <p:cNvSpPr/>
                <p:nvPr>
                  <p:custDataLst>
                    <p:tags r:id="rId51"/>
                  </p:custDataLst>
                </p:nvPr>
              </p:nvSpPr>
              <p:spPr>
                <a:xfrm>
                  <a:off x="10477500" y="1333500"/>
                  <a:ext cx="1285875" cy="60721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607219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89" name="Freeform 89"/>
                <p:cNvSpPr/>
                <p:nvPr>
                  <p:custDataLst>
                    <p:tags r:id="rId52"/>
                  </p:custDataLst>
                </p:nvPr>
              </p:nvSpPr>
              <p:spPr>
                <a:xfrm>
                  <a:off x="10477500" y="1333500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CCCCCC"/>
                  </a:solidFill>
                </a:ln>
              </p:spPr>
            </p:sp>
            <p:sp>
              <p:nvSpPr>
                <p:cNvPr id="90" name="Ellipse 90"/>
                <p:cNvSpPr/>
                <p:nvPr>
                  <p:custDataLst>
                    <p:tags r:id="rId53"/>
                  </p:custDataLst>
                </p:nvPr>
              </p:nvSpPr>
              <p:spPr>
                <a:xfrm>
                  <a:off x="10377488" y="1840706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1" name="Ellipse 91"/>
                <p:cNvSpPr/>
                <p:nvPr>
                  <p:custDataLst>
                    <p:tags r:id="rId54"/>
                  </p:custDataLst>
                </p:nvPr>
              </p:nvSpPr>
              <p:spPr>
                <a:xfrm>
                  <a:off x="10698956" y="137636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2" name="Ellipse 92"/>
                <p:cNvSpPr/>
                <p:nvPr>
                  <p:custDataLst>
                    <p:tags r:id="rId55"/>
                  </p:custDataLst>
                </p:nvPr>
              </p:nvSpPr>
              <p:spPr>
                <a:xfrm>
                  <a:off x="11020425" y="1626394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3" name="Ellipse 93"/>
                <p:cNvSpPr/>
                <p:nvPr>
                  <p:custDataLst>
                    <p:tags r:id="rId56"/>
                  </p:custDataLst>
                </p:nvPr>
              </p:nvSpPr>
              <p:spPr>
                <a:xfrm>
                  <a:off x="11377612" y="12334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4" name="Ellipse 94"/>
                <p:cNvSpPr/>
                <p:nvPr>
                  <p:custDataLst>
                    <p:tags r:id="rId57"/>
                  </p:custDataLst>
                </p:nvPr>
              </p:nvSpPr>
              <p:spPr>
                <a:xfrm>
                  <a:off x="11663362" y="1733550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5" name="Ellipse 95"/>
                <p:cNvSpPr/>
                <p:nvPr>
                  <p:custDataLst>
                    <p:tags r:id="rId58"/>
                  </p:custDataLst>
                </p:nvPr>
              </p:nvSpPr>
              <p:spPr>
                <a:xfrm>
                  <a:off x="10984706" y="2233612"/>
                  <a:ext cx="200025" cy="200025"/>
                </a:xfrm>
                <a:prstGeom prst="ellipse">
                  <a:avLst/>
                </a:prstGeom>
                <a:solidFill>
                  <a:srgbClr val="FFFFFF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6" name="TextBox 96"/>
                <p:cNvSpPr txBox="1"/>
                <p:nvPr>
                  <p:custDataLst>
                    <p:tags r:id="rId59"/>
                  </p:custDataLst>
                </p:nvPr>
              </p:nvSpPr>
              <p:spPr>
                <a:xfrm>
                  <a:off x="11046916" y="2247900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08" name="Group 108"/>
              <p:cNvGrpSpPr/>
              <p:nvPr/>
            </p:nvGrpSpPr>
            <p:grpSpPr>
              <a:xfrm>
                <a:off x="3519488" y="2805112"/>
                <a:ext cx="1485899" cy="1220909"/>
                <a:chOff x="3519488" y="2805112"/>
                <a:chExt cx="1485899" cy="1220909"/>
              </a:xfrm>
            </p:grpSpPr>
            <p:sp>
              <p:nvSpPr>
                <p:cNvPr id="98" name="Freeform 98"/>
                <p:cNvSpPr/>
                <p:nvPr>
                  <p:custDataLst>
                    <p:tags r:id="rId60"/>
                  </p:custDataLst>
                </p:nvPr>
              </p:nvSpPr>
              <p:spPr>
                <a:xfrm>
                  <a:off x="3619500" y="2905125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99" name="Ellipse 99"/>
                <p:cNvSpPr/>
                <p:nvPr>
                  <p:custDataLst>
                    <p:tags r:id="rId61"/>
                  </p:custDataLst>
                </p:nvPr>
              </p:nvSpPr>
              <p:spPr>
                <a:xfrm>
                  <a:off x="3519488" y="3412331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00" name="Ellipse 100"/>
                <p:cNvSpPr/>
                <p:nvPr>
                  <p:custDataLst>
                    <p:tags r:id="rId62"/>
                  </p:custDataLst>
                </p:nvPr>
              </p:nvSpPr>
              <p:spPr>
                <a:xfrm>
                  <a:off x="3840956" y="29479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01" name="Ellipse 101"/>
                <p:cNvSpPr/>
                <p:nvPr>
                  <p:custDataLst>
                    <p:tags r:id="rId63"/>
                  </p:custDataLst>
                </p:nvPr>
              </p:nvSpPr>
              <p:spPr>
                <a:xfrm>
                  <a:off x="4162425" y="3198019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02" name="Ellipse 102"/>
                <p:cNvSpPr/>
                <p:nvPr>
                  <p:custDataLst>
                    <p:tags r:id="rId64"/>
                  </p:custDataLst>
                </p:nvPr>
              </p:nvSpPr>
              <p:spPr>
                <a:xfrm>
                  <a:off x="4519612" y="2805112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03" name="Ellipse 103"/>
                <p:cNvSpPr/>
                <p:nvPr>
                  <p:custDataLst>
                    <p:tags r:id="rId65"/>
                  </p:custDataLst>
                </p:nvPr>
              </p:nvSpPr>
              <p:spPr>
                <a:xfrm>
                  <a:off x="4805362" y="3305175"/>
                  <a:ext cx="200025" cy="200025"/>
                </a:xfrm>
                <a:prstGeom prst="ellipse">
                  <a:avLst/>
                </a:prstGeom>
                <a:solidFill>
                  <a:srgbClr val="9FC5E5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04" name="Ellipse 104"/>
                <p:cNvSpPr/>
                <p:nvPr>
                  <p:custDataLst>
                    <p:tags r:id="rId66"/>
                  </p:custDataLst>
                </p:nvPr>
              </p:nvSpPr>
              <p:spPr>
                <a:xfrm>
                  <a:off x="4126706" y="380523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05" name="TextBox 105"/>
                <p:cNvSpPr txBox="1"/>
                <p:nvPr>
                  <p:custDataLst>
                    <p:tags r:id="rId67"/>
                  </p:custDataLst>
                </p:nvPr>
              </p:nvSpPr>
              <p:spPr>
                <a:xfrm>
                  <a:off x="4188915" y="3819525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06" name="Freeform 106"/>
                <p:cNvSpPr/>
                <p:nvPr>
                  <p:custDataLst>
                    <p:tags r:id="rId68"/>
                  </p:custDataLst>
                </p:nvPr>
              </p:nvSpPr>
              <p:spPr>
                <a:xfrm>
                  <a:off x="3619500" y="3640931"/>
                  <a:ext cx="464344" cy="3071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4344" h="307181">
                      <a:moveTo>
                        <a:pt x="0" y="0"/>
                      </a:moveTo>
                      <a:cubicBezTo>
                        <a:pt x="95250" y="204788"/>
                        <a:pt x="250031" y="307181"/>
                        <a:pt x="464344" y="307181"/>
                      </a:cubicBez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  <a:custDash>
                    <a:ds d="200000" sp="120000"/>
                  </a:custDash>
                </a:ln>
              </p:spPr>
            </p:sp>
            <p:sp>
              <p:nvSpPr>
                <p:cNvPr id="107" name="Freeform 107"/>
                <p:cNvSpPr/>
                <p:nvPr>
                  <p:custDataLst>
                    <p:tags r:id="rId69"/>
                  </p:custDataLst>
                </p:nvPr>
              </p:nvSpPr>
              <p:spPr>
                <a:xfrm>
                  <a:off x="4012406" y="3912394"/>
                  <a:ext cx="71438" cy="7858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1438" h="78581">
                      <a:moveTo>
                        <a:pt x="71438" y="35719"/>
                      </a:moveTo>
                      <a:lnTo>
                        <a:pt x="0" y="0"/>
                      </a:lnTo>
                      <a:lnTo>
                        <a:pt x="0" y="78581"/>
                      </a:lnTo>
                      <a:close/>
                    </a:path>
                  </a:pathLst>
                </a:custGeom>
                <a:solidFill>
                  <a:srgbClr val="111111"/>
                </a:solidFill>
                <a:ln>
                  <a:noFill/>
                </a:ln>
              </p:spPr>
            </p:sp>
          </p:grpSp>
          <p:grpSp>
            <p:nvGrpSpPr>
              <p:cNvPr id="119" name="Group 119"/>
              <p:cNvGrpSpPr/>
              <p:nvPr/>
            </p:nvGrpSpPr>
            <p:grpSpPr>
              <a:xfrm>
                <a:off x="5233988" y="2805112"/>
                <a:ext cx="1500187" cy="1220909"/>
                <a:chOff x="5233988" y="2805112"/>
                <a:chExt cx="1500187" cy="1220909"/>
              </a:xfrm>
            </p:grpSpPr>
            <p:sp>
              <p:nvSpPr>
                <p:cNvPr id="109" name="Freeform 109"/>
                <p:cNvSpPr/>
                <p:nvPr>
                  <p:custDataLst>
                    <p:tags r:id="rId70"/>
                  </p:custDataLst>
                </p:nvPr>
              </p:nvSpPr>
              <p:spPr>
                <a:xfrm>
                  <a:off x="5334000" y="2905125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0" name="Ellipse 110"/>
                <p:cNvSpPr/>
                <p:nvPr>
                  <p:custDataLst>
                    <p:tags r:id="rId71"/>
                  </p:custDataLst>
                </p:nvPr>
              </p:nvSpPr>
              <p:spPr>
                <a:xfrm>
                  <a:off x="5233988" y="3412331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1" name="Ellipse 111"/>
                <p:cNvSpPr/>
                <p:nvPr>
                  <p:custDataLst>
                    <p:tags r:id="rId72"/>
                  </p:custDataLst>
                </p:nvPr>
              </p:nvSpPr>
              <p:spPr>
                <a:xfrm>
                  <a:off x="5555456" y="29479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2" name="Ellipse 112"/>
                <p:cNvSpPr/>
                <p:nvPr>
                  <p:custDataLst>
                    <p:tags r:id="rId73"/>
                  </p:custDataLst>
                </p:nvPr>
              </p:nvSpPr>
              <p:spPr>
                <a:xfrm>
                  <a:off x="5876925" y="3198019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3" name="Ellipse 113"/>
                <p:cNvSpPr/>
                <p:nvPr>
                  <p:custDataLst>
                    <p:tags r:id="rId74"/>
                  </p:custDataLst>
                </p:nvPr>
              </p:nvSpPr>
              <p:spPr>
                <a:xfrm>
                  <a:off x="6234112" y="280511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4" name="Ellipse 114"/>
                <p:cNvSpPr/>
                <p:nvPr>
                  <p:custDataLst>
                    <p:tags r:id="rId75"/>
                  </p:custDataLst>
                </p:nvPr>
              </p:nvSpPr>
              <p:spPr>
                <a:xfrm>
                  <a:off x="6519862" y="3305175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5" name="Ellipse 115"/>
                <p:cNvSpPr/>
                <p:nvPr>
                  <p:custDataLst>
                    <p:tags r:id="rId76"/>
                  </p:custDataLst>
                </p:nvPr>
              </p:nvSpPr>
              <p:spPr>
                <a:xfrm>
                  <a:off x="5841206" y="380523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16" name="TextBox 116"/>
                <p:cNvSpPr txBox="1"/>
                <p:nvPr>
                  <p:custDataLst>
                    <p:tags r:id="rId77"/>
                  </p:custDataLst>
                </p:nvPr>
              </p:nvSpPr>
              <p:spPr>
                <a:xfrm>
                  <a:off x="5903416" y="3819525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  <p:sp>
              <p:nvSpPr>
                <p:cNvPr id="117" name="Freeform 117"/>
                <p:cNvSpPr/>
                <p:nvPr>
                  <p:custDataLst>
                    <p:tags r:id="rId78"/>
                  </p:custDataLst>
                </p:nvPr>
              </p:nvSpPr>
              <p:spPr>
                <a:xfrm>
                  <a:off x="5634038" y="3062288"/>
                  <a:ext cx="1064419" cy="8715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4419" h="871538">
                      <a:moveTo>
                        <a:pt x="428625" y="857250"/>
                      </a:moveTo>
                      <a:cubicBezTo>
                        <a:pt x="838200" y="871538"/>
                        <a:pt x="1050131" y="745331"/>
                        <a:pt x="1064419" y="478631"/>
                      </a:cubicBezTo>
                      <a:moveTo>
                        <a:pt x="435769" y="735806"/>
                      </a:moveTo>
                      <a:cubicBezTo>
                        <a:pt x="654844" y="521494"/>
                        <a:pt x="766762" y="276225"/>
                        <a:pt x="771525" y="0"/>
                      </a:cubicBezTo>
                      <a:moveTo>
                        <a:pt x="200025" y="742950"/>
                      </a:moveTo>
                      <a:cubicBezTo>
                        <a:pt x="100012" y="504825"/>
                        <a:pt x="33338" y="300038"/>
                        <a:pt x="0" y="128588"/>
                      </a:cubicBez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  <a:custDash>
                    <a:ds d="200000" sp="120000"/>
                  </a:custDash>
                </a:ln>
              </p:spPr>
            </p:sp>
            <p:sp>
              <p:nvSpPr>
                <p:cNvPr id="118" name="Freeform 118"/>
                <p:cNvSpPr/>
                <p:nvPr>
                  <p:custDataLst>
                    <p:tags r:id="rId79"/>
                  </p:custDataLst>
                </p:nvPr>
              </p:nvSpPr>
              <p:spPr>
                <a:xfrm>
                  <a:off x="5612606" y="3062288"/>
                  <a:ext cx="1121569" cy="5572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21569" h="557212">
                      <a:moveTo>
                        <a:pt x="1085850" y="478631"/>
                      </a:moveTo>
                      <a:lnTo>
                        <a:pt x="1042988" y="557212"/>
                      </a:lnTo>
                      <a:lnTo>
                        <a:pt x="1121569" y="550069"/>
                      </a:lnTo>
                      <a:close/>
                      <a:moveTo>
                        <a:pt x="792956" y="0"/>
                      </a:moveTo>
                      <a:lnTo>
                        <a:pt x="750094" y="78581"/>
                      </a:lnTo>
                      <a:lnTo>
                        <a:pt x="828675" y="78581"/>
                      </a:lnTo>
                      <a:close/>
                      <a:moveTo>
                        <a:pt x="21431" y="128588"/>
                      </a:moveTo>
                      <a:lnTo>
                        <a:pt x="0" y="214312"/>
                      </a:lnTo>
                      <a:lnTo>
                        <a:pt x="71438" y="178594"/>
                      </a:lnTo>
                      <a:close/>
                    </a:path>
                  </a:pathLst>
                </a:custGeom>
                <a:solidFill>
                  <a:srgbClr val="111111"/>
                </a:solidFill>
                <a:ln>
                  <a:noFill/>
                </a:ln>
              </p:spPr>
            </p:sp>
          </p:grpSp>
          <p:grpSp>
            <p:nvGrpSpPr>
              <p:cNvPr id="128" name="Group 128"/>
              <p:cNvGrpSpPr/>
              <p:nvPr/>
            </p:nvGrpSpPr>
            <p:grpSpPr>
              <a:xfrm>
                <a:off x="6948488" y="2805112"/>
                <a:ext cx="1485899" cy="1220909"/>
                <a:chOff x="6948488" y="2805112"/>
                <a:chExt cx="1485899" cy="1220909"/>
              </a:xfrm>
            </p:grpSpPr>
            <p:sp>
              <p:nvSpPr>
                <p:cNvPr id="120" name="Freeform 120"/>
                <p:cNvSpPr/>
                <p:nvPr>
                  <p:custDataLst>
                    <p:tags r:id="rId80"/>
                  </p:custDataLst>
                </p:nvPr>
              </p:nvSpPr>
              <p:spPr>
                <a:xfrm>
                  <a:off x="7048500" y="2905125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1" name="Ellipse 121"/>
                <p:cNvSpPr/>
                <p:nvPr>
                  <p:custDataLst>
                    <p:tags r:id="rId81"/>
                  </p:custDataLst>
                </p:nvPr>
              </p:nvSpPr>
              <p:spPr>
                <a:xfrm>
                  <a:off x="6948488" y="3412331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2" name="Ellipse 122"/>
                <p:cNvSpPr/>
                <p:nvPr>
                  <p:custDataLst>
                    <p:tags r:id="rId82"/>
                  </p:custDataLst>
                </p:nvPr>
              </p:nvSpPr>
              <p:spPr>
                <a:xfrm>
                  <a:off x="7269956" y="29479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3" name="Ellipse 123"/>
                <p:cNvSpPr/>
                <p:nvPr>
                  <p:custDataLst>
                    <p:tags r:id="rId83"/>
                  </p:custDataLst>
                </p:nvPr>
              </p:nvSpPr>
              <p:spPr>
                <a:xfrm>
                  <a:off x="7591425" y="3198019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4" name="Ellipse 124"/>
                <p:cNvSpPr/>
                <p:nvPr>
                  <p:custDataLst>
                    <p:tags r:id="rId84"/>
                  </p:custDataLst>
                </p:nvPr>
              </p:nvSpPr>
              <p:spPr>
                <a:xfrm>
                  <a:off x="7948612" y="280511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5" name="Ellipse 125"/>
                <p:cNvSpPr/>
                <p:nvPr>
                  <p:custDataLst>
                    <p:tags r:id="rId85"/>
                  </p:custDataLst>
                </p:nvPr>
              </p:nvSpPr>
              <p:spPr>
                <a:xfrm>
                  <a:off x="8234362" y="3305175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6" name="Ellipse 126"/>
                <p:cNvSpPr/>
                <p:nvPr>
                  <p:custDataLst>
                    <p:tags r:id="rId86"/>
                  </p:custDataLst>
                </p:nvPr>
              </p:nvSpPr>
              <p:spPr>
                <a:xfrm>
                  <a:off x="7555706" y="380523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27" name="TextBox 127"/>
                <p:cNvSpPr txBox="1"/>
                <p:nvPr>
                  <p:custDataLst>
                    <p:tags r:id="rId87"/>
                  </p:custDataLst>
                </p:nvPr>
              </p:nvSpPr>
              <p:spPr>
                <a:xfrm>
                  <a:off x="7617916" y="3819525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37" name="Group 137"/>
              <p:cNvGrpSpPr/>
              <p:nvPr/>
            </p:nvGrpSpPr>
            <p:grpSpPr>
              <a:xfrm>
                <a:off x="8662988" y="2805112"/>
                <a:ext cx="1485899" cy="1220909"/>
                <a:chOff x="8662988" y="2805112"/>
                <a:chExt cx="1485899" cy="1220909"/>
              </a:xfrm>
            </p:grpSpPr>
            <p:sp>
              <p:nvSpPr>
                <p:cNvPr id="129" name="Freeform 129"/>
                <p:cNvSpPr/>
                <p:nvPr>
                  <p:custDataLst>
                    <p:tags r:id="rId88"/>
                  </p:custDataLst>
                </p:nvPr>
              </p:nvSpPr>
              <p:spPr>
                <a:xfrm>
                  <a:off x="8763000" y="2905125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0" name="Ellipse 130"/>
                <p:cNvSpPr/>
                <p:nvPr>
                  <p:custDataLst>
                    <p:tags r:id="rId89"/>
                  </p:custDataLst>
                </p:nvPr>
              </p:nvSpPr>
              <p:spPr>
                <a:xfrm>
                  <a:off x="8662988" y="3412331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1" name="Ellipse 131"/>
                <p:cNvSpPr/>
                <p:nvPr>
                  <p:custDataLst>
                    <p:tags r:id="rId90"/>
                  </p:custDataLst>
                </p:nvPr>
              </p:nvSpPr>
              <p:spPr>
                <a:xfrm>
                  <a:off x="8984456" y="29479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2" name="Ellipse 132"/>
                <p:cNvSpPr/>
                <p:nvPr>
                  <p:custDataLst>
                    <p:tags r:id="rId91"/>
                  </p:custDataLst>
                </p:nvPr>
              </p:nvSpPr>
              <p:spPr>
                <a:xfrm>
                  <a:off x="9305925" y="3198019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3" name="Ellipse 133"/>
                <p:cNvSpPr/>
                <p:nvPr>
                  <p:custDataLst>
                    <p:tags r:id="rId92"/>
                  </p:custDataLst>
                </p:nvPr>
              </p:nvSpPr>
              <p:spPr>
                <a:xfrm>
                  <a:off x="9663112" y="280511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4" name="Ellipse 134"/>
                <p:cNvSpPr/>
                <p:nvPr>
                  <p:custDataLst>
                    <p:tags r:id="rId93"/>
                  </p:custDataLst>
                </p:nvPr>
              </p:nvSpPr>
              <p:spPr>
                <a:xfrm>
                  <a:off x="9948862" y="3305175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5" name="Ellipse 135"/>
                <p:cNvSpPr/>
                <p:nvPr>
                  <p:custDataLst>
                    <p:tags r:id="rId94"/>
                  </p:custDataLst>
                </p:nvPr>
              </p:nvSpPr>
              <p:spPr>
                <a:xfrm>
                  <a:off x="9270206" y="380523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6" name="TextBox 136"/>
                <p:cNvSpPr txBox="1"/>
                <p:nvPr>
                  <p:custDataLst>
                    <p:tags r:id="rId95"/>
                  </p:custDataLst>
                </p:nvPr>
              </p:nvSpPr>
              <p:spPr>
                <a:xfrm>
                  <a:off x="9332416" y="3819525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  <p:grpSp>
            <p:nvGrpSpPr>
              <p:cNvPr id="146" name="Group 146"/>
              <p:cNvGrpSpPr/>
              <p:nvPr/>
            </p:nvGrpSpPr>
            <p:grpSpPr>
              <a:xfrm>
                <a:off x="10377488" y="2805112"/>
                <a:ext cx="1485899" cy="1220909"/>
                <a:chOff x="10377488" y="2805112"/>
                <a:chExt cx="1485899" cy="1220909"/>
              </a:xfrm>
            </p:grpSpPr>
            <p:sp>
              <p:nvSpPr>
                <p:cNvPr id="138" name="Freeform 138"/>
                <p:cNvSpPr/>
                <p:nvPr>
                  <p:custDataLst>
                    <p:tags r:id="rId96"/>
                  </p:custDataLst>
                </p:nvPr>
              </p:nvSpPr>
              <p:spPr>
                <a:xfrm>
                  <a:off x="10477500" y="2905125"/>
                  <a:ext cx="1285875" cy="10001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5875" h="1000125">
                      <a:moveTo>
                        <a:pt x="0" y="607219"/>
                      </a:moveTo>
                      <a:lnTo>
                        <a:pt x="321469" y="142875"/>
                      </a:lnTo>
                      <a:lnTo>
                        <a:pt x="642938" y="392906"/>
                      </a:lnTo>
                      <a:lnTo>
                        <a:pt x="1000125" y="0"/>
                      </a:lnTo>
                      <a:lnTo>
                        <a:pt x="1285875" y="500062"/>
                      </a:lnTo>
                      <a:moveTo>
                        <a:pt x="0" y="607219"/>
                      </a:moveTo>
                      <a:lnTo>
                        <a:pt x="607219" y="1000125"/>
                      </a:lnTo>
                      <a:moveTo>
                        <a:pt x="321469" y="142875"/>
                      </a:moveTo>
                      <a:lnTo>
                        <a:pt x="607219" y="1000125"/>
                      </a:lnTo>
                      <a:moveTo>
                        <a:pt x="642938" y="392906"/>
                      </a:moveTo>
                      <a:lnTo>
                        <a:pt x="607219" y="1000125"/>
                      </a:lnTo>
                      <a:moveTo>
                        <a:pt x="1000125" y="0"/>
                      </a:moveTo>
                      <a:lnTo>
                        <a:pt x="607219" y="1000125"/>
                      </a:lnTo>
                      <a:moveTo>
                        <a:pt x="1285875" y="500062"/>
                      </a:moveTo>
                      <a:lnTo>
                        <a:pt x="607219" y="1000125"/>
                      </a:lnTo>
                    </a:path>
                  </a:pathLst>
                </a:custGeom>
                <a:noFill/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39" name="Ellipse 139"/>
                <p:cNvSpPr/>
                <p:nvPr>
                  <p:custDataLst>
                    <p:tags r:id="rId97"/>
                  </p:custDataLst>
                </p:nvPr>
              </p:nvSpPr>
              <p:spPr>
                <a:xfrm>
                  <a:off x="10377488" y="3412331"/>
                  <a:ext cx="200025" cy="200025"/>
                </a:xfrm>
                <a:prstGeom prst="ellipse">
                  <a:avLst/>
                </a:prstGeom>
                <a:solidFill>
                  <a:srgbClr val="FFE17D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40" name="Ellipse 140"/>
                <p:cNvSpPr/>
                <p:nvPr>
                  <p:custDataLst>
                    <p:tags r:id="rId98"/>
                  </p:custDataLst>
                </p:nvPr>
              </p:nvSpPr>
              <p:spPr>
                <a:xfrm>
                  <a:off x="10698956" y="294798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41" name="Ellipse 141"/>
                <p:cNvSpPr/>
                <p:nvPr>
                  <p:custDataLst>
                    <p:tags r:id="rId99"/>
                  </p:custDataLst>
                </p:nvPr>
              </p:nvSpPr>
              <p:spPr>
                <a:xfrm>
                  <a:off x="11020425" y="3198019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42" name="Ellipse 142"/>
                <p:cNvSpPr/>
                <p:nvPr>
                  <p:custDataLst>
                    <p:tags r:id="rId100"/>
                  </p:custDataLst>
                </p:nvPr>
              </p:nvSpPr>
              <p:spPr>
                <a:xfrm>
                  <a:off x="11377612" y="2805112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43" name="Ellipse 143"/>
                <p:cNvSpPr/>
                <p:nvPr>
                  <p:custDataLst>
                    <p:tags r:id="rId101"/>
                  </p:custDataLst>
                </p:nvPr>
              </p:nvSpPr>
              <p:spPr>
                <a:xfrm>
                  <a:off x="11663362" y="3305175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44" name="Ellipse 144"/>
                <p:cNvSpPr/>
                <p:nvPr>
                  <p:custDataLst>
                    <p:tags r:id="rId102"/>
                  </p:custDataLst>
                </p:nvPr>
              </p:nvSpPr>
              <p:spPr>
                <a:xfrm>
                  <a:off x="10984706" y="3805238"/>
                  <a:ext cx="200025" cy="200025"/>
                </a:xfrm>
                <a:prstGeom prst="ellipse">
                  <a:avLst/>
                </a:prstGeom>
                <a:solidFill>
                  <a:srgbClr val="A9D18E"/>
                </a:solidFill>
                <a:ln w="23812">
                  <a:solidFill>
                    <a:srgbClr val="111111"/>
                  </a:solidFill>
                </a:ln>
              </p:spPr>
            </p:sp>
            <p:sp>
              <p:nvSpPr>
                <p:cNvPr id="145" name="TextBox 145"/>
                <p:cNvSpPr txBox="1"/>
                <p:nvPr>
                  <p:custDataLst>
                    <p:tags r:id="rId103"/>
                  </p:custDataLst>
                </p:nvPr>
              </p:nvSpPr>
              <p:spPr>
                <a:xfrm>
                  <a:off x="11046916" y="3819525"/>
                  <a:ext cx="75607" cy="2064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050" i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rPr>
                    <a:t>v</a:t>
                  </a:r>
                  <a:endParaRPr lang="zh-CN" sz="1050" i="1" dirty="0">
                    <a:solidFill>
                      <a:srgbClr val="111111"/>
                    </a:solidFill>
                    <a:latin typeface="Times New Roman" panose="02020603050405020304" charset="0"/>
                    <a:ea typeface="微软雅黑" panose="020B0503020204020204" charset="-122"/>
                    <a:cs typeface="Times New Roman" panose="02020603050405020304" charset="0"/>
                  </a:endParaRPr>
                </a:p>
              </p:txBody>
            </p:sp>
          </p:grpSp>
        </p:grpSp>
        <p:grpSp>
          <p:nvGrpSpPr>
            <p:cNvPr id="152" name="Group 152"/>
            <p:cNvGrpSpPr/>
            <p:nvPr/>
          </p:nvGrpSpPr>
          <p:grpSpPr>
            <a:xfrm>
              <a:off x="12033409" y="1664256"/>
              <a:ext cx="1041421" cy="1952182"/>
              <a:chOff x="12033409" y="1664256"/>
              <a:chExt cx="1041421" cy="1952182"/>
            </a:xfrm>
          </p:grpSpPr>
          <p:sp>
            <p:nvSpPr>
              <p:cNvPr id="148" name="TextBox 148"/>
              <p:cNvSpPr txBox="1"/>
              <p:nvPr/>
            </p:nvSpPr>
            <p:spPr>
              <a:xfrm>
                <a:off x="12104846" y="1664256"/>
                <a:ext cx="724361" cy="216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Physical</a:t>
                </a:r>
                <a:endParaRPr lang="zh-CN" sz="11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49" name="TextBox 149"/>
              <p:cNvSpPr txBox="1"/>
              <p:nvPr/>
            </p:nvSpPr>
            <p:spPr>
              <a:xfrm>
                <a:off x="12104846" y="1864281"/>
                <a:ext cx="713792" cy="216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pathway</a:t>
                </a:r>
                <a:endParaRPr lang="zh-CN" sz="11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0" name="TextBox 150"/>
              <p:cNvSpPr txBox="1"/>
              <p:nvPr/>
            </p:nvSpPr>
            <p:spPr>
              <a:xfrm>
                <a:off x="12033409" y="3200162"/>
                <a:ext cx="1041421" cy="216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Virtual-node</a:t>
                </a:r>
                <a:endParaRPr lang="zh-CN" sz="11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  <p:sp>
            <p:nvSpPr>
              <p:cNvPr id="151" name="TextBox 151"/>
              <p:cNvSpPr txBox="1"/>
              <p:nvPr/>
            </p:nvSpPr>
            <p:spPr>
              <a:xfrm>
                <a:off x="12033409" y="3400187"/>
                <a:ext cx="713792" cy="21625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rPr>
                  <a:t>pathway</a:t>
                </a:r>
                <a:endParaRPr lang="zh-CN" sz="11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endParaRPr>
              </a:p>
            </p:txBody>
          </p:sp>
        </p:grpSp>
      </p:grpSp>
      <p:sp>
        <p:nvSpPr>
          <p:cNvPr id="165" name="Freeform 165"/>
          <p:cNvSpPr/>
          <p:nvPr/>
        </p:nvSpPr>
        <p:spPr>
          <a:xfrm>
            <a:off x="-219710" y="5248275"/>
            <a:ext cx="12763500" cy="9525"/>
          </a:xfrm>
          <a:custGeom>
            <a:avLst/>
            <a:gdLst/>
            <a:ahLst/>
            <a:cxnLst/>
            <a:rect l="l" t="t" r="r" b="b"/>
            <a:pathLst>
              <a:path w="12763500" h="9525">
                <a:moveTo>
                  <a:pt x="0" y="0"/>
                </a:moveTo>
                <a:lnTo>
                  <a:pt x="12763500" y="0"/>
                </a:lnTo>
              </a:path>
            </a:pathLst>
          </a:custGeom>
          <a:solidFill>
            <a:srgbClr val="000000"/>
          </a:solidFill>
          <a:ln w="9525">
            <a:solidFill>
              <a:srgbClr val="CCCCCC"/>
            </a:solidFill>
          </a:ln>
        </p:spPr>
      </p:sp>
      <p:sp>
        <p:nvSpPr>
          <p:cNvPr id="166" name="TextBox 166"/>
          <p:cNvSpPr txBox="1"/>
          <p:nvPr/>
        </p:nvSpPr>
        <p:spPr>
          <a:xfrm>
            <a:off x="3812540" y="130810"/>
            <a:ext cx="3048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(c)</a:t>
            </a:r>
            <a:r>
              <a:rPr lang="zh-CN" b="1" dirty="0">
                <a:solidFill>
                  <a:srgbClr val="000000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GINE update</a:t>
            </a:r>
            <a:endParaRPr lang="zh-CN" b="1" dirty="0">
              <a:solidFill>
                <a:srgbClr val="000000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247650" y="5534025"/>
            <a:ext cx="30480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l"/>
            <a:r>
              <a:rPr lang="en-US" alt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(b)</a:t>
            </a:r>
            <a:r>
              <a:rPr 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GINE encoder</a:t>
            </a:r>
            <a:endParaRPr lang="zh-CN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255" name="组合 254"/>
          <p:cNvGrpSpPr/>
          <p:nvPr/>
        </p:nvGrpSpPr>
        <p:grpSpPr>
          <a:xfrm>
            <a:off x="704850" y="495300"/>
            <a:ext cx="2352040" cy="4561840"/>
            <a:chOff x="420" y="780"/>
            <a:chExt cx="3704" cy="7184"/>
          </a:xfrm>
        </p:grpSpPr>
        <p:grpSp>
          <p:nvGrpSpPr>
            <p:cNvPr id="10" name="Group 10"/>
            <p:cNvGrpSpPr/>
            <p:nvPr/>
          </p:nvGrpSpPr>
          <p:grpSpPr>
            <a:xfrm>
              <a:off x="420" y="855"/>
              <a:ext cx="3045" cy="1455"/>
              <a:chOff x="266700" y="542925"/>
              <a:chExt cx="1933575" cy="923925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266700" y="742950"/>
                <a:ext cx="523875" cy="723900"/>
              </a:xfrm>
              <a:custGeom>
                <a:avLst/>
                <a:gdLst/>
                <a:ahLst/>
                <a:cxnLst/>
                <a:rect l="l" t="t" r="r" b="b"/>
                <a:pathLst>
                  <a:path w="523875" h="723900">
                    <a:moveTo>
                      <a:pt x="161925" y="723900"/>
                    </a:moveTo>
                    <a:cubicBezTo>
                      <a:pt x="0" y="304800"/>
                      <a:pt x="495300" y="352425"/>
                      <a:pt x="523875" y="0"/>
                    </a:cubicBezTo>
                  </a:path>
                </a:pathLst>
              </a:custGeom>
              <a:noFill/>
              <a:ln w="28575">
                <a:solidFill>
                  <a:srgbClr val="0072CE"/>
                </a:solidFill>
              </a:ln>
            </p:spPr>
          </p:sp>
          <p:sp>
            <p:nvSpPr>
              <p:cNvPr id="7" name="Freeform 7"/>
              <p:cNvSpPr/>
              <p:nvPr/>
            </p:nvSpPr>
            <p:spPr>
              <a:xfrm>
                <a:off x="790575" y="714375"/>
                <a:ext cx="400050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495300">
                    <a:moveTo>
                      <a:pt x="0" y="28575"/>
                    </a:moveTo>
                    <a:cubicBezTo>
                      <a:pt x="314325" y="0"/>
                      <a:pt x="85725" y="495300"/>
                      <a:pt x="400050" y="390525"/>
                    </a:cubicBezTo>
                  </a:path>
                </a:pathLst>
              </a:custGeom>
              <a:noFill/>
              <a:ln w="28575">
                <a:solidFill>
                  <a:srgbClr val="FF8C24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8" name="Freeform 8"/>
              <p:cNvSpPr/>
              <p:nvPr/>
            </p:nvSpPr>
            <p:spPr>
              <a:xfrm>
                <a:off x="1190625" y="552450"/>
                <a:ext cx="504825" cy="552450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552450">
                    <a:moveTo>
                      <a:pt x="0" y="552450"/>
                    </a:moveTo>
                    <a:cubicBezTo>
                      <a:pt x="352425" y="476250"/>
                      <a:pt x="209550" y="19050"/>
                      <a:pt x="504825" y="0"/>
                    </a:cubicBezTo>
                  </a:path>
                </a:pathLst>
              </a:custGeom>
              <a:noFill/>
              <a:ln w="28575">
                <a:solidFill>
                  <a:srgbClr val="0072CE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695450" y="542925"/>
                <a:ext cx="504825" cy="742950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742950">
                    <a:moveTo>
                      <a:pt x="0" y="9525"/>
                    </a:moveTo>
                    <a:cubicBezTo>
                      <a:pt x="333375" y="0"/>
                      <a:pt x="76200" y="542925"/>
                      <a:pt x="504825" y="742950"/>
                    </a:cubicBezTo>
                  </a:path>
                </a:pathLst>
              </a:custGeom>
              <a:noFill/>
              <a:ln w="28575">
                <a:solidFill>
                  <a:srgbClr val="FF8C24"/>
                </a:solidFill>
              </a:ln>
            </p:spPr>
          </p:sp>
        </p:grpSp>
        <p:sp>
          <p:nvSpPr>
            <p:cNvPr id="17" name="Freeform 17"/>
            <p:cNvSpPr/>
            <p:nvPr/>
          </p:nvSpPr>
          <p:spPr>
            <a:xfrm>
              <a:off x="675" y="1020"/>
              <a:ext cx="2790" cy="3735"/>
            </a:xfrm>
            <a:custGeom>
              <a:avLst/>
              <a:gdLst/>
              <a:ahLst/>
              <a:cxnLst/>
              <a:rect l="l" t="t" r="r" b="b"/>
              <a:pathLst>
                <a:path w="1771650" h="2371725">
                  <a:moveTo>
                    <a:pt x="0" y="914400"/>
                  </a:moveTo>
                  <a:lnTo>
                    <a:pt x="0" y="2371725"/>
                  </a:lnTo>
                  <a:moveTo>
                    <a:pt x="361950" y="190500"/>
                  </a:moveTo>
                  <a:lnTo>
                    <a:pt x="361950" y="1847850"/>
                  </a:lnTo>
                  <a:moveTo>
                    <a:pt x="762000" y="552450"/>
                  </a:moveTo>
                  <a:lnTo>
                    <a:pt x="762000" y="2181225"/>
                  </a:lnTo>
                  <a:moveTo>
                    <a:pt x="1266825" y="0"/>
                  </a:moveTo>
                  <a:lnTo>
                    <a:pt x="1266825" y="1657350"/>
                  </a:lnTo>
                  <a:moveTo>
                    <a:pt x="1771650" y="733425"/>
                  </a:moveTo>
                  <a:lnTo>
                    <a:pt x="1771650" y="2181225"/>
                  </a:lnTo>
                </a:path>
              </a:pathLst>
            </a:custGeom>
            <a:noFill/>
            <a:ln w="14288">
              <a:solidFill>
                <a:srgbClr val="555555"/>
              </a:solidFill>
              <a:custDash>
                <a:ds d="333333" sp="266666"/>
              </a:custDash>
            </a:ln>
          </p:spPr>
        </p:sp>
        <p:sp>
          <p:nvSpPr>
            <p:cNvPr id="18" name="Freeform 18"/>
            <p:cNvSpPr/>
            <p:nvPr/>
          </p:nvSpPr>
          <p:spPr>
            <a:xfrm>
              <a:off x="600" y="3495"/>
              <a:ext cx="2940" cy="1260"/>
            </a:xfrm>
            <a:custGeom>
              <a:avLst/>
              <a:gdLst/>
              <a:ahLst/>
              <a:cxnLst/>
              <a:rect l="l" t="t" r="r" b="b"/>
              <a:pathLst>
                <a:path w="1866900" h="800100">
                  <a:moveTo>
                    <a:pt x="47625" y="800100"/>
                  </a:moveTo>
                  <a:lnTo>
                    <a:pt x="0" y="714375"/>
                  </a:lnTo>
                  <a:lnTo>
                    <a:pt x="95250" y="714375"/>
                  </a:lnTo>
                  <a:close/>
                  <a:moveTo>
                    <a:pt x="409575" y="276225"/>
                  </a:moveTo>
                  <a:lnTo>
                    <a:pt x="361950" y="190500"/>
                  </a:lnTo>
                  <a:lnTo>
                    <a:pt x="457200" y="190500"/>
                  </a:lnTo>
                  <a:close/>
                  <a:moveTo>
                    <a:pt x="809625" y="609600"/>
                  </a:moveTo>
                  <a:lnTo>
                    <a:pt x="762000" y="523875"/>
                  </a:lnTo>
                  <a:lnTo>
                    <a:pt x="857250" y="523875"/>
                  </a:lnTo>
                  <a:close/>
                  <a:moveTo>
                    <a:pt x="1314450" y="85725"/>
                  </a:moveTo>
                  <a:lnTo>
                    <a:pt x="1266825" y="0"/>
                  </a:lnTo>
                  <a:lnTo>
                    <a:pt x="1362075" y="0"/>
                  </a:lnTo>
                  <a:close/>
                  <a:moveTo>
                    <a:pt x="1819275" y="609600"/>
                  </a:moveTo>
                  <a:lnTo>
                    <a:pt x="1771650" y="523875"/>
                  </a:lnTo>
                  <a:lnTo>
                    <a:pt x="1866900" y="523875"/>
                  </a:lnTo>
                  <a:close/>
                </a:path>
              </a:pathLst>
            </a:custGeom>
            <a:solidFill>
              <a:srgbClr val="555555"/>
            </a:solidFill>
            <a:ln>
              <a:noFill/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675" y="3900"/>
              <a:ext cx="2790" cy="2250"/>
              <a:chOff x="428625" y="2476500"/>
              <a:chExt cx="1771650" cy="1428750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428625" y="2667000"/>
                <a:ext cx="3619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533400">
                    <a:moveTo>
                      <a:pt x="0" y="533400"/>
                    </a:moveTo>
                    <a:lnTo>
                      <a:pt x="361950" y="0"/>
                    </a:lnTo>
                  </a:path>
                </a:pathLst>
              </a:custGeom>
              <a:noFill/>
              <a:ln w="28575">
                <a:solidFill>
                  <a:srgbClr val="0072CE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790575" y="2667000"/>
                <a:ext cx="4000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400050" h="333375">
                    <a:moveTo>
                      <a:pt x="0" y="0"/>
                    </a:moveTo>
                    <a:lnTo>
                      <a:pt x="400050" y="333375"/>
                    </a:lnTo>
                  </a:path>
                </a:pathLst>
              </a:custGeom>
              <a:noFill/>
              <a:ln w="28575">
                <a:solidFill>
                  <a:srgbClr val="FF8C24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1190625" y="2476500"/>
                <a:ext cx="504825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523875">
                    <a:moveTo>
                      <a:pt x="0" y="523875"/>
                    </a:moveTo>
                    <a:lnTo>
                      <a:pt x="504825" y="0"/>
                    </a:lnTo>
                  </a:path>
                </a:pathLst>
              </a:custGeom>
              <a:noFill/>
              <a:ln w="28575">
                <a:solidFill>
                  <a:srgbClr val="0072C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695450" y="2476500"/>
                <a:ext cx="504825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504825" h="523875">
                    <a:moveTo>
                      <a:pt x="0" y="0"/>
                    </a:moveTo>
                    <a:lnTo>
                      <a:pt x="504825" y="523875"/>
                    </a:lnTo>
                  </a:path>
                </a:pathLst>
              </a:custGeom>
              <a:noFill/>
              <a:ln w="28575">
                <a:solidFill>
                  <a:srgbClr val="FF8C24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28625" y="2476500"/>
                <a:ext cx="1771650" cy="1428750"/>
              </a:xfrm>
              <a:custGeom>
                <a:avLst/>
                <a:gdLst/>
                <a:ahLst/>
                <a:cxnLst/>
                <a:rect l="l" t="t" r="r" b="b"/>
                <a:pathLst>
                  <a:path w="1771650" h="1428750">
                    <a:moveTo>
                      <a:pt x="0" y="723900"/>
                    </a:moveTo>
                    <a:lnTo>
                      <a:pt x="828675" y="1428750"/>
                    </a:lnTo>
                    <a:moveTo>
                      <a:pt x="361950" y="190500"/>
                    </a:moveTo>
                    <a:lnTo>
                      <a:pt x="828675" y="1428750"/>
                    </a:lnTo>
                    <a:moveTo>
                      <a:pt x="762000" y="523875"/>
                    </a:moveTo>
                    <a:lnTo>
                      <a:pt x="828675" y="1428750"/>
                    </a:lnTo>
                    <a:moveTo>
                      <a:pt x="1266825" y="0"/>
                    </a:moveTo>
                    <a:lnTo>
                      <a:pt x="828675" y="1428750"/>
                    </a:lnTo>
                    <a:moveTo>
                      <a:pt x="1771650" y="523875"/>
                    </a:moveTo>
                    <a:lnTo>
                      <a:pt x="828675" y="1428750"/>
                    </a:lnTo>
                  </a:path>
                </a:pathLst>
              </a:custGeom>
              <a:noFill/>
              <a:ln w="25400">
                <a:solidFill>
                  <a:srgbClr val="CFCFCF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</p:grpSp>
        <p:grpSp>
          <p:nvGrpSpPr>
            <p:cNvPr id="32" name="Group 32"/>
            <p:cNvGrpSpPr/>
            <p:nvPr/>
          </p:nvGrpSpPr>
          <p:grpSpPr>
            <a:xfrm>
              <a:off x="435" y="3660"/>
              <a:ext cx="3270" cy="2730"/>
              <a:chOff x="276225" y="2324100"/>
              <a:chExt cx="2076450" cy="1733550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276225" y="3048000"/>
                <a:ext cx="304800" cy="304800"/>
              </a:xfrm>
              <a:prstGeom prst="ellipse">
                <a:avLst/>
              </a:prstGeom>
              <a:solidFill>
                <a:srgbClr val="9FC5E5"/>
              </a:solidFill>
              <a:ln w="23812">
                <a:solidFill>
                  <a:srgbClr val="111111"/>
                </a:solidFill>
              </a:ln>
            </p:spPr>
          </p:sp>
          <p:sp>
            <p:nvSpPr>
              <p:cNvPr id="27" name="Ellipse 27"/>
              <p:cNvSpPr/>
              <p:nvPr/>
            </p:nvSpPr>
            <p:spPr>
              <a:xfrm>
                <a:off x="638175" y="2514600"/>
                <a:ext cx="304800" cy="304800"/>
              </a:xfrm>
              <a:prstGeom prst="ellipse">
                <a:avLst/>
              </a:prstGeom>
              <a:solidFill>
                <a:srgbClr val="9FC5E5"/>
              </a:solidFill>
              <a:ln w="23812">
                <a:solidFill>
                  <a:srgbClr val="111111"/>
                </a:solidFill>
              </a:ln>
            </p:spPr>
          </p:sp>
          <p:sp>
            <p:nvSpPr>
              <p:cNvPr id="28" name="Ellipse 28"/>
              <p:cNvSpPr/>
              <p:nvPr/>
            </p:nvSpPr>
            <p:spPr>
              <a:xfrm>
                <a:off x="1038225" y="2847975"/>
                <a:ext cx="304800" cy="304800"/>
              </a:xfrm>
              <a:prstGeom prst="ellipse">
                <a:avLst/>
              </a:prstGeom>
              <a:solidFill>
                <a:srgbClr val="9FC5E5"/>
              </a:solidFill>
              <a:ln w="23812">
                <a:solidFill>
                  <a:srgbClr val="111111"/>
                </a:solidFill>
              </a:ln>
            </p:spPr>
          </p:sp>
          <p:sp>
            <p:nvSpPr>
              <p:cNvPr id="29" name="Ellipse 29"/>
              <p:cNvSpPr/>
              <p:nvPr/>
            </p:nvSpPr>
            <p:spPr>
              <a:xfrm>
                <a:off x="1543050" y="2324100"/>
                <a:ext cx="304800" cy="304800"/>
              </a:xfrm>
              <a:prstGeom prst="ellipse">
                <a:avLst/>
              </a:prstGeom>
              <a:solidFill>
                <a:srgbClr val="9FC5E5"/>
              </a:solidFill>
              <a:ln w="23812">
                <a:solidFill>
                  <a:srgbClr val="111111"/>
                </a:solidFill>
              </a:ln>
            </p:spPr>
          </p:sp>
          <p:sp>
            <p:nvSpPr>
              <p:cNvPr id="30" name="Ellipse 30"/>
              <p:cNvSpPr/>
              <p:nvPr/>
            </p:nvSpPr>
            <p:spPr>
              <a:xfrm>
                <a:off x="2047875" y="2847975"/>
                <a:ext cx="304800" cy="304800"/>
              </a:xfrm>
              <a:prstGeom prst="ellipse">
                <a:avLst/>
              </a:prstGeom>
              <a:solidFill>
                <a:srgbClr val="9FC5E5"/>
              </a:solidFill>
              <a:ln w="23812">
                <a:solidFill>
                  <a:srgbClr val="111111"/>
                </a:solidFill>
              </a:ln>
            </p:spPr>
          </p:sp>
          <p:sp>
            <p:nvSpPr>
              <p:cNvPr id="31" name="Ellipse 31"/>
              <p:cNvSpPr/>
              <p:nvPr/>
            </p:nvSpPr>
            <p:spPr>
              <a:xfrm>
                <a:off x="1104900" y="3752850"/>
                <a:ext cx="304800" cy="304800"/>
              </a:xfrm>
              <a:prstGeom prst="ellipse">
                <a:avLst/>
              </a:prstGeom>
              <a:solidFill>
                <a:schemeClr val="bg1"/>
              </a:solidFill>
              <a:ln w="23812">
                <a:solidFill>
                  <a:srgbClr val="111111"/>
                </a:solidFill>
              </a:ln>
            </p:spPr>
          </p:sp>
        </p:grpSp>
        <p:grpSp>
          <p:nvGrpSpPr>
            <p:cNvPr id="157" name="Group 157"/>
            <p:cNvGrpSpPr/>
            <p:nvPr/>
          </p:nvGrpSpPr>
          <p:grpSpPr>
            <a:xfrm>
              <a:off x="450" y="6632"/>
              <a:ext cx="3227" cy="1332"/>
              <a:chOff x="99696" y="4211479"/>
              <a:chExt cx="2049145" cy="845820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4" name="TextBox 154"/>
                  <p:cNvSpPr txBox="1"/>
                  <p:nvPr/>
                </p:nvSpPr>
                <p:spPr>
                  <a:xfrm>
                    <a:off x="672147" y="4211479"/>
                    <a:ext cx="960755" cy="2419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𝐞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ᵢⱼ = [</m:t>
                          </m:r>
                          <m:r>
                            <a:rPr lang="en-US" altLang="zh-CN" sz="1600" b="1" i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𝒇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,</m:t>
                          </m:r>
                          <m:r>
                            <a:rPr lang="en-US" altLang="zh-CN" sz="1600" b="1" i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 </m:t>
                          </m:r>
                          <m:r>
                            <a:rPr lang="en-US" altLang="zh-CN" sz="1600" b="1" i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𝒕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]</m:t>
                          </m:r>
                        </m:oMath>
                      </m:oMathPara>
                    </a14:m>
                    <a:endParaRPr lang="zh-CN" sz="1600" b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154" name="TextBox 154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72147" y="4211479"/>
                    <a:ext cx="960755" cy="241935"/>
                  </a:xfrm>
                  <a:prstGeom prst="rect">
                    <a:avLst/>
                  </a:prstGeom>
                  <a:blipFill rotWithShape="1">
                    <a:blip r:embed="rId104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5" name="TextBox 155"/>
                  <p:cNvSpPr txBox="1"/>
                  <p:nvPr/>
                </p:nvSpPr>
                <p:spPr>
                  <a:xfrm>
                    <a:off x="99696" y="4525804"/>
                    <a:ext cx="2049145" cy="24193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𝐡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ᵢ⁽</m:t>
                          </m:r>
                          <m:r>
                            <a:rPr lang="en-US" altLang="zh-CN" sz="1600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⁰⁾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 = 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𝐄𝐦𝐛𝐞𝐝𝐝𝐢𝐧𝐠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(</m:t>
                          </m:r>
                          <m:r>
                            <a:rPr lang="en-US" altLang="zh-CN" sz="1600" b="1" i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𝒊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)</m:t>
                          </m:r>
                        </m:oMath>
                      </m:oMathPara>
                    </a14:m>
                    <a:endParaRPr lang="zh-CN" sz="1600" b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155" name="TextBox 155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696" y="4525804"/>
                    <a:ext cx="2049145" cy="241935"/>
                  </a:xfrm>
                  <a:prstGeom prst="rect">
                    <a:avLst/>
                  </a:prstGeom>
                  <a:blipFill rotWithShape="1">
                    <a:blip r:embed="rId105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6" name="TextBox 156"/>
                  <p:cNvSpPr txBox="1"/>
                  <p:nvPr/>
                </p:nvSpPr>
                <p:spPr>
                  <a:xfrm>
                    <a:off x="704532" y="4811554"/>
                    <a:ext cx="1028700" cy="245745"/>
                  </a:xfrm>
                  <a:prstGeom prst="rect">
                    <a:avLst/>
                  </a:prstGeom>
                  <a:noFill/>
                  <a:ln>
                    <a:noFill/>
                  </a:ln>
                </p:spPr>
                <p:txBody>
                  <a:bodyPr wrap="none" lIns="0" tIns="0" rIns="0" bIns="0" anchor="t" anchorCtr="0">
                    <a:spAutoFit/>
                  </a:bodyPr>
                  <a:lstStyle/>
                  <a:p>
                    <a:pPr algn="l"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𝐞</m:t>
                          </m:r>
                          <m:r>
                            <a:rPr lang="en-US" altLang="zh-CN" sz="1600" b="1" i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ᵢᵥ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 = [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𝟎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, 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𝟎</m:t>
                          </m:r>
                          <m:r>
                            <a:rPr lang="en-US" altLang="zh-CN" sz="1600" b="1" dirty="0">
                              <a:solidFill>
                                <a:srgbClr val="111111"/>
                              </a:solidFill>
                              <a:latin typeface="Cambria Math" panose="02040503050406030204" charset="0"/>
                              <a:ea typeface="微软雅黑" panose="020B0503020204020204" charset="-122"/>
                              <a:cs typeface="Cambria Math" panose="02040503050406030204" charset="0"/>
                            </a:rPr>
                            <m:t>]</m:t>
                          </m:r>
                        </m:oMath>
                      </m:oMathPara>
                    </a14:m>
                    <a:endParaRPr lang="zh-CN" sz="1600" b="1" dirty="0">
                      <a:solidFill>
                        <a:srgbClr val="111111"/>
                      </a:solidFill>
                      <a:latin typeface="Times New Roman" panose="02020603050405020304" charset="0"/>
                      <a:ea typeface="微软雅黑" panose="020B0503020204020204" charset="-122"/>
                      <a:cs typeface="Times New Roman" panose="02020603050405020304" charset="0"/>
                    </a:endParaRPr>
                  </a:p>
                </p:txBody>
              </p:sp>
            </mc:Choice>
            <mc:Fallback>
              <p:sp>
                <p:nvSpPr>
                  <p:cNvPr id="156" name="TextBox 156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04532" y="4811554"/>
                    <a:ext cx="1028700" cy="245745"/>
                  </a:xfrm>
                  <a:prstGeom prst="rect">
                    <a:avLst/>
                  </a:prstGeom>
                  <a:blipFill rotWithShape="1">
                    <a:blip r:embed="rId106"/>
                  </a:blipFill>
                  <a:ln>
                    <a:noFill/>
                  </a:ln>
                </p:spPr>
                <p:txBody>
                  <a:bodyPr/>
                  <a:lstStyle/>
                  <a:p>
                    <a:r>
                      <a:rPr lang="zh-CN" alt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33" name="TextBox 33"/>
            <p:cNvSpPr txBox="1"/>
            <p:nvPr/>
          </p:nvSpPr>
          <p:spPr>
            <a:xfrm>
              <a:off x="1879" y="5902"/>
              <a:ext cx="160" cy="43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b="1" i="1" dirty="0">
                  <a:solidFill>
                    <a:srgbClr val="111111"/>
                  </a:solidFill>
                  <a:latin typeface="Times New Roman" panose="02020603050405020304" charset="0"/>
                  <a:ea typeface="微软雅黑" panose="020B0503020204020204" charset="-122"/>
                  <a:cs typeface="Times New Roman" panose="02020603050405020304" charset="0"/>
                </a:rPr>
                <a:t>v</a:t>
              </a:r>
              <a:endParaRPr lang="zh-CN" b="1" i="1" dirty="0">
                <a:solidFill>
                  <a:srgbClr val="111111"/>
                </a:solidFill>
                <a:latin typeface="Times New Roman" panose="02020603050405020304" charset="0"/>
                <a:ea typeface="微软雅黑" panose="020B0503020204020204" charset="-122"/>
                <a:cs typeface="Times New Roman" panose="02020603050405020304" charset="0"/>
              </a:endParaRPr>
            </a:p>
          </p:txBody>
        </p:sp>
        <p:grpSp>
          <p:nvGrpSpPr>
            <p:cNvPr id="16" name="Group 16"/>
            <p:cNvGrpSpPr/>
            <p:nvPr/>
          </p:nvGrpSpPr>
          <p:grpSpPr>
            <a:xfrm rot="0">
              <a:off x="585" y="780"/>
              <a:ext cx="2970" cy="1620"/>
              <a:chOff x="371475" y="495300"/>
              <a:chExt cx="1885950" cy="1028700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733425" y="68580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111111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1133475" y="104775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111111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14" name="Ellipse 14"/>
              <p:cNvSpPr/>
              <p:nvPr/>
            </p:nvSpPr>
            <p:spPr>
              <a:xfrm>
                <a:off x="1638300" y="49530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111111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2143125" y="1228725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111111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71475" y="1409700"/>
                <a:ext cx="114300" cy="114300"/>
              </a:xfrm>
              <a:prstGeom prst="ellipse">
                <a:avLst/>
              </a:prstGeom>
              <a:noFill/>
              <a:ln w="19050">
                <a:solidFill>
                  <a:srgbClr val="111111"/>
                </a:solidFill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19" name="Rectangle 19"/>
            <p:cNvSpPr/>
            <p:nvPr/>
          </p:nvSpPr>
          <p:spPr>
            <a:xfrm>
              <a:off x="750" y="3000"/>
              <a:ext cx="3375" cy="660"/>
            </a:xfrm>
            <a:prstGeom prst="rect">
              <a:avLst/>
            </a:prstGeom>
            <a:noFill/>
            <a:ln>
              <a:noFill/>
            </a:ln>
          </p:spPr>
        </p:sp>
      </p:grpSp>
      <p:sp>
        <p:nvSpPr>
          <p:cNvPr id="217" name="Rectangle 2"/>
          <p:cNvSpPr/>
          <p:nvPr/>
        </p:nvSpPr>
        <p:spPr>
          <a:xfrm>
            <a:off x="3381375" y="609600"/>
            <a:ext cx="2390775" cy="4558665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254" name="组合 253"/>
          <p:cNvGrpSpPr/>
          <p:nvPr/>
        </p:nvGrpSpPr>
        <p:grpSpPr>
          <a:xfrm>
            <a:off x="4596765" y="609600"/>
            <a:ext cx="2311400" cy="4356100"/>
            <a:chOff x="6832" y="907"/>
            <a:chExt cx="3640" cy="6860"/>
          </a:xfrm>
        </p:grpSpPr>
        <p:sp>
          <p:nvSpPr>
            <p:cNvPr id="220" name="TextBox 4"/>
            <p:cNvSpPr txBox="1"/>
            <p:nvPr>
              <p:custDataLst>
                <p:tags r:id="rId107"/>
              </p:custDataLst>
            </p:nvPr>
          </p:nvSpPr>
          <p:spPr>
            <a:xfrm>
              <a:off x="6832" y="907"/>
              <a:ext cx="3400" cy="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zh-CN" sz="1400" b="1" dirty="0">
                  <a:solidFill>
                    <a:srgbClr val="444444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A-block edge</a:t>
              </a:r>
              <a:endParaRPr lang="zh-CN" sz="1400" b="1" dirty="0">
                <a:solidFill>
                  <a:srgbClr val="44444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21" name="TextBox 5"/>
            <p:cNvSpPr txBox="1"/>
            <p:nvPr>
              <p:custDataLst>
                <p:tags r:id="rId108"/>
              </p:custDataLst>
            </p:nvPr>
          </p:nvSpPr>
          <p:spPr>
            <a:xfrm>
              <a:off x="6832" y="2567"/>
              <a:ext cx="3400" cy="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zh-CN" sz="1400" b="1" dirty="0">
                  <a:solidFill>
                    <a:srgbClr val="444444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B-block edge</a:t>
              </a:r>
              <a:endParaRPr lang="zh-CN" sz="1400" b="1" dirty="0">
                <a:solidFill>
                  <a:srgbClr val="44444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22" name="TextBox 6"/>
            <p:cNvSpPr txBox="1"/>
            <p:nvPr>
              <p:custDataLst>
                <p:tags r:id="rId109"/>
              </p:custDataLst>
            </p:nvPr>
          </p:nvSpPr>
          <p:spPr>
            <a:xfrm>
              <a:off x="6832" y="4227"/>
              <a:ext cx="3400" cy="2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ctr" anchorCtr="0">
              <a:noAutofit/>
            </a:bodyPr>
            <a:lstStyle/>
            <a:p>
              <a:pPr algn="ctr"/>
              <a:r>
                <a:rPr lang="zh-CN" sz="1400" b="1" dirty="0">
                  <a:solidFill>
                    <a:srgbClr val="444444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Virtual edge</a:t>
              </a:r>
              <a:endParaRPr lang="zh-CN" sz="1400" b="1" dirty="0">
                <a:solidFill>
                  <a:srgbClr val="444444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225" name="Rectangle 10"/>
            <p:cNvSpPr/>
            <p:nvPr>
              <p:custDataLst>
                <p:tags r:id="rId110"/>
              </p:custDataLst>
            </p:nvPr>
          </p:nvSpPr>
          <p:spPr>
            <a:xfrm>
              <a:off x="6832" y="1307"/>
              <a:ext cx="3400" cy="500"/>
            </a:xfrm>
            <a:prstGeom prst="roundRect">
              <a:avLst>
                <a:gd name="adj" fmla="val 7955"/>
              </a:avLst>
            </a:prstGeom>
            <a:solidFill>
              <a:srgbClr val="E6F0FA"/>
            </a:solidFill>
            <a:ln>
              <a:noFill/>
            </a:ln>
          </p:spPr>
        </p:sp>
        <p:sp>
          <p:nvSpPr>
            <p:cNvPr id="226" name="Rectangle 11"/>
            <p:cNvSpPr/>
            <p:nvPr>
              <p:custDataLst>
                <p:tags r:id="rId111"/>
              </p:custDataLst>
            </p:nvPr>
          </p:nvSpPr>
          <p:spPr>
            <a:xfrm>
              <a:off x="6832" y="2967"/>
              <a:ext cx="3400" cy="500"/>
            </a:xfrm>
            <a:prstGeom prst="roundRect">
              <a:avLst>
                <a:gd name="adj" fmla="val 7955"/>
              </a:avLst>
            </a:prstGeom>
            <a:solidFill>
              <a:srgbClr val="FFF0DF"/>
            </a:solidFill>
            <a:ln>
              <a:noFill/>
            </a:ln>
          </p:spPr>
        </p:sp>
        <p:sp>
          <p:nvSpPr>
            <p:cNvPr id="227" name="Rectangle 12"/>
            <p:cNvSpPr/>
            <p:nvPr>
              <p:custDataLst>
                <p:tags r:id="rId112"/>
              </p:custDataLst>
            </p:nvPr>
          </p:nvSpPr>
          <p:spPr>
            <a:xfrm>
              <a:off x="6832" y="4627"/>
              <a:ext cx="3400" cy="500"/>
            </a:xfrm>
            <a:prstGeom prst="roundRect">
              <a:avLst>
                <a:gd name="adj" fmla="val 7955"/>
              </a:avLst>
            </a:prstGeom>
            <a:solidFill>
              <a:srgbClr val="F0F0F0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29" name="TextBox 13"/>
                <p:cNvSpPr txBox="1"/>
                <p:nvPr>
                  <p:custDataLst>
                    <p:tags r:id="rId113"/>
                  </p:custDataLst>
                </p:nvPr>
              </p:nvSpPr>
              <p:spPr>
                <a:xfrm>
                  <a:off x="6832" y="1307"/>
                  <a:ext cx="3400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+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Linear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([</m:t>
                        </m:r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, 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1</m:t>
                        </m:r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])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29" name="TextBox 13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4"/>
                  </p:custDataLst>
                </p:nvPr>
              </p:nvSpPr>
              <p:spPr>
                <a:xfrm>
                  <a:off x="6832" y="1307"/>
                  <a:ext cx="3400" cy="500"/>
                </a:xfrm>
                <a:prstGeom prst="rect">
                  <a:avLst/>
                </a:prstGeom>
                <a:blipFill rotWithShape="1">
                  <a:blip r:embed="rId11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0" name="TextBox 14"/>
                <p:cNvSpPr txBox="1"/>
                <p:nvPr>
                  <p:custDataLst>
                    <p:tags r:id="rId116"/>
                  </p:custDataLst>
                </p:nvPr>
              </p:nvSpPr>
              <p:spPr>
                <a:xfrm>
                  <a:off x="6832" y="2967"/>
                  <a:ext cx="3400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+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Linear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([</m:t>
                        </m:r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𝑓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2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, 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0</m:t>
                        </m:r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])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0" name="TextBox 14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17"/>
                  </p:custDataLst>
                </p:nvPr>
              </p:nvSpPr>
              <p:spPr>
                <a:xfrm>
                  <a:off x="6832" y="2967"/>
                  <a:ext cx="3400" cy="500"/>
                </a:xfrm>
                <a:prstGeom prst="rect">
                  <a:avLst/>
                </a:prstGeom>
                <a:blipFill rotWithShape="1">
                  <a:blip r:embed="rId118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1" name="TextBox 15"/>
                <p:cNvSpPr txBox="1"/>
                <p:nvPr>
                  <p:custDataLst>
                    <p:tags r:id="rId119"/>
                  </p:custDataLst>
                </p:nvPr>
              </p:nvSpPr>
              <p:spPr>
                <a:xfrm>
                  <a:off x="6832" y="4627"/>
                  <a:ext cx="3400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𝑣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+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Linear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([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0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, 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0</m:t>
                        </m:r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])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1" name="TextBox 15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0"/>
                  </p:custDataLst>
                </p:nvPr>
              </p:nvSpPr>
              <p:spPr>
                <a:xfrm>
                  <a:off x="6832" y="4627"/>
                  <a:ext cx="3400" cy="500"/>
                </a:xfrm>
                <a:prstGeom prst="rect">
                  <a:avLst/>
                </a:prstGeom>
                <a:blipFill rotWithShape="1">
                  <a:blip r:embed="rId12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2" name="Rectangle 17"/>
            <p:cNvSpPr/>
            <p:nvPr>
              <p:custDataLst>
                <p:tags r:id="rId122"/>
              </p:custDataLst>
            </p:nvPr>
          </p:nvSpPr>
          <p:spPr>
            <a:xfrm>
              <a:off x="6832" y="1987"/>
              <a:ext cx="3400" cy="500"/>
            </a:xfrm>
            <a:prstGeom prst="roundRect">
              <a:avLst>
                <a:gd name="adj" fmla="val 8750"/>
              </a:avLst>
            </a:prstGeom>
            <a:solidFill>
              <a:srgbClr val="E6F0FA"/>
            </a:solidFill>
            <a:ln>
              <a:noFill/>
            </a:ln>
          </p:spPr>
        </p:sp>
        <p:sp>
          <p:nvSpPr>
            <p:cNvPr id="233" name="Rectangle 18"/>
            <p:cNvSpPr/>
            <p:nvPr>
              <p:custDataLst>
                <p:tags r:id="rId123"/>
              </p:custDataLst>
            </p:nvPr>
          </p:nvSpPr>
          <p:spPr>
            <a:xfrm>
              <a:off x="6832" y="3647"/>
              <a:ext cx="3400" cy="500"/>
            </a:xfrm>
            <a:prstGeom prst="roundRect">
              <a:avLst>
                <a:gd name="adj" fmla="val 8750"/>
              </a:avLst>
            </a:prstGeom>
            <a:solidFill>
              <a:srgbClr val="FFF0DF"/>
            </a:solidFill>
            <a:ln>
              <a:noFill/>
            </a:ln>
          </p:spPr>
        </p:sp>
        <p:sp>
          <p:nvSpPr>
            <p:cNvPr id="234" name="Rectangle 19"/>
            <p:cNvSpPr/>
            <p:nvPr>
              <p:custDataLst>
                <p:tags r:id="rId124"/>
              </p:custDataLst>
            </p:nvPr>
          </p:nvSpPr>
          <p:spPr>
            <a:xfrm>
              <a:off x="6832" y="5307"/>
              <a:ext cx="3400" cy="500"/>
            </a:xfrm>
            <a:prstGeom prst="roundRect">
              <a:avLst>
                <a:gd name="adj" fmla="val 8750"/>
              </a:avLst>
            </a:prstGeom>
            <a:solidFill>
              <a:srgbClr val="F0F0F0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6" name="TextBox 20"/>
                <p:cNvSpPr txBox="1"/>
                <p:nvPr>
                  <p:custDataLst>
                    <p:tags r:id="rId125"/>
                  </p:custDataLst>
                </p:nvPr>
              </p:nvSpPr>
              <p:spPr>
                <a:xfrm>
                  <a:off x="6832" y="1987"/>
                  <a:ext cx="3400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𝑚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1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→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=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ReLU</m:t>
                        </m:r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(⋯)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6" name="TextBox 20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6"/>
                  </p:custDataLst>
                </p:nvPr>
              </p:nvSpPr>
              <p:spPr>
                <a:xfrm>
                  <a:off x="6832" y="1987"/>
                  <a:ext cx="3400" cy="500"/>
                </a:xfrm>
                <a:prstGeom prst="rect">
                  <a:avLst/>
                </a:prstGeom>
                <a:blipFill rotWithShape="1">
                  <a:blip r:embed="rId127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7" name="TextBox 21"/>
                <p:cNvSpPr txBox="1"/>
                <p:nvPr>
                  <p:custDataLst>
                    <p:tags r:id="rId128"/>
                  </p:custDataLst>
                </p:nvPr>
              </p:nvSpPr>
              <p:spPr>
                <a:xfrm>
                  <a:off x="6832" y="3647"/>
                  <a:ext cx="3400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𝑚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2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→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=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ReLU</m:t>
                        </m:r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(⋯)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7" name="TextBox 21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29"/>
                  </p:custDataLst>
                </p:nvPr>
              </p:nvSpPr>
              <p:spPr>
                <a:xfrm>
                  <a:off x="6832" y="3647"/>
                  <a:ext cx="3400" cy="500"/>
                </a:xfrm>
                <a:prstGeom prst="rect">
                  <a:avLst/>
                </a:prstGeom>
                <a:blipFill rotWithShape="1">
                  <a:blip r:embed="rId130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38" name="TextBox 22"/>
                <p:cNvSpPr txBox="1"/>
                <p:nvPr>
                  <p:custDataLst>
                    <p:tags r:id="rId131"/>
                  </p:custDataLst>
                </p:nvPr>
              </p:nvSpPr>
              <p:spPr>
                <a:xfrm>
                  <a:off x="6832" y="5307"/>
                  <a:ext cx="3400" cy="5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𝑚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𝑣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→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=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ReLU</m:t>
                        </m:r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(⋯)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38" name="TextBox 22"/>
                <p:cNvSpPr txBox="1">
                  <a:spLocks noRot="1" noChangeAspect="1" noMove="1" noResize="1" noEditPoints="1" noAdjustHandles="1" noChangeArrowheads="1" noChangeShapeType="1" noTextEdit="1"/>
                </p:cNvSpPr>
                <p:nvPr>
                  <p:custDataLst>
                    <p:tags r:id="rId132"/>
                  </p:custDataLst>
                </p:nvPr>
              </p:nvSpPr>
              <p:spPr>
                <a:xfrm>
                  <a:off x="6832" y="5307"/>
                  <a:ext cx="3400" cy="500"/>
                </a:xfrm>
                <a:prstGeom prst="rect">
                  <a:avLst/>
                </a:prstGeom>
                <a:blipFill rotWithShape="1">
                  <a:blip r:embed="rId133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39" name="Rectangle 24"/>
            <p:cNvSpPr/>
            <p:nvPr/>
          </p:nvSpPr>
          <p:spPr>
            <a:xfrm>
              <a:off x="6832" y="5987"/>
              <a:ext cx="3400" cy="640"/>
            </a:xfrm>
            <a:prstGeom prst="roundRect">
              <a:avLst>
                <a:gd name="adj" fmla="val 8140"/>
              </a:avLst>
            </a:prstGeom>
            <a:solidFill>
              <a:srgbClr val="FFF4D8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0" name="TextBox 25"/>
                <p:cNvSpPr txBox="1"/>
                <p:nvPr/>
              </p:nvSpPr>
              <p:spPr>
                <a:xfrm>
                  <a:off x="6832" y="5987"/>
                  <a:ext cx="3400" cy="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= (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1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 + 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𝜀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)</m:t>
                        </m:r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 + </m:t>
                        </m:r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∑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𝑗</m:t>
                            </m:r>
                          </m:sub>
                        </m:sSub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𝑚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𝑗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→</m:t>
                            </m:r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</m:oMath>
                    </m:oMathPara>
                  </a14:m>
                  <a:endParaRPr lang="en-US" sz="1400">
                    <a:latin typeface="Cambria Math" panose="02040503050406030204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0" name="TextBox 25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832" y="5987"/>
                  <a:ext cx="3400" cy="640"/>
                </a:xfrm>
                <a:prstGeom prst="rect">
                  <a:avLst/>
                </a:prstGeom>
                <a:blipFill rotWithShape="1">
                  <a:blip r:embed="rId134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241" name="Rectangle 26"/>
            <p:cNvSpPr/>
            <p:nvPr/>
          </p:nvSpPr>
          <p:spPr>
            <a:xfrm>
              <a:off x="7132" y="7127"/>
              <a:ext cx="2800" cy="640"/>
            </a:xfrm>
            <a:prstGeom prst="roundRect">
              <a:avLst>
                <a:gd name="adj" fmla="val 8235"/>
              </a:avLst>
            </a:prstGeom>
            <a:solidFill>
              <a:srgbClr val="E4F0DA"/>
            </a:solidFill>
            <a:ln>
              <a:noFill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242" name="TextBox 27"/>
                <p:cNvSpPr txBox="1"/>
                <p:nvPr/>
              </p:nvSpPr>
              <p:spPr>
                <a:xfrm>
                  <a:off x="7132" y="7127"/>
                  <a:ext cx="2800" cy="64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ctr" anchorCtr="0">
                  <a:no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ℎ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</a:rPr>
                          <m:t>′ = </m:t>
                        </m:r>
                        <m:r>
                          <m:rPr>
                            <m:sty m:val="p"/>
                          </m:rPr>
                          <a:rPr sz="1400">
                            <a:latin typeface="Cambria Math" panose="02040503050406030204" charset="0"/>
                          </a:rPr>
                          <m:t>MLP</m:t>
                        </m:r>
                        <m:r>
                          <a:rPr sz="1400">
                            <a:latin typeface="Cambria Math" panose="02040503050406030204" charset="0"/>
                          </a:rPr>
                          <m:t>(</m:t>
                        </m:r>
                        <m:sSub>
                          <m:sSubPr>
                            <m:ctrlPr>
                              <a:rPr sz="1400"/>
                            </m:ctrlPr>
                          </m:sSubPr>
                          <m:e>
                            <m:r>
                              <a:rPr sz="1400">
                                <a:latin typeface="Cambria Math" panose="02040503050406030204" charset="0"/>
                              </a:rPr>
                              <m:t>𝑠</m:t>
                            </m:r>
                          </m:e>
                          <m:sub>
                            <m:r>
                              <a:rPr sz="1400">
                                <a:latin typeface="Cambria Math" panose="02040503050406030204" charset="0"/>
                              </a:rPr>
                              <m:t>𝑖</m:t>
                            </m:r>
                          </m:sub>
                        </m:sSub>
                        <m:r>
                          <a:rPr sz="1400">
                            <a:latin typeface="Cambria Math" panose="02040503050406030204" charset="0"/>
                            <a:ea typeface="MS Mincho" charset="0"/>
                            <a:cs typeface="Cambria Math" panose="02040503050406030204" charset="0"/>
                          </a:rPr>
                          <m:t>)</m:t>
                        </m:r>
                      </m:oMath>
                    </m:oMathPara>
                  </a14:m>
                  <a:endParaRPr lang="en-US" sz="1400">
                    <a:latin typeface="Cambria Math" panose="02040503050406030204" charset="0"/>
                    <a:ea typeface="MS Mincho" charset="0"/>
                    <a:cs typeface="Cambria Math" panose="02040503050406030204" charset="0"/>
                  </a:endParaRPr>
                </a:p>
              </p:txBody>
            </p:sp>
          </mc:Choice>
          <mc:Fallback>
            <p:sp>
              <p:nvSpPr>
                <p:cNvPr id="242" name="TextBox 2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132" y="7127"/>
                  <a:ext cx="2800" cy="640"/>
                </a:xfrm>
                <a:prstGeom prst="rect">
                  <a:avLst/>
                </a:prstGeom>
                <a:blipFill rotWithShape="1">
                  <a:blip r:embed="rId135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243" name="直接连接符 242"/>
            <p:cNvCxnSpPr/>
            <p:nvPr/>
          </p:nvCxnSpPr>
          <p:spPr>
            <a:xfrm>
              <a:off x="8532" y="1807"/>
              <a:ext cx="1" cy="180"/>
            </a:xfrm>
            <a:prstGeom prst="line">
              <a:avLst/>
            </a:prstGeom>
            <a:ln w="12700">
              <a:solidFill>
                <a:srgbClr val="88888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4" name="直接连接符 243"/>
            <p:cNvCxnSpPr/>
            <p:nvPr/>
          </p:nvCxnSpPr>
          <p:spPr>
            <a:xfrm>
              <a:off x="10232" y="2237"/>
              <a:ext cx="240" cy="1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直接连接符 244"/>
            <p:cNvCxnSpPr/>
            <p:nvPr/>
          </p:nvCxnSpPr>
          <p:spPr>
            <a:xfrm>
              <a:off x="8532" y="3467"/>
              <a:ext cx="1" cy="180"/>
            </a:xfrm>
            <a:prstGeom prst="line">
              <a:avLst/>
            </a:prstGeom>
            <a:ln w="12700">
              <a:solidFill>
                <a:srgbClr val="88888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直接连接符 245"/>
            <p:cNvCxnSpPr/>
            <p:nvPr/>
          </p:nvCxnSpPr>
          <p:spPr>
            <a:xfrm>
              <a:off x="10232" y="3897"/>
              <a:ext cx="240" cy="1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直接连接符 246"/>
            <p:cNvCxnSpPr/>
            <p:nvPr/>
          </p:nvCxnSpPr>
          <p:spPr>
            <a:xfrm>
              <a:off x="8532" y="5127"/>
              <a:ext cx="1" cy="180"/>
            </a:xfrm>
            <a:prstGeom prst="line">
              <a:avLst/>
            </a:prstGeom>
            <a:ln w="12700">
              <a:solidFill>
                <a:srgbClr val="88888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8" name="直接连接符 247"/>
            <p:cNvCxnSpPr/>
            <p:nvPr/>
          </p:nvCxnSpPr>
          <p:spPr>
            <a:xfrm>
              <a:off x="10232" y="5557"/>
              <a:ext cx="240" cy="1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9" name="直接连接符 248"/>
            <p:cNvCxnSpPr/>
            <p:nvPr/>
          </p:nvCxnSpPr>
          <p:spPr>
            <a:xfrm>
              <a:off x="10472" y="2237"/>
              <a:ext cx="1" cy="4070"/>
            </a:xfrm>
            <a:prstGeom prst="line">
              <a:avLst/>
            </a:prstGeom>
            <a:ln w="12700">
              <a:solidFill>
                <a:srgbClr val="888888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0" name="直接连接符 249"/>
            <p:cNvCxnSpPr/>
            <p:nvPr/>
          </p:nvCxnSpPr>
          <p:spPr>
            <a:xfrm flipH="1">
              <a:off x="10252" y="6307"/>
              <a:ext cx="220" cy="1"/>
            </a:xfrm>
            <a:prstGeom prst="line">
              <a:avLst/>
            </a:prstGeom>
            <a:ln w="12700">
              <a:solidFill>
                <a:srgbClr val="88888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1" name="直接连接符 250"/>
            <p:cNvCxnSpPr/>
            <p:nvPr/>
          </p:nvCxnSpPr>
          <p:spPr>
            <a:xfrm>
              <a:off x="8532" y="6627"/>
              <a:ext cx="1" cy="500"/>
            </a:xfrm>
            <a:prstGeom prst="line">
              <a:avLst/>
            </a:prstGeom>
            <a:ln w="12700">
              <a:solidFill>
                <a:srgbClr val="888888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10"/>
          <p:cNvSpPr/>
          <p:nvPr/>
        </p:nvSpPr>
        <p:spPr>
          <a:xfrm>
            <a:off x="254635" y="958215"/>
            <a:ext cx="3950335" cy="4972050"/>
          </a:xfrm>
          <a:prstGeom prst="roundRect">
            <a:avLst>
              <a:gd name="adj" fmla="val 5055"/>
            </a:avLst>
          </a:prstGeom>
          <a:solidFill>
            <a:srgbClr val="F4F6ED"/>
          </a:solidFill>
          <a:ln>
            <a:noFill/>
          </a:ln>
        </p:spPr>
      </p:sp>
      <p:grpSp>
        <p:nvGrpSpPr>
          <p:cNvPr id="603" name="组合 602"/>
          <p:cNvGrpSpPr>
            <a:grpSpLocks noChangeAspect="1"/>
          </p:cNvGrpSpPr>
          <p:nvPr/>
        </p:nvGrpSpPr>
        <p:grpSpPr>
          <a:xfrm>
            <a:off x="586105" y="1710055"/>
            <a:ext cx="3256915" cy="3780155"/>
            <a:chOff x="926" y="1999"/>
            <a:chExt cx="4348" cy="5954"/>
          </a:xfrm>
        </p:grpSpPr>
        <p:sp>
          <p:nvSpPr>
            <p:cNvPr id="604" name="Freeform 10"/>
            <p:cNvSpPr/>
            <p:nvPr/>
          </p:nvSpPr>
          <p:spPr>
            <a:xfrm>
              <a:off x="1005" y="2469"/>
              <a:ext cx="661" cy="1103"/>
            </a:xfrm>
            <a:custGeom>
              <a:avLst/>
              <a:gdLst/>
              <a:ahLst/>
              <a:cxnLst/>
              <a:rect l="l" t="t" r="r" b="b"/>
              <a:pathLst>
                <a:path w="420052" h="700088">
                  <a:moveTo>
                    <a:pt x="0" y="700088"/>
                  </a:moveTo>
                  <a:cubicBezTo>
                    <a:pt x="210026" y="494728"/>
                    <a:pt x="210026" y="205359"/>
                    <a:pt x="420052" y="0"/>
                  </a:cubicBezTo>
                </a:path>
              </a:pathLst>
            </a:custGeom>
            <a:noFill/>
            <a:ln w="28004">
              <a:solidFill>
                <a:srgbClr val="0072B2"/>
              </a:solidFill>
            </a:ln>
          </p:spPr>
        </p:sp>
        <p:sp>
          <p:nvSpPr>
            <p:cNvPr id="605" name="Freeform 11"/>
            <p:cNvSpPr/>
            <p:nvPr/>
          </p:nvSpPr>
          <p:spPr>
            <a:xfrm>
              <a:off x="1667" y="2146"/>
              <a:ext cx="985" cy="1117"/>
            </a:xfrm>
            <a:custGeom>
              <a:avLst/>
              <a:gdLst/>
              <a:ahLst/>
              <a:cxnLst/>
              <a:rect l="l" t="t" r="r" b="b"/>
              <a:pathLst>
                <a:path w="625412" h="709422">
                  <a:moveTo>
                    <a:pt x="0" y="205359"/>
                  </a:moveTo>
                  <a:cubicBezTo>
                    <a:pt x="312706" y="0"/>
                    <a:pt x="312706" y="709422"/>
                    <a:pt x="625412" y="504063"/>
                  </a:cubicBezTo>
                </a:path>
              </a:pathLst>
            </a:custGeom>
            <a:noFill/>
            <a:ln w="28004">
              <a:solidFill>
                <a:srgbClr val="E69F00"/>
              </a:solidFill>
            </a:ln>
          </p:spPr>
        </p:sp>
        <p:sp>
          <p:nvSpPr>
            <p:cNvPr id="606" name="Freeform 12"/>
            <p:cNvSpPr/>
            <p:nvPr/>
          </p:nvSpPr>
          <p:spPr>
            <a:xfrm>
              <a:off x="2651" y="2322"/>
              <a:ext cx="1029" cy="617"/>
            </a:xfrm>
            <a:custGeom>
              <a:avLst/>
              <a:gdLst/>
              <a:ahLst/>
              <a:cxnLst/>
              <a:rect l="l" t="t" r="r" b="b"/>
              <a:pathLst>
                <a:path w="653415" h="392049">
                  <a:moveTo>
                    <a:pt x="0" y="392049"/>
                  </a:moveTo>
                  <a:cubicBezTo>
                    <a:pt x="326708" y="186690"/>
                    <a:pt x="326708" y="205359"/>
                    <a:pt x="653415" y="0"/>
                  </a:cubicBezTo>
                </a:path>
              </a:pathLst>
            </a:custGeom>
            <a:noFill/>
            <a:ln w="28004">
              <a:solidFill>
                <a:srgbClr val="0072B2"/>
              </a:solidFill>
            </a:ln>
          </p:spPr>
        </p:sp>
        <p:sp>
          <p:nvSpPr>
            <p:cNvPr id="607" name="Freeform 13"/>
            <p:cNvSpPr/>
            <p:nvPr/>
          </p:nvSpPr>
          <p:spPr>
            <a:xfrm>
              <a:off x="3680" y="1999"/>
              <a:ext cx="1514" cy="1161"/>
            </a:xfrm>
            <a:custGeom>
              <a:avLst/>
              <a:gdLst/>
              <a:ahLst/>
              <a:cxnLst/>
              <a:rect l="l" t="t" r="r" b="b"/>
              <a:pathLst>
                <a:path w="961454" h="737425">
                  <a:moveTo>
                    <a:pt x="0" y="205359"/>
                  </a:moveTo>
                  <a:cubicBezTo>
                    <a:pt x="480727" y="0"/>
                    <a:pt x="480727" y="737425"/>
                    <a:pt x="961454" y="532066"/>
                  </a:cubicBezTo>
                </a:path>
              </a:pathLst>
            </a:custGeom>
            <a:noFill/>
            <a:ln w="28004">
              <a:solidFill>
                <a:srgbClr val="E69F00"/>
              </a:solidFill>
            </a:ln>
          </p:spPr>
        </p:sp>
        <p:sp>
          <p:nvSpPr>
            <p:cNvPr id="608" name="Freeform 14"/>
            <p:cNvSpPr/>
            <p:nvPr/>
          </p:nvSpPr>
          <p:spPr>
            <a:xfrm>
              <a:off x="2651" y="2616"/>
              <a:ext cx="1588" cy="1573"/>
            </a:xfrm>
            <a:custGeom>
              <a:avLst/>
              <a:gdLst/>
              <a:ahLst/>
              <a:cxnLst/>
              <a:rect l="l" t="t" r="r" b="b"/>
              <a:pathLst>
                <a:path w="1008126" h="998791">
                  <a:moveTo>
                    <a:pt x="0" y="205359"/>
                  </a:moveTo>
                  <a:cubicBezTo>
                    <a:pt x="504063" y="0"/>
                    <a:pt x="504063" y="998791"/>
                    <a:pt x="1008126" y="793432"/>
                  </a:cubicBezTo>
                </a:path>
              </a:pathLst>
            </a:custGeom>
            <a:noFill/>
            <a:ln w="28004">
              <a:solidFill>
                <a:srgbClr val="E69F00"/>
              </a:solidFill>
            </a:ln>
          </p:spPr>
        </p:sp>
        <p:sp>
          <p:nvSpPr>
            <p:cNvPr id="609" name="Ellipse 15"/>
            <p:cNvSpPr/>
            <p:nvPr/>
          </p:nvSpPr>
          <p:spPr>
            <a:xfrm>
              <a:off x="926" y="3492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10" name="Ellipse 16"/>
            <p:cNvSpPr/>
            <p:nvPr/>
          </p:nvSpPr>
          <p:spPr>
            <a:xfrm>
              <a:off x="1587" y="2390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11" name="Ellipse 17"/>
            <p:cNvSpPr/>
            <p:nvPr/>
          </p:nvSpPr>
          <p:spPr>
            <a:xfrm>
              <a:off x="2572" y="2860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12" name="Ellipse 18"/>
            <p:cNvSpPr/>
            <p:nvPr/>
          </p:nvSpPr>
          <p:spPr>
            <a:xfrm>
              <a:off x="3601" y="2243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13" name="Ellipse 19"/>
            <p:cNvSpPr/>
            <p:nvPr/>
          </p:nvSpPr>
          <p:spPr>
            <a:xfrm>
              <a:off x="5115" y="2757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14" name="Ellipse 20"/>
            <p:cNvSpPr/>
            <p:nvPr/>
          </p:nvSpPr>
          <p:spPr>
            <a:xfrm>
              <a:off x="4160" y="3786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15" name="Freeform 21"/>
            <p:cNvSpPr/>
            <p:nvPr/>
          </p:nvSpPr>
          <p:spPr>
            <a:xfrm>
              <a:off x="1005" y="3677"/>
              <a:ext cx="15" cy="265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9525">
              <a:solidFill>
                <a:srgbClr val="CCCCCC"/>
              </a:solidFill>
              <a:custDash>
                <a:ds d="500000" sp="400000"/>
              </a:custDash>
            </a:ln>
          </p:spPr>
        </p:sp>
        <p:sp>
          <p:nvSpPr>
            <p:cNvPr id="616" name="Freeform 22"/>
            <p:cNvSpPr/>
            <p:nvPr/>
          </p:nvSpPr>
          <p:spPr>
            <a:xfrm>
              <a:off x="1667" y="2574"/>
              <a:ext cx="15" cy="265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9525">
              <a:solidFill>
                <a:srgbClr val="CCCCCC"/>
              </a:solidFill>
              <a:custDash>
                <a:ds d="500000" sp="400000"/>
              </a:custDash>
            </a:ln>
          </p:spPr>
        </p:sp>
        <p:sp>
          <p:nvSpPr>
            <p:cNvPr id="617" name="Freeform 23"/>
            <p:cNvSpPr/>
            <p:nvPr/>
          </p:nvSpPr>
          <p:spPr>
            <a:xfrm>
              <a:off x="2651" y="3044"/>
              <a:ext cx="15" cy="265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9525">
              <a:solidFill>
                <a:srgbClr val="CCCCCC"/>
              </a:solidFill>
              <a:custDash>
                <a:ds d="500000" sp="400000"/>
              </a:custDash>
            </a:ln>
          </p:spPr>
        </p:sp>
        <p:sp>
          <p:nvSpPr>
            <p:cNvPr id="618" name="Freeform 24"/>
            <p:cNvSpPr/>
            <p:nvPr/>
          </p:nvSpPr>
          <p:spPr>
            <a:xfrm>
              <a:off x="3680" y="2427"/>
              <a:ext cx="15" cy="265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9525">
              <a:solidFill>
                <a:srgbClr val="CCCCCC"/>
              </a:solidFill>
              <a:custDash>
                <a:ds d="500000" sp="400000"/>
              </a:custDash>
            </a:ln>
          </p:spPr>
        </p:sp>
        <p:sp>
          <p:nvSpPr>
            <p:cNvPr id="619" name="Freeform 25"/>
            <p:cNvSpPr/>
            <p:nvPr/>
          </p:nvSpPr>
          <p:spPr>
            <a:xfrm>
              <a:off x="5195" y="2941"/>
              <a:ext cx="15" cy="265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9525">
              <a:solidFill>
                <a:srgbClr val="CCCCCC"/>
              </a:solidFill>
              <a:custDash>
                <a:ds d="500000" sp="400000"/>
              </a:custDash>
            </a:ln>
          </p:spPr>
        </p:sp>
        <p:sp>
          <p:nvSpPr>
            <p:cNvPr id="620" name="Freeform 26"/>
            <p:cNvSpPr/>
            <p:nvPr/>
          </p:nvSpPr>
          <p:spPr>
            <a:xfrm>
              <a:off x="4239" y="3971"/>
              <a:ext cx="15" cy="2655"/>
            </a:xfrm>
            <a:custGeom>
              <a:avLst/>
              <a:gdLst/>
              <a:ahLst/>
              <a:cxnLst/>
              <a:rect l="l" t="t" r="r" b="b"/>
              <a:pathLst>
                <a:path w="9525" h="1685925">
                  <a:moveTo>
                    <a:pt x="0" y="0"/>
                  </a:moveTo>
                  <a:lnTo>
                    <a:pt x="0" y="1685925"/>
                  </a:lnTo>
                </a:path>
              </a:pathLst>
            </a:custGeom>
            <a:noFill/>
            <a:ln w="9525">
              <a:solidFill>
                <a:srgbClr val="CCCCCC"/>
              </a:solidFill>
              <a:custDash>
                <a:ds d="500000" sp="400000"/>
              </a:custDash>
            </a:ln>
          </p:spPr>
        </p:sp>
        <p:sp>
          <p:nvSpPr>
            <p:cNvPr id="621" name="Freeform 27"/>
            <p:cNvSpPr/>
            <p:nvPr/>
          </p:nvSpPr>
          <p:spPr>
            <a:xfrm>
              <a:off x="1005" y="5454"/>
              <a:ext cx="661" cy="1103"/>
            </a:xfrm>
            <a:custGeom>
              <a:avLst/>
              <a:gdLst/>
              <a:ahLst/>
              <a:cxnLst/>
              <a:rect l="l" t="t" r="r" b="b"/>
              <a:pathLst>
                <a:path w="420052" h="700088">
                  <a:moveTo>
                    <a:pt x="0" y="700088"/>
                  </a:moveTo>
                  <a:lnTo>
                    <a:pt x="420052" y="0"/>
                  </a:lnTo>
                </a:path>
              </a:pathLst>
            </a:custGeom>
            <a:noFill/>
            <a:ln w="28004">
              <a:solidFill>
                <a:srgbClr val="0072B2"/>
              </a:solidFill>
            </a:ln>
          </p:spPr>
        </p:sp>
        <p:sp>
          <p:nvSpPr>
            <p:cNvPr id="622" name="Freeform 28"/>
            <p:cNvSpPr/>
            <p:nvPr/>
          </p:nvSpPr>
          <p:spPr>
            <a:xfrm>
              <a:off x="1667" y="5454"/>
              <a:ext cx="985" cy="470"/>
            </a:xfrm>
            <a:custGeom>
              <a:avLst/>
              <a:gdLst/>
              <a:ahLst/>
              <a:cxnLst/>
              <a:rect l="l" t="t" r="r" b="b"/>
              <a:pathLst>
                <a:path w="625412" h="298704">
                  <a:moveTo>
                    <a:pt x="0" y="0"/>
                  </a:moveTo>
                  <a:lnTo>
                    <a:pt x="625412" y="298704"/>
                  </a:lnTo>
                </a:path>
              </a:pathLst>
            </a:custGeom>
            <a:noFill/>
            <a:ln w="74676">
              <a:solidFill>
                <a:srgbClr val="D8CDE6"/>
              </a:solidFill>
            </a:ln>
          </p:spPr>
        </p:sp>
        <p:sp>
          <p:nvSpPr>
            <p:cNvPr id="623" name="Freeform 29"/>
            <p:cNvSpPr/>
            <p:nvPr/>
          </p:nvSpPr>
          <p:spPr>
            <a:xfrm>
              <a:off x="1667" y="5454"/>
              <a:ext cx="985" cy="470"/>
            </a:xfrm>
            <a:custGeom>
              <a:avLst/>
              <a:gdLst/>
              <a:ahLst/>
              <a:cxnLst/>
              <a:rect l="l" t="t" r="r" b="b"/>
              <a:pathLst>
                <a:path w="625412" h="298704">
                  <a:moveTo>
                    <a:pt x="0" y="0"/>
                  </a:moveTo>
                  <a:lnTo>
                    <a:pt x="625412" y="298704"/>
                  </a:lnTo>
                </a:path>
              </a:pathLst>
            </a:custGeom>
            <a:noFill/>
            <a:ln w="28004">
              <a:solidFill>
                <a:srgbClr val="E69F00"/>
              </a:solidFill>
            </a:ln>
          </p:spPr>
        </p:sp>
        <p:sp>
          <p:nvSpPr>
            <p:cNvPr id="624" name="Freeform 30"/>
            <p:cNvSpPr/>
            <p:nvPr/>
          </p:nvSpPr>
          <p:spPr>
            <a:xfrm>
              <a:off x="2651" y="5307"/>
              <a:ext cx="1029" cy="617"/>
            </a:xfrm>
            <a:custGeom>
              <a:avLst/>
              <a:gdLst/>
              <a:ahLst/>
              <a:cxnLst/>
              <a:rect l="l" t="t" r="r" b="b"/>
              <a:pathLst>
                <a:path w="653415" h="392049">
                  <a:moveTo>
                    <a:pt x="0" y="392049"/>
                  </a:moveTo>
                  <a:lnTo>
                    <a:pt x="653415" y="0"/>
                  </a:lnTo>
                </a:path>
              </a:pathLst>
            </a:custGeom>
            <a:noFill/>
            <a:ln w="74676">
              <a:solidFill>
                <a:srgbClr val="D8CDE6"/>
              </a:solidFill>
            </a:ln>
          </p:spPr>
        </p:sp>
        <p:sp>
          <p:nvSpPr>
            <p:cNvPr id="625" name="Freeform 31"/>
            <p:cNvSpPr/>
            <p:nvPr/>
          </p:nvSpPr>
          <p:spPr>
            <a:xfrm>
              <a:off x="2651" y="5307"/>
              <a:ext cx="1029" cy="617"/>
            </a:xfrm>
            <a:custGeom>
              <a:avLst/>
              <a:gdLst/>
              <a:ahLst/>
              <a:cxnLst/>
              <a:rect l="l" t="t" r="r" b="b"/>
              <a:pathLst>
                <a:path w="653415" h="392049">
                  <a:moveTo>
                    <a:pt x="0" y="392049"/>
                  </a:moveTo>
                  <a:lnTo>
                    <a:pt x="653415" y="0"/>
                  </a:lnTo>
                </a:path>
              </a:pathLst>
            </a:custGeom>
            <a:noFill/>
            <a:ln w="28004">
              <a:solidFill>
                <a:srgbClr val="0072B2"/>
              </a:solidFill>
            </a:ln>
          </p:spPr>
        </p:sp>
        <p:sp>
          <p:nvSpPr>
            <p:cNvPr id="626" name="Freeform 32"/>
            <p:cNvSpPr/>
            <p:nvPr/>
          </p:nvSpPr>
          <p:spPr>
            <a:xfrm>
              <a:off x="3680" y="5307"/>
              <a:ext cx="1514" cy="515"/>
            </a:xfrm>
            <a:custGeom>
              <a:avLst/>
              <a:gdLst/>
              <a:ahLst/>
              <a:cxnLst/>
              <a:rect l="l" t="t" r="r" b="b"/>
              <a:pathLst>
                <a:path w="961454" h="326708">
                  <a:moveTo>
                    <a:pt x="0" y="0"/>
                  </a:moveTo>
                  <a:lnTo>
                    <a:pt x="961454" y="326708"/>
                  </a:lnTo>
                </a:path>
              </a:pathLst>
            </a:custGeom>
            <a:noFill/>
            <a:ln w="28004">
              <a:solidFill>
                <a:srgbClr val="E69F00"/>
              </a:solidFill>
            </a:ln>
          </p:spPr>
        </p:sp>
        <p:sp>
          <p:nvSpPr>
            <p:cNvPr id="627" name="Freeform 33"/>
            <p:cNvSpPr/>
            <p:nvPr/>
          </p:nvSpPr>
          <p:spPr>
            <a:xfrm>
              <a:off x="2651" y="5924"/>
              <a:ext cx="1588" cy="926"/>
            </a:xfrm>
            <a:custGeom>
              <a:avLst/>
              <a:gdLst/>
              <a:ahLst/>
              <a:cxnLst/>
              <a:rect l="l" t="t" r="r" b="b"/>
              <a:pathLst>
                <a:path w="1008126" h="588074">
                  <a:moveTo>
                    <a:pt x="0" y="0"/>
                  </a:moveTo>
                  <a:lnTo>
                    <a:pt x="1008126" y="588074"/>
                  </a:lnTo>
                </a:path>
              </a:pathLst>
            </a:custGeom>
            <a:noFill/>
            <a:ln w="28004">
              <a:solidFill>
                <a:srgbClr val="E69F00"/>
              </a:solidFill>
            </a:ln>
          </p:spPr>
        </p:sp>
        <p:sp>
          <p:nvSpPr>
            <p:cNvPr id="628" name="Freeform 34"/>
            <p:cNvSpPr/>
            <p:nvPr/>
          </p:nvSpPr>
          <p:spPr>
            <a:xfrm>
              <a:off x="1005" y="6557"/>
              <a:ext cx="2161" cy="1249"/>
            </a:xfrm>
            <a:custGeom>
              <a:avLst/>
              <a:gdLst/>
              <a:ahLst/>
              <a:cxnLst/>
              <a:rect l="l" t="t" r="r" b="b"/>
              <a:pathLst>
                <a:path w="1372172" h="793432">
                  <a:moveTo>
                    <a:pt x="1372172" y="793432"/>
                  </a:moveTo>
                  <a:lnTo>
                    <a:pt x="0" y="0"/>
                  </a:lnTo>
                </a:path>
              </a:pathLst>
            </a:custGeom>
            <a:noFill/>
            <a:ln w="9334">
              <a:solidFill>
                <a:srgbClr val="A4A4A4"/>
              </a:solidFill>
            </a:ln>
          </p:spPr>
        </p:sp>
        <p:sp>
          <p:nvSpPr>
            <p:cNvPr id="629" name="Freeform 35"/>
            <p:cNvSpPr/>
            <p:nvPr/>
          </p:nvSpPr>
          <p:spPr>
            <a:xfrm>
              <a:off x="1667" y="5454"/>
              <a:ext cx="1499" cy="2352"/>
            </a:xfrm>
            <a:custGeom>
              <a:avLst/>
              <a:gdLst/>
              <a:ahLst/>
              <a:cxnLst/>
              <a:rect l="l" t="t" r="r" b="b"/>
              <a:pathLst>
                <a:path w="952119" h="1493520">
                  <a:moveTo>
                    <a:pt x="952119" y="1493520"/>
                  </a:moveTo>
                  <a:lnTo>
                    <a:pt x="0" y="0"/>
                  </a:lnTo>
                </a:path>
              </a:pathLst>
            </a:custGeom>
            <a:noFill/>
            <a:ln w="9334">
              <a:solidFill>
                <a:srgbClr val="A4A4A4"/>
              </a:solidFill>
            </a:ln>
          </p:spPr>
        </p:sp>
        <p:sp>
          <p:nvSpPr>
            <p:cNvPr id="630" name="Freeform 36"/>
            <p:cNvSpPr/>
            <p:nvPr/>
          </p:nvSpPr>
          <p:spPr>
            <a:xfrm>
              <a:off x="2651" y="5924"/>
              <a:ext cx="515" cy="1882"/>
            </a:xfrm>
            <a:custGeom>
              <a:avLst/>
              <a:gdLst/>
              <a:ahLst/>
              <a:cxnLst/>
              <a:rect l="l" t="t" r="r" b="b"/>
              <a:pathLst>
                <a:path w="326708" h="1194816">
                  <a:moveTo>
                    <a:pt x="326708" y="1194816"/>
                  </a:moveTo>
                  <a:lnTo>
                    <a:pt x="0" y="0"/>
                  </a:lnTo>
                </a:path>
              </a:pathLst>
            </a:custGeom>
            <a:noFill/>
            <a:ln w="9334">
              <a:solidFill>
                <a:srgbClr val="A4A4A4"/>
              </a:solidFill>
            </a:ln>
          </p:spPr>
        </p:sp>
        <p:sp>
          <p:nvSpPr>
            <p:cNvPr id="631" name="Freeform 37"/>
            <p:cNvSpPr/>
            <p:nvPr/>
          </p:nvSpPr>
          <p:spPr>
            <a:xfrm>
              <a:off x="3166" y="5307"/>
              <a:ext cx="514" cy="2499"/>
            </a:xfrm>
            <a:custGeom>
              <a:avLst/>
              <a:gdLst/>
              <a:ahLst/>
              <a:cxnLst/>
              <a:rect l="l" t="t" r="r" b="b"/>
              <a:pathLst>
                <a:path w="326707" h="1586865">
                  <a:moveTo>
                    <a:pt x="0" y="1586865"/>
                  </a:moveTo>
                  <a:lnTo>
                    <a:pt x="326707" y="0"/>
                  </a:lnTo>
                </a:path>
              </a:pathLst>
            </a:custGeom>
            <a:noFill/>
            <a:ln w="9334">
              <a:solidFill>
                <a:srgbClr val="A4A4A4"/>
              </a:solidFill>
            </a:ln>
          </p:spPr>
        </p:sp>
        <p:sp>
          <p:nvSpPr>
            <p:cNvPr id="632" name="Freeform 38"/>
            <p:cNvSpPr/>
            <p:nvPr/>
          </p:nvSpPr>
          <p:spPr>
            <a:xfrm>
              <a:off x="3166" y="5821"/>
              <a:ext cx="2029" cy="1984"/>
            </a:xfrm>
            <a:custGeom>
              <a:avLst/>
              <a:gdLst/>
              <a:ahLst/>
              <a:cxnLst/>
              <a:rect l="l" t="t" r="r" b="b"/>
              <a:pathLst>
                <a:path w="1288161" h="1260157">
                  <a:moveTo>
                    <a:pt x="0" y="1260157"/>
                  </a:moveTo>
                  <a:lnTo>
                    <a:pt x="1288161" y="0"/>
                  </a:lnTo>
                </a:path>
              </a:pathLst>
            </a:custGeom>
            <a:noFill/>
            <a:ln w="9334">
              <a:solidFill>
                <a:srgbClr val="A4A4A4"/>
              </a:solidFill>
            </a:ln>
          </p:spPr>
        </p:sp>
        <p:sp>
          <p:nvSpPr>
            <p:cNvPr id="633" name="Freeform 39"/>
            <p:cNvSpPr/>
            <p:nvPr/>
          </p:nvSpPr>
          <p:spPr>
            <a:xfrm>
              <a:off x="3166" y="6851"/>
              <a:ext cx="1073" cy="955"/>
            </a:xfrm>
            <a:custGeom>
              <a:avLst/>
              <a:gdLst/>
              <a:ahLst/>
              <a:cxnLst/>
              <a:rect l="l" t="t" r="r" b="b"/>
              <a:pathLst>
                <a:path w="681419" h="606742">
                  <a:moveTo>
                    <a:pt x="0" y="606742"/>
                  </a:moveTo>
                  <a:lnTo>
                    <a:pt x="681419" y="0"/>
                  </a:lnTo>
                </a:path>
              </a:pathLst>
            </a:custGeom>
            <a:noFill/>
            <a:ln w="9334">
              <a:solidFill>
                <a:srgbClr val="A4A4A4"/>
              </a:solidFill>
            </a:ln>
          </p:spPr>
        </p:sp>
        <p:sp>
          <p:nvSpPr>
            <p:cNvPr id="634" name="Ellipse 40"/>
            <p:cNvSpPr/>
            <p:nvPr/>
          </p:nvSpPr>
          <p:spPr>
            <a:xfrm>
              <a:off x="926" y="6477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35" name="Ellipse 41"/>
            <p:cNvSpPr/>
            <p:nvPr/>
          </p:nvSpPr>
          <p:spPr>
            <a:xfrm>
              <a:off x="1587" y="5375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36" name="Ellipse 42"/>
            <p:cNvSpPr/>
            <p:nvPr/>
          </p:nvSpPr>
          <p:spPr>
            <a:xfrm>
              <a:off x="2572" y="5845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37" name="Ellipse 43"/>
            <p:cNvSpPr/>
            <p:nvPr/>
          </p:nvSpPr>
          <p:spPr>
            <a:xfrm>
              <a:off x="3601" y="5228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38" name="Ellipse 44"/>
            <p:cNvSpPr/>
            <p:nvPr/>
          </p:nvSpPr>
          <p:spPr>
            <a:xfrm>
              <a:off x="5115" y="5742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39" name="Ellipse 45"/>
            <p:cNvSpPr/>
            <p:nvPr/>
          </p:nvSpPr>
          <p:spPr>
            <a:xfrm>
              <a:off x="4160" y="6771"/>
              <a:ext cx="159" cy="159"/>
            </a:xfrm>
            <a:prstGeom prst="ellipse">
              <a:avLst/>
            </a:prstGeom>
            <a:solidFill>
              <a:srgbClr val="D6D6D6"/>
            </a:solidFill>
            <a:ln w="10478">
              <a:solidFill>
                <a:srgbClr val="666666"/>
              </a:solidFill>
            </a:ln>
          </p:spPr>
        </p:sp>
        <p:sp>
          <p:nvSpPr>
            <p:cNvPr id="646" name="Ellipse 46"/>
            <p:cNvSpPr/>
            <p:nvPr/>
          </p:nvSpPr>
          <p:spPr>
            <a:xfrm>
              <a:off x="3019" y="7659"/>
              <a:ext cx="294" cy="294"/>
            </a:xfrm>
            <a:prstGeom prst="ellipse">
              <a:avLst/>
            </a:prstGeom>
            <a:solidFill>
              <a:schemeClr val="bg1">
                <a:lumMod val="95000"/>
              </a:schemeClr>
            </a:solidFill>
            <a:ln w="10478">
              <a:solidFill>
                <a:srgbClr val="666666"/>
              </a:solidFill>
            </a:ln>
          </p:spPr>
        </p:sp>
      </p:grpSp>
      <p:sp>
        <p:nvSpPr>
          <p:cNvPr id="4" name="Freeform 4"/>
          <p:cNvSpPr/>
          <p:nvPr/>
        </p:nvSpPr>
        <p:spPr>
          <a:xfrm>
            <a:off x="381635" y="513715"/>
            <a:ext cx="3663950" cy="147320"/>
          </a:xfrm>
          <a:custGeom>
            <a:avLst/>
            <a:gdLst/>
            <a:ahLst/>
            <a:cxnLst/>
            <a:rect l="l" t="t" r="r" b="b"/>
            <a:pathLst>
              <a:path w="4019550" h="161925">
                <a:moveTo>
                  <a:pt x="0" y="161925"/>
                </a:moveTo>
                <a:lnTo>
                  <a:pt x="0" y="104775"/>
                </a:lnTo>
                <a:cubicBezTo>
                  <a:pt x="0" y="66675"/>
                  <a:pt x="22225" y="47625"/>
                  <a:pt x="66675" y="47625"/>
                </a:cubicBezTo>
                <a:lnTo>
                  <a:pt x="1943100" y="47625"/>
                </a:lnTo>
                <a:cubicBezTo>
                  <a:pt x="1987550" y="47625"/>
                  <a:pt x="2009775" y="31750"/>
                  <a:pt x="2009775" y="0"/>
                </a:cubicBezTo>
                <a:cubicBezTo>
                  <a:pt x="2009775" y="31750"/>
                  <a:pt x="2032000" y="47625"/>
                  <a:pt x="2076450" y="47625"/>
                </a:cubicBezTo>
                <a:lnTo>
                  <a:pt x="3952875" y="47625"/>
                </a:lnTo>
                <a:cubicBezTo>
                  <a:pt x="3997325" y="47625"/>
                  <a:pt x="4019550" y="69850"/>
                  <a:pt x="4019550" y="114300"/>
                </a:cubicBezTo>
                <a:lnTo>
                  <a:pt x="4019550" y="161925"/>
                </a:lnTo>
              </a:path>
            </a:pathLst>
          </a:custGeom>
          <a:noFill/>
          <a:ln w="13335" cap="rnd">
            <a:solidFill>
              <a:srgbClr val="5F671D"/>
            </a:solidFill>
            <a:round/>
          </a:ln>
        </p:spPr>
      </p:sp>
      <p:sp>
        <p:nvSpPr>
          <p:cNvPr id="5" name="TextBox 5"/>
          <p:cNvSpPr txBox="1"/>
          <p:nvPr/>
        </p:nvSpPr>
        <p:spPr>
          <a:xfrm>
            <a:off x="1652270" y="261620"/>
            <a:ext cx="112268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F671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Architecture</a:t>
            </a:r>
            <a:endParaRPr lang="zh-CN" sz="1500" b="1" dirty="0">
              <a:solidFill>
                <a:srgbClr val="5F671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5651500" y="513715"/>
            <a:ext cx="3594100" cy="147320"/>
          </a:xfrm>
          <a:custGeom>
            <a:avLst/>
            <a:gdLst/>
            <a:ahLst/>
            <a:cxnLst/>
            <a:rect l="l" t="t" r="r" b="b"/>
            <a:pathLst>
              <a:path w="3943350" h="161925">
                <a:moveTo>
                  <a:pt x="0" y="161925"/>
                </a:moveTo>
                <a:lnTo>
                  <a:pt x="0" y="104775"/>
                </a:lnTo>
                <a:cubicBezTo>
                  <a:pt x="0" y="66675"/>
                  <a:pt x="22225" y="47625"/>
                  <a:pt x="66675" y="47625"/>
                </a:cubicBezTo>
                <a:lnTo>
                  <a:pt x="1905000" y="47625"/>
                </a:lnTo>
                <a:cubicBezTo>
                  <a:pt x="1949450" y="47625"/>
                  <a:pt x="1971675" y="31750"/>
                  <a:pt x="1971675" y="0"/>
                </a:cubicBezTo>
                <a:cubicBezTo>
                  <a:pt x="1971675" y="31750"/>
                  <a:pt x="1993900" y="47625"/>
                  <a:pt x="2038350" y="47625"/>
                </a:cubicBezTo>
                <a:lnTo>
                  <a:pt x="3876675" y="47625"/>
                </a:lnTo>
                <a:cubicBezTo>
                  <a:pt x="3921125" y="47625"/>
                  <a:pt x="3943350" y="69850"/>
                  <a:pt x="3943350" y="114300"/>
                </a:cubicBezTo>
                <a:lnTo>
                  <a:pt x="3943350" y="161925"/>
                </a:lnTo>
              </a:path>
            </a:pathLst>
          </a:custGeom>
          <a:noFill/>
          <a:ln w="13335" cap="rnd">
            <a:solidFill>
              <a:srgbClr val="5F671D"/>
            </a:solidFill>
            <a:round/>
          </a:ln>
        </p:spPr>
      </p:sp>
      <p:sp>
        <p:nvSpPr>
          <p:cNvPr id="7" name="TextBox 7"/>
          <p:cNvSpPr txBox="1"/>
          <p:nvPr/>
        </p:nvSpPr>
        <p:spPr>
          <a:xfrm>
            <a:off x="6755130" y="261620"/>
            <a:ext cx="138684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F671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Representation</a:t>
            </a:r>
            <a:endParaRPr lang="zh-CN" sz="1500" b="1" dirty="0">
              <a:solidFill>
                <a:srgbClr val="5F671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8" name="Freeform 8"/>
          <p:cNvSpPr/>
          <p:nvPr/>
        </p:nvSpPr>
        <p:spPr>
          <a:xfrm>
            <a:off x="9845040" y="513715"/>
            <a:ext cx="3325495" cy="147320"/>
          </a:xfrm>
          <a:custGeom>
            <a:avLst/>
            <a:gdLst/>
            <a:ahLst/>
            <a:cxnLst/>
            <a:rect l="l" t="t" r="r" b="b"/>
            <a:pathLst>
              <a:path w="3648075" h="161925">
                <a:moveTo>
                  <a:pt x="0" y="161925"/>
                </a:moveTo>
                <a:lnTo>
                  <a:pt x="0" y="104775"/>
                </a:lnTo>
                <a:cubicBezTo>
                  <a:pt x="0" y="66675"/>
                  <a:pt x="22225" y="47625"/>
                  <a:pt x="66675" y="47625"/>
                </a:cubicBezTo>
                <a:lnTo>
                  <a:pt x="1757362" y="47625"/>
                </a:lnTo>
                <a:cubicBezTo>
                  <a:pt x="1801813" y="47625"/>
                  <a:pt x="1824038" y="31750"/>
                  <a:pt x="1824038" y="0"/>
                </a:cubicBezTo>
                <a:cubicBezTo>
                  <a:pt x="1824038" y="31750"/>
                  <a:pt x="1846262" y="47625"/>
                  <a:pt x="1890712" y="47625"/>
                </a:cubicBezTo>
                <a:lnTo>
                  <a:pt x="3581400" y="47625"/>
                </a:lnTo>
                <a:cubicBezTo>
                  <a:pt x="3625850" y="47625"/>
                  <a:pt x="3648075" y="69850"/>
                  <a:pt x="3648075" y="114300"/>
                </a:cubicBezTo>
                <a:lnTo>
                  <a:pt x="3648075" y="161925"/>
                </a:lnTo>
              </a:path>
            </a:pathLst>
          </a:custGeom>
          <a:noFill/>
          <a:ln w="13335" cap="rnd">
            <a:solidFill>
              <a:srgbClr val="5F671D"/>
            </a:solidFill>
            <a:round/>
          </a:ln>
        </p:spPr>
      </p:sp>
      <p:sp>
        <p:nvSpPr>
          <p:cNvPr id="9" name="TextBox 9"/>
          <p:cNvSpPr txBox="1"/>
          <p:nvPr/>
        </p:nvSpPr>
        <p:spPr>
          <a:xfrm>
            <a:off x="11052493" y="261620"/>
            <a:ext cx="91059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5F671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Response</a:t>
            </a:r>
            <a:endParaRPr lang="zh-CN" sz="1500" b="1" dirty="0">
              <a:solidFill>
                <a:srgbClr val="5F671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" name="Rectangle 11"/>
          <p:cNvSpPr/>
          <p:nvPr/>
        </p:nvSpPr>
        <p:spPr>
          <a:xfrm>
            <a:off x="5591175" y="869950"/>
            <a:ext cx="2499360" cy="5042535"/>
          </a:xfrm>
          <a:prstGeom prst="roundRect">
            <a:avLst>
              <a:gd name="adj" fmla="val 6472"/>
            </a:avLst>
          </a:prstGeom>
          <a:solidFill>
            <a:srgbClr val="F4F6ED"/>
          </a:solidFill>
          <a:ln>
            <a:noFill/>
          </a:ln>
        </p:spPr>
      </p:sp>
      <p:sp>
        <p:nvSpPr>
          <p:cNvPr id="12" name="Rectangle 12"/>
          <p:cNvSpPr/>
          <p:nvPr/>
        </p:nvSpPr>
        <p:spPr>
          <a:xfrm>
            <a:off x="9723755" y="1029335"/>
            <a:ext cx="1241425" cy="2318385"/>
          </a:xfrm>
          <a:prstGeom prst="roundRect">
            <a:avLst>
              <a:gd name="adj" fmla="val 11888"/>
            </a:avLst>
          </a:prstGeom>
          <a:solidFill>
            <a:srgbClr val="F3F5EC"/>
          </a:solidFill>
          <a:ln>
            <a:noFill/>
          </a:ln>
        </p:spPr>
      </p:sp>
      <p:sp>
        <p:nvSpPr>
          <p:cNvPr id="14" name="Rectangle 14"/>
          <p:cNvSpPr/>
          <p:nvPr/>
        </p:nvSpPr>
        <p:spPr>
          <a:xfrm>
            <a:off x="450850" y="6417945"/>
            <a:ext cx="9897745" cy="1666875"/>
          </a:xfrm>
          <a:prstGeom prst="roundRect">
            <a:avLst>
              <a:gd name="adj" fmla="val 9375"/>
            </a:avLst>
          </a:prstGeom>
          <a:noFill/>
          <a:ln w="11430">
            <a:solidFill>
              <a:srgbClr val="B8C58D"/>
            </a:solidFill>
          </a:ln>
        </p:spPr>
      </p:sp>
      <p:sp>
        <p:nvSpPr>
          <p:cNvPr id="15" name="TextBox 15"/>
          <p:cNvSpPr txBox="1"/>
          <p:nvPr/>
        </p:nvSpPr>
        <p:spPr>
          <a:xfrm>
            <a:off x="684848" y="990600"/>
            <a:ext cx="31115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Curved polymer architecture</a:t>
            </a:r>
            <a:endParaRPr lang="zh-CN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7" name="TextBox 17"/>
          <p:cNvSpPr txBox="1"/>
          <p:nvPr/>
        </p:nvSpPr>
        <p:spPr>
          <a:xfrm>
            <a:off x="656273" y="3161665"/>
            <a:ext cx="303530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Projected block–junction tree graph</a:t>
            </a:r>
            <a:endParaRPr lang="zh-CN" sz="14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1" name="TextBox 111"/>
          <p:cNvSpPr txBox="1"/>
          <p:nvPr/>
        </p:nvSpPr>
        <p:spPr>
          <a:xfrm>
            <a:off x="4392295" y="1454785"/>
            <a:ext cx="1007745" cy="1670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9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Edge attributes</a:t>
            </a:r>
            <a:endParaRPr lang="zh-CN" sz="109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12" name="TextBox 112"/>
          <p:cNvSpPr txBox="1"/>
          <p:nvPr/>
        </p:nvSpPr>
        <p:spPr>
          <a:xfrm>
            <a:off x="4727258" y="1653540"/>
            <a:ext cx="33845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[</a:t>
            </a:r>
            <a:r>
              <a:rPr lang="zh-CN" sz="150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f</a:t>
            </a:r>
            <a:r>
              <a:rPr lang="zh-CN" sz="1500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, </a:t>
            </a:r>
            <a:r>
              <a:rPr lang="zh-CN" sz="150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t</a:t>
            </a:r>
            <a:r>
              <a:rPr lang="zh-CN" sz="1500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]</a:t>
            </a:r>
            <a:endParaRPr lang="zh-CN" sz="1500" b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3" name="Freeform 113"/>
          <p:cNvSpPr/>
          <p:nvPr/>
        </p:nvSpPr>
        <p:spPr>
          <a:xfrm>
            <a:off x="5513705" y="932815"/>
            <a:ext cx="76200" cy="4954905"/>
          </a:xfrm>
          <a:custGeom>
            <a:avLst/>
            <a:gdLst/>
            <a:ahLst/>
            <a:cxnLst/>
            <a:rect l="l" t="t" r="r" b="b"/>
            <a:pathLst>
              <a:path w="9525" h="4876800">
                <a:moveTo>
                  <a:pt x="0" y="0"/>
                </a:moveTo>
                <a:lnTo>
                  <a:pt x="0" y="4876800"/>
                </a:lnTo>
              </a:path>
            </a:pathLst>
          </a:custGeom>
          <a:noFill/>
          <a:ln w="9525" cap="rnd">
            <a:solidFill>
              <a:srgbClr val="D0D0D0"/>
            </a:solidFill>
            <a:round/>
          </a:ln>
        </p:spPr>
      </p:sp>
      <p:sp>
        <p:nvSpPr>
          <p:cNvPr id="114" name="Rectangle 114"/>
          <p:cNvSpPr/>
          <p:nvPr/>
        </p:nvSpPr>
        <p:spPr>
          <a:xfrm>
            <a:off x="4514215" y="2050415"/>
            <a:ext cx="833755" cy="2031365"/>
          </a:xfrm>
          <a:prstGeom prst="roundRect">
            <a:avLst>
              <a:gd name="adj" fmla="val 13542"/>
            </a:avLst>
          </a:prstGeom>
          <a:noFill/>
          <a:ln w="11430">
            <a:solidFill>
              <a:srgbClr val="AAAAAA"/>
            </a:solidFill>
          </a:ln>
        </p:spPr>
      </p:sp>
      <p:sp>
        <p:nvSpPr>
          <p:cNvPr id="115" name="TextBox 115"/>
          <p:cNvSpPr txBox="1"/>
          <p:nvPr/>
        </p:nvSpPr>
        <p:spPr>
          <a:xfrm>
            <a:off x="4732655" y="2141220"/>
            <a:ext cx="66675" cy="240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65" b="1" i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f</a:t>
            </a:r>
            <a:endParaRPr lang="zh-CN" sz="1565" b="1" i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6" name="TextBox 116"/>
          <p:cNvSpPr txBox="1"/>
          <p:nvPr/>
        </p:nvSpPr>
        <p:spPr>
          <a:xfrm>
            <a:off x="5094605" y="2141220"/>
            <a:ext cx="55245" cy="2406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65" b="1" i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t</a:t>
            </a:r>
            <a:endParaRPr lang="zh-CN" sz="1565" b="1" i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7" name="Freeform 117"/>
          <p:cNvSpPr/>
          <p:nvPr/>
        </p:nvSpPr>
        <p:spPr>
          <a:xfrm>
            <a:off x="4575175" y="2432050"/>
            <a:ext cx="720725" cy="1553845"/>
          </a:xfrm>
          <a:custGeom>
            <a:avLst/>
            <a:gdLst/>
            <a:ahLst/>
            <a:cxnLst/>
            <a:rect l="l" t="t" r="r" b="b"/>
            <a:pathLst>
              <a:path w="790575" h="1704975">
                <a:moveTo>
                  <a:pt x="0" y="0"/>
                </a:moveTo>
                <a:lnTo>
                  <a:pt x="790575" y="0"/>
                </a:lnTo>
                <a:lnTo>
                  <a:pt x="790575" y="1704975"/>
                </a:lnTo>
                <a:lnTo>
                  <a:pt x="0" y="1704975"/>
                </a:lnTo>
                <a:close/>
                <a:moveTo>
                  <a:pt x="409575" y="0"/>
                </a:moveTo>
                <a:lnTo>
                  <a:pt x="409575" y="1704975"/>
                </a:lnTo>
                <a:moveTo>
                  <a:pt x="0" y="419100"/>
                </a:moveTo>
                <a:lnTo>
                  <a:pt x="790575" y="419100"/>
                </a:lnTo>
                <a:moveTo>
                  <a:pt x="0" y="857250"/>
                </a:moveTo>
                <a:lnTo>
                  <a:pt x="790575" y="857250"/>
                </a:lnTo>
                <a:moveTo>
                  <a:pt x="0" y="1285875"/>
                </a:moveTo>
                <a:lnTo>
                  <a:pt x="790575" y="1285875"/>
                </a:lnTo>
              </a:path>
            </a:pathLst>
          </a:custGeom>
          <a:noFill/>
          <a:ln w="9525" cap="rnd">
            <a:solidFill>
              <a:srgbClr val="999999"/>
            </a:solidFill>
            <a:round/>
          </a:ln>
        </p:spPr>
      </p:sp>
      <p:sp>
        <p:nvSpPr>
          <p:cNvPr id="118" name="TextBox 118"/>
          <p:cNvSpPr txBox="1"/>
          <p:nvPr/>
        </p:nvSpPr>
        <p:spPr>
          <a:xfrm>
            <a:off x="4725353" y="2512695"/>
            <a:ext cx="63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i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f</a:t>
            </a:r>
            <a:endParaRPr lang="zh-CN" sz="1500" b="1" i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19" name="TextBox 119"/>
          <p:cNvSpPr txBox="1"/>
          <p:nvPr/>
        </p:nvSpPr>
        <p:spPr>
          <a:xfrm>
            <a:off x="4796155" y="2615565"/>
            <a:ext cx="6096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1</a:t>
            </a:r>
            <a:endParaRPr lang="zh-CN" sz="955" b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0" name="TextBox 120"/>
          <p:cNvSpPr txBox="1"/>
          <p:nvPr/>
        </p:nvSpPr>
        <p:spPr>
          <a:xfrm>
            <a:off x="5095875" y="2512695"/>
            <a:ext cx="527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t</a:t>
            </a:r>
            <a:endParaRPr lang="zh-CN" sz="150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1" name="TextBox 121"/>
          <p:cNvSpPr txBox="1"/>
          <p:nvPr/>
        </p:nvSpPr>
        <p:spPr>
          <a:xfrm>
            <a:off x="5160645" y="2615565"/>
            <a:ext cx="6096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1</a:t>
            </a:r>
            <a:endParaRPr lang="zh-CN" sz="955" b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2" name="TextBox 122"/>
          <p:cNvSpPr txBox="1"/>
          <p:nvPr/>
        </p:nvSpPr>
        <p:spPr>
          <a:xfrm>
            <a:off x="4725353" y="2903855"/>
            <a:ext cx="63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i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f</a:t>
            </a:r>
            <a:endParaRPr lang="zh-CN" sz="1500" b="1" i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3" name="TextBox 123"/>
          <p:cNvSpPr txBox="1"/>
          <p:nvPr/>
        </p:nvSpPr>
        <p:spPr>
          <a:xfrm>
            <a:off x="4796155" y="3006090"/>
            <a:ext cx="6096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</a:t>
            </a:r>
            <a:endParaRPr lang="zh-CN" sz="955" b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4" name="TextBox 124"/>
          <p:cNvSpPr txBox="1"/>
          <p:nvPr/>
        </p:nvSpPr>
        <p:spPr>
          <a:xfrm>
            <a:off x="5095875" y="2903855"/>
            <a:ext cx="527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t</a:t>
            </a:r>
            <a:endParaRPr lang="zh-CN" sz="150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5" name="TextBox 125"/>
          <p:cNvSpPr txBox="1"/>
          <p:nvPr/>
        </p:nvSpPr>
        <p:spPr>
          <a:xfrm>
            <a:off x="5160645" y="3006090"/>
            <a:ext cx="6096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2</a:t>
            </a:r>
            <a:endParaRPr lang="zh-CN" sz="955" b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6" name="TextBox 126"/>
          <p:cNvSpPr txBox="1"/>
          <p:nvPr/>
        </p:nvSpPr>
        <p:spPr>
          <a:xfrm>
            <a:off x="4725353" y="3702685"/>
            <a:ext cx="6350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i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f</a:t>
            </a:r>
            <a:endParaRPr lang="zh-CN" sz="1500" b="1" i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7" name="TextBox 127"/>
          <p:cNvSpPr txBox="1"/>
          <p:nvPr/>
        </p:nvSpPr>
        <p:spPr>
          <a:xfrm>
            <a:off x="4776470" y="3804920"/>
            <a:ext cx="10160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chemeClr val="tx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m</a:t>
            </a:r>
            <a:endParaRPr lang="zh-CN" sz="955" b="1" dirty="0">
              <a:solidFill>
                <a:schemeClr val="tx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8" name="TextBox 128"/>
          <p:cNvSpPr txBox="1"/>
          <p:nvPr/>
        </p:nvSpPr>
        <p:spPr>
          <a:xfrm>
            <a:off x="5095875" y="3702685"/>
            <a:ext cx="52705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t</a:t>
            </a:r>
            <a:endParaRPr lang="zh-CN" sz="150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29" name="TextBox 129"/>
          <p:cNvSpPr txBox="1"/>
          <p:nvPr/>
        </p:nvSpPr>
        <p:spPr>
          <a:xfrm>
            <a:off x="5140960" y="3804920"/>
            <a:ext cx="10160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m</a:t>
            </a:r>
            <a:endParaRPr lang="zh-CN" sz="955" b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0" name="TextBox 130"/>
          <p:cNvSpPr txBox="1"/>
          <p:nvPr/>
        </p:nvSpPr>
        <p:spPr>
          <a:xfrm>
            <a:off x="4709478" y="3294380"/>
            <a:ext cx="9652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⋮</a:t>
            </a:r>
            <a:endParaRPr lang="zh-CN" sz="1500" b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1" name="TextBox 131"/>
          <p:cNvSpPr txBox="1"/>
          <p:nvPr/>
        </p:nvSpPr>
        <p:spPr>
          <a:xfrm>
            <a:off x="5073968" y="3294380"/>
            <a:ext cx="96520" cy="23050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500" b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⋮</a:t>
            </a:r>
            <a:endParaRPr lang="zh-CN" sz="1500" b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32" name="Freeform 132"/>
          <p:cNvSpPr/>
          <p:nvPr/>
        </p:nvSpPr>
        <p:spPr>
          <a:xfrm>
            <a:off x="4253865" y="2623185"/>
            <a:ext cx="182245" cy="8890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28575" cap="rnd">
            <a:solidFill>
              <a:srgbClr val="0072B2"/>
            </a:solidFill>
            <a:round/>
          </a:ln>
        </p:spPr>
      </p:sp>
      <p:sp>
        <p:nvSpPr>
          <p:cNvPr id="133" name="Freeform 133"/>
          <p:cNvSpPr/>
          <p:nvPr/>
        </p:nvSpPr>
        <p:spPr>
          <a:xfrm>
            <a:off x="4253865" y="3005455"/>
            <a:ext cx="182245" cy="8890"/>
          </a:xfrm>
          <a:custGeom>
            <a:avLst/>
            <a:gdLst/>
            <a:ahLst/>
            <a:cxnLst/>
            <a:rect l="l" t="t" r="r" b="b"/>
            <a:pathLst>
              <a:path w="200025" h="9525">
                <a:moveTo>
                  <a:pt x="0" y="0"/>
                </a:moveTo>
                <a:lnTo>
                  <a:pt x="200025" y="0"/>
                </a:lnTo>
              </a:path>
            </a:pathLst>
          </a:custGeom>
          <a:noFill/>
          <a:ln w="28575" cap="rnd">
            <a:solidFill>
              <a:srgbClr val="E69F00"/>
            </a:solidFill>
            <a:round/>
          </a:ln>
        </p:spPr>
      </p:sp>
      <p:sp>
        <p:nvSpPr>
          <p:cNvPr id="134" name="TextBox 134"/>
          <p:cNvSpPr txBox="1"/>
          <p:nvPr/>
        </p:nvSpPr>
        <p:spPr>
          <a:xfrm>
            <a:off x="4294505" y="4426585"/>
            <a:ext cx="1188085" cy="8858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noAutofit/>
          </a:bodyPr>
          <a:lstStyle/>
          <a:p>
            <a:pPr algn="ctr"/>
            <a:r>
              <a:rPr lang="en-US" sz="1200" b="1" i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 </a:t>
            </a:r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: block volume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5" name="TextBox 135"/>
          <p:cNvSpPr txBox="1"/>
          <p:nvPr/>
        </p:nvSpPr>
        <p:spPr>
          <a:xfrm>
            <a:off x="4604385" y="4650740"/>
            <a:ext cx="60071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200" b="1" dirty="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Arial" panose="020B0604020202020204" pitchFamily="34" charset="0"/>
              </a:rPr>
              <a:t>fraction</a:t>
            </a:r>
            <a:endParaRPr lang="en-US" sz="1200" b="1" dirty="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6" name="TextBox 136"/>
          <p:cNvSpPr txBox="1"/>
          <p:nvPr/>
        </p:nvSpPr>
        <p:spPr>
          <a:xfrm>
            <a:off x="4434840" y="4982210"/>
            <a:ext cx="94043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i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</a:t>
            </a:r>
            <a:r>
              <a:rPr 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 : block type</a:t>
            </a:r>
            <a:endParaRPr 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7" name="TextBox 137"/>
          <p:cNvSpPr txBox="1"/>
          <p:nvPr/>
        </p:nvSpPr>
        <p:spPr>
          <a:xfrm>
            <a:off x="4628515" y="5206365"/>
            <a:ext cx="55308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chemeClr val="tx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(A or B)</a:t>
            </a:r>
            <a:endParaRPr lang="zh-CN" sz="1200" b="1" dirty="0">
              <a:solidFill>
                <a:schemeClr val="tx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8" name="TextBox 138"/>
          <p:cNvSpPr txBox="1"/>
          <p:nvPr/>
        </p:nvSpPr>
        <p:spPr>
          <a:xfrm>
            <a:off x="5873115" y="933450"/>
            <a:ext cx="209169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Graph Isomorphism Network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39" name="TextBox 139"/>
          <p:cNvSpPr txBox="1"/>
          <p:nvPr/>
        </p:nvSpPr>
        <p:spPr>
          <a:xfrm>
            <a:off x="5983288" y="1142365"/>
            <a:ext cx="18719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with Edge features (GINE)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140" name="Freeform 140"/>
          <p:cNvSpPr/>
          <p:nvPr/>
        </p:nvSpPr>
        <p:spPr>
          <a:xfrm>
            <a:off x="6007735" y="1485900"/>
            <a:ext cx="2040255" cy="779780"/>
          </a:xfrm>
          <a:custGeom>
            <a:avLst/>
            <a:gdLst/>
            <a:ahLst/>
            <a:cxnLst/>
            <a:rect l="l" t="t" r="r" b="b"/>
            <a:pathLst>
              <a:path w="2238375" h="819150">
                <a:moveTo>
                  <a:pt x="428625" y="0"/>
                </a:moveTo>
                <a:lnTo>
                  <a:pt x="2238375" y="0"/>
                </a:lnTo>
                <a:lnTo>
                  <a:pt x="1809750" y="819150"/>
                </a:lnTo>
                <a:lnTo>
                  <a:pt x="0" y="81915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999999"/>
            </a:solidFill>
            <a:round/>
          </a:ln>
        </p:spPr>
      </p:sp>
      <p:sp>
        <p:nvSpPr>
          <p:cNvPr id="178" name="TextBox 178"/>
          <p:cNvSpPr txBox="1"/>
          <p:nvPr/>
        </p:nvSpPr>
        <p:spPr>
          <a:xfrm>
            <a:off x="5691823" y="1729105"/>
            <a:ext cx="319405" cy="208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6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l = 0</a:t>
            </a:r>
            <a:endParaRPr lang="zh-CN" sz="136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179" name="Freeform 179"/>
          <p:cNvSpPr/>
          <p:nvPr/>
        </p:nvSpPr>
        <p:spPr>
          <a:xfrm>
            <a:off x="6007735" y="2406015"/>
            <a:ext cx="2040255" cy="765810"/>
          </a:xfrm>
          <a:custGeom>
            <a:avLst/>
            <a:gdLst/>
            <a:ahLst/>
            <a:cxnLst/>
            <a:rect l="l" t="t" r="r" b="b"/>
            <a:pathLst>
              <a:path w="2238375" h="819150">
                <a:moveTo>
                  <a:pt x="428625" y="0"/>
                </a:moveTo>
                <a:lnTo>
                  <a:pt x="2238375" y="0"/>
                </a:lnTo>
                <a:lnTo>
                  <a:pt x="1809750" y="819150"/>
                </a:lnTo>
                <a:lnTo>
                  <a:pt x="0" y="81915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999999"/>
            </a:solidFill>
            <a:round/>
          </a:ln>
        </p:spPr>
      </p:sp>
      <p:sp>
        <p:nvSpPr>
          <p:cNvPr id="225" name="TextBox 225"/>
          <p:cNvSpPr txBox="1"/>
          <p:nvPr/>
        </p:nvSpPr>
        <p:spPr>
          <a:xfrm>
            <a:off x="5691823" y="2658110"/>
            <a:ext cx="319405" cy="208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6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l = 1</a:t>
            </a:r>
            <a:endParaRPr lang="zh-CN" sz="136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26" name="Freeform 226"/>
          <p:cNvSpPr/>
          <p:nvPr/>
        </p:nvSpPr>
        <p:spPr>
          <a:xfrm>
            <a:off x="6007735" y="3282950"/>
            <a:ext cx="2040255" cy="774065"/>
          </a:xfrm>
          <a:custGeom>
            <a:avLst/>
            <a:gdLst/>
            <a:ahLst/>
            <a:cxnLst/>
            <a:rect l="l" t="t" r="r" b="b"/>
            <a:pathLst>
              <a:path w="2238375" h="819150">
                <a:moveTo>
                  <a:pt x="428625" y="0"/>
                </a:moveTo>
                <a:lnTo>
                  <a:pt x="2238375" y="0"/>
                </a:lnTo>
                <a:lnTo>
                  <a:pt x="1809750" y="819150"/>
                </a:lnTo>
                <a:lnTo>
                  <a:pt x="0" y="819150"/>
                </a:lnTo>
                <a:close/>
              </a:path>
            </a:pathLst>
          </a:custGeom>
          <a:solidFill>
            <a:schemeClr val="bg1"/>
          </a:solidFill>
          <a:ln w="9525" cap="rnd">
            <a:solidFill>
              <a:srgbClr val="999999"/>
            </a:solidFill>
            <a:round/>
          </a:ln>
        </p:spPr>
      </p:sp>
      <p:sp>
        <p:nvSpPr>
          <p:cNvPr id="280" name="TextBox 280"/>
          <p:cNvSpPr txBox="1"/>
          <p:nvPr/>
        </p:nvSpPr>
        <p:spPr>
          <a:xfrm>
            <a:off x="5691823" y="3526155"/>
            <a:ext cx="319405" cy="208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6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l = 2</a:t>
            </a:r>
            <a:endParaRPr lang="zh-CN" sz="136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281" name="Freeform 281"/>
          <p:cNvSpPr/>
          <p:nvPr/>
        </p:nvSpPr>
        <p:spPr>
          <a:xfrm>
            <a:off x="6007735" y="4411980"/>
            <a:ext cx="2040255" cy="781050"/>
          </a:xfrm>
          <a:custGeom>
            <a:avLst/>
            <a:gdLst/>
            <a:ahLst/>
            <a:cxnLst/>
            <a:rect l="l" t="t" r="r" b="b"/>
            <a:pathLst>
              <a:path w="2238375" h="819150">
                <a:moveTo>
                  <a:pt x="428625" y="0"/>
                </a:moveTo>
                <a:lnTo>
                  <a:pt x="2238375" y="0"/>
                </a:lnTo>
                <a:lnTo>
                  <a:pt x="1809750" y="819150"/>
                </a:lnTo>
                <a:lnTo>
                  <a:pt x="0" y="819150"/>
                </a:lnTo>
                <a:close/>
              </a:path>
            </a:pathLst>
          </a:custGeom>
          <a:solidFill>
            <a:srgbClr val="FFFFFF"/>
          </a:solidFill>
          <a:ln w="9525" cap="rnd">
            <a:solidFill>
              <a:srgbClr val="999999"/>
            </a:solidFill>
            <a:round/>
          </a:ln>
        </p:spPr>
      </p:sp>
      <p:sp>
        <p:nvSpPr>
          <p:cNvPr id="343" name="TextBox 343"/>
          <p:cNvSpPr txBox="1"/>
          <p:nvPr/>
        </p:nvSpPr>
        <p:spPr>
          <a:xfrm>
            <a:off x="5691823" y="4654550"/>
            <a:ext cx="319405" cy="20891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6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l = 5</a:t>
            </a:r>
            <a:endParaRPr lang="zh-CN" sz="136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44" name="TextBox 344"/>
          <p:cNvSpPr txBox="1"/>
          <p:nvPr/>
        </p:nvSpPr>
        <p:spPr>
          <a:xfrm>
            <a:off x="5691823" y="1525270"/>
            <a:ext cx="373380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Input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5" name="TextBox 345"/>
          <p:cNvSpPr txBox="1"/>
          <p:nvPr/>
        </p:nvSpPr>
        <p:spPr>
          <a:xfrm>
            <a:off x="6898958" y="4097020"/>
            <a:ext cx="109855" cy="2628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0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⋮</a:t>
            </a:r>
            <a:endParaRPr lang="zh-CN" sz="170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6" name="TextBox 346"/>
          <p:cNvSpPr txBox="1"/>
          <p:nvPr/>
        </p:nvSpPr>
        <p:spPr>
          <a:xfrm>
            <a:off x="6575108" y="5407660"/>
            <a:ext cx="74041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35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GINE × 5</a:t>
            </a:r>
            <a:endParaRPr lang="zh-CN" sz="1350" b="1" dirty="0">
              <a:solidFill>
                <a:srgbClr val="75449B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49" name="Rectangle 349"/>
          <p:cNvSpPr/>
          <p:nvPr/>
        </p:nvSpPr>
        <p:spPr>
          <a:xfrm>
            <a:off x="8395335" y="2806065"/>
            <a:ext cx="598805" cy="1102360"/>
          </a:xfrm>
          <a:prstGeom prst="roundRect">
            <a:avLst>
              <a:gd name="adj" fmla="val 10145"/>
            </a:avLst>
          </a:prstGeom>
          <a:noFill/>
          <a:ln w="11430">
            <a:solidFill>
              <a:srgbClr val="AAAAAA"/>
            </a:solidFill>
          </a:ln>
        </p:spPr>
      </p:sp>
      <p:sp>
        <p:nvSpPr>
          <p:cNvPr id="350" name="TextBox 350"/>
          <p:cNvSpPr txBox="1"/>
          <p:nvPr/>
        </p:nvSpPr>
        <p:spPr>
          <a:xfrm>
            <a:off x="8495665" y="2990215"/>
            <a:ext cx="38925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Mean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1" name="TextBox 351"/>
          <p:cNvSpPr txBox="1"/>
          <p:nvPr/>
        </p:nvSpPr>
        <p:spPr>
          <a:xfrm>
            <a:off x="8414703" y="3181350"/>
            <a:ext cx="55181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pooling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2" name="TextBox 352"/>
          <p:cNvSpPr txBox="1"/>
          <p:nvPr/>
        </p:nvSpPr>
        <p:spPr>
          <a:xfrm>
            <a:off x="8456295" y="3414395"/>
            <a:ext cx="46736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(over all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3" name="TextBox 353"/>
          <p:cNvSpPr txBox="1"/>
          <p:nvPr/>
        </p:nvSpPr>
        <p:spPr>
          <a:xfrm>
            <a:off x="8490903" y="3596640"/>
            <a:ext cx="399415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nodes)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54" name="Freeform 354"/>
          <p:cNvSpPr/>
          <p:nvPr/>
        </p:nvSpPr>
        <p:spPr>
          <a:xfrm>
            <a:off x="9003030" y="3274695"/>
            <a:ext cx="113030" cy="8890"/>
          </a:xfrm>
          <a:custGeom>
            <a:avLst/>
            <a:gdLst/>
            <a:ahLst/>
            <a:cxnLst/>
            <a:rect l="l" t="t" r="r" b="b"/>
            <a:pathLst>
              <a:path w="123825" h="9525">
                <a:moveTo>
                  <a:pt x="0" y="0"/>
                </a:moveTo>
                <a:lnTo>
                  <a:pt x="123825" y="0"/>
                </a:lnTo>
              </a:path>
            </a:pathLst>
          </a:custGeom>
          <a:noFill/>
          <a:ln w="13335" cap="rnd">
            <a:solidFill>
              <a:srgbClr val="222222"/>
            </a:solidFill>
            <a:round/>
          </a:ln>
        </p:spPr>
      </p:sp>
      <p:sp>
        <p:nvSpPr>
          <p:cNvPr id="355" name="Freeform 355"/>
          <p:cNvSpPr/>
          <p:nvPr/>
        </p:nvSpPr>
        <p:spPr>
          <a:xfrm>
            <a:off x="9046210" y="3244215"/>
            <a:ext cx="69215" cy="60960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222222"/>
          </a:solidFill>
          <a:ln w="0" cap="rnd">
            <a:solidFill>
              <a:srgbClr val="222222"/>
            </a:solidFill>
            <a:round/>
          </a:ln>
        </p:spPr>
      </p:sp>
      <p:sp>
        <p:nvSpPr>
          <p:cNvPr id="356" name="Rectangle 356"/>
          <p:cNvSpPr/>
          <p:nvPr/>
        </p:nvSpPr>
        <p:spPr>
          <a:xfrm>
            <a:off x="9150350" y="2510155"/>
            <a:ext cx="147320" cy="169545"/>
          </a:xfrm>
          <a:prstGeom prst="rect">
            <a:avLst/>
          </a:prstGeom>
          <a:solidFill>
            <a:srgbClr val="819339"/>
          </a:solidFill>
          <a:ln w="11430">
            <a:solidFill>
              <a:srgbClr val="8A944A"/>
            </a:solidFill>
          </a:ln>
        </p:spPr>
      </p:sp>
      <p:sp>
        <p:nvSpPr>
          <p:cNvPr id="357" name="Rectangle 357"/>
          <p:cNvSpPr/>
          <p:nvPr/>
        </p:nvSpPr>
        <p:spPr>
          <a:xfrm>
            <a:off x="9150350" y="2688590"/>
            <a:ext cx="147320" cy="169545"/>
          </a:xfrm>
          <a:prstGeom prst="rect">
            <a:avLst/>
          </a:prstGeom>
          <a:solidFill>
            <a:srgbClr val="A8B465"/>
          </a:solidFill>
          <a:ln w="11430">
            <a:solidFill>
              <a:srgbClr val="8A944A"/>
            </a:solidFill>
          </a:ln>
        </p:spPr>
      </p:sp>
      <p:sp>
        <p:nvSpPr>
          <p:cNvPr id="358" name="Rectangle 358"/>
          <p:cNvSpPr/>
          <p:nvPr/>
        </p:nvSpPr>
        <p:spPr>
          <a:xfrm>
            <a:off x="9150350" y="2866390"/>
            <a:ext cx="147320" cy="169545"/>
          </a:xfrm>
          <a:prstGeom prst="rect">
            <a:avLst/>
          </a:prstGeom>
          <a:solidFill>
            <a:srgbClr val="67791F"/>
          </a:solidFill>
          <a:ln w="11430">
            <a:solidFill>
              <a:srgbClr val="8A944A"/>
            </a:solidFill>
          </a:ln>
        </p:spPr>
      </p:sp>
      <p:sp>
        <p:nvSpPr>
          <p:cNvPr id="359" name="Rectangle 359"/>
          <p:cNvSpPr/>
          <p:nvPr/>
        </p:nvSpPr>
        <p:spPr>
          <a:xfrm>
            <a:off x="9150350" y="3044190"/>
            <a:ext cx="147320" cy="169545"/>
          </a:xfrm>
          <a:prstGeom prst="rect">
            <a:avLst/>
          </a:prstGeom>
          <a:solidFill>
            <a:srgbClr val="D8DFB7"/>
          </a:solidFill>
          <a:ln w="11430">
            <a:solidFill>
              <a:srgbClr val="8A944A"/>
            </a:solidFill>
          </a:ln>
        </p:spPr>
      </p:sp>
      <p:sp>
        <p:nvSpPr>
          <p:cNvPr id="360" name="Rectangle 360"/>
          <p:cNvSpPr/>
          <p:nvPr/>
        </p:nvSpPr>
        <p:spPr>
          <a:xfrm>
            <a:off x="9150350" y="3222625"/>
            <a:ext cx="147320" cy="169545"/>
          </a:xfrm>
          <a:prstGeom prst="rect">
            <a:avLst/>
          </a:prstGeom>
          <a:solidFill>
            <a:srgbClr val="94A447"/>
          </a:solidFill>
          <a:ln w="11430">
            <a:solidFill>
              <a:srgbClr val="8A944A"/>
            </a:solidFill>
          </a:ln>
        </p:spPr>
      </p:sp>
      <p:sp>
        <p:nvSpPr>
          <p:cNvPr id="361" name="Rectangle 361"/>
          <p:cNvSpPr/>
          <p:nvPr/>
        </p:nvSpPr>
        <p:spPr>
          <a:xfrm>
            <a:off x="9150350" y="3400425"/>
            <a:ext cx="147320" cy="169545"/>
          </a:xfrm>
          <a:prstGeom prst="rect">
            <a:avLst/>
          </a:prstGeom>
          <a:solidFill>
            <a:srgbClr val="788A2E"/>
          </a:solidFill>
          <a:ln w="11430">
            <a:solidFill>
              <a:srgbClr val="8A944A"/>
            </a:solidFill>
          </a:ln>
        </p:spPr>
      </p:sp>
      <p:sp>
        <p:nvSpPr>
          <p:cNvPr id="362" name="Rectangle 362"/>
          <p:cNvSpPr/>
          <p:nvPr/>
        </p:nvSpPr>
        <p:spPr>
          <a:xfrm>
            <a:off x="9150350" y="3578225"/>
            <a:ext cx="147320" cy="169545"/>
          </a:xfrm>
          <a:prstGeom prst="rect">
            <a:avLst/>
          </a:prstGeom>
          <a:solidFill>
            <a:srgbClr val="B9C58A"/>
          </a:solidFill>
          <a:ln w="11430">
            <a:solidFill>
              <a:srgbClr val="8A944A"/>
            </a:solidFill>
          </a:ln>
        </p:spPr>
      </p:sp>
      <p:sp>
        <p:nvSpPr>
          <p:cNvPr id="363" name="Rectangle 363"/>
          <p:cNvSpPr/>
          <p:nvPr/>
        </p:nvSpPr>
        <p:spPr>
          <a:xfrm>
            <a:off x="9150350" y="3756025"/>
            <a:ext cx="147320" cy="169545"/>
          </a:xfrm>
          <a:prstGeom prst="rect">
            <a:avLst/>
          </a:prstGeom>
          <a:solidFill>
            <a:srgbClr val="768B2D"/>
          </a:solidFill>
          <a:ln w="11430">
            <a:solidFill>
              <a:srgbClr val="8A944A"/>
            </a:solidFill>
          </a:ln>
        </p:spPr>
      </p:sp>
      <p:sp>
        <p:nvSpPr>
          <p:cNvPr id="364" name="Rectangle 364"/>
          <p:cNvSpPr/>
          <p:nvPr/>
        </p:nvSpPr>
        <p:spPr>
          <a:xfrm>
            <a:off x="9150350" y="3236595"/>
            <a:ext cx="147320" cy="156845"/>
          </a:xfrm>
          <a:prstGeom prst="rect">
            <a:avLst/>
          </a:prstGeom>
          <a:solidFill>
            <a:srgbClr val="FEFEF8"/>
          </a:solidFill>
          <a:ln>
            <a:noFill/>
          </a:ln>
        </p:spPr>
      </p:sp>
      <p:sp>
        <p:nvSpPr>
          <p:cNvPr id="365" name="TextBox 365"/>
          <p:cNvSpPr txBox="1"/>
          <p:nvPr/>
        </p:nvSpPr>
        <p:spPr>
          <a:xfrm>
            <a:off x="9197658" y="3275965"/>
            <a:ext cx="52705" cy="12509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815" b="1" dirty="0">
                <a:solidFill>
                  <a:srgbClr val="5F671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⋮</a:t>
            </a:r>
            <a:endParaRPr lang="zh-CN" sz="815" b="1" dirty="0">
              <a:solidFill>
                <a:srgbClr val="5F671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68" name="Freeform 368"/>
          <p:cNvSpPr/>
          <p:nvPr/>
        </p:nvSpPr>
        <p:spPr>
          <a:xfrm>
            <a:off x="9341485" y="1954530"/>
            <a:ext cx="295275" cy="1206500"/>
          </a:xfrm>
          <a:custGeom>
            <a:avLst/>
            <a:gdLst/>
            <a:ahLst/>
            <a:cxnLst/>
            <a:rect l="l" t="t" r="r" b="b"/>
            <a:pathLst>
              <a:path w="323850" h="1323975">
                <a:moveTo>
                  <a:pt x="0" y="1323975"/>
                </a:moveTo>
                <a:lnTo>
                  <a:pt x="152400" y="1323975"/>
                </a:lnTo>
                <a:lnTo>
                  <a:pt x="152400" y="0"/>
                </a:lnTo>
                <a:lnTo>
                  <a:pt x="323850" y="0"/>
                </a:lnTo>
              </a:path>
            </a:pathLst>
          </a:custGeom>
          <a:noFill/>
          <a:ln w="14288" cap="rnd">
            <a:solidFill>
              <a:srgbClr val="111111"/>
            </a:solidFill>
            <a:round/>
          </a:ln>
        </p:spPr>
      </p:sp>
      <p:sp>
        <p:nvSpPr>
          <p:cNvPr id="369" name="Freeform 369"/>
          <p:cNvSpPr/>
          <p:nvPr/>
        </p:nvSpPr>
        <p:spPr>
          <a:xfrm>
            <a:off x="9549765" y="1954530"/>
            <a:ext cx="139065" cy="8890"/>
          </a:xfrm>
          <a:custGeom>
            <a:avLst/>
            <a:gdLst/>
            <a:ahLst/>
            <a:cxnLst/>
            <a:rect l="l" t="t" r="r" b="b"/>
            <a:pathLst>
              <a:path w="152400" h="9525">
                <a:moveTo>
                  <a:pt x="0" y="0"/>
                </a:moveTo>
                <a:lnTo>
                  <a:pt x="152400" y="0"/>
                </a:lnTo>
              </a:path>
            </a:pathLst>
          </a:custGeom>
          <a:noFill/>
          <a:ln w="13335" cap="rnd">
            <a:solidFill>
              <a:srgbClr val="222222"/>
            </a:solidFill>
            <a:round/>
          </a:ln>
        </p:spPr>
      </p:sp>
      <p:sp>
        <p:nvSpPr>
          <p:cNvPr id="370" name="Freeform 370"/>
          <p:cNvSpPr/>
          <p:nvPr/>
        </p:nvSpPr>
        <p:spPr>
          <a:xfrm>
            <a:off x="9619615" y="1924050"/>
            <a:ext cx="69215" cy="60960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222222"/>
          </a:solidFill>
          <a:ln w="0" cap="rnd">
            <a:solidFill>
              <a:srgbClr val="222222"/>
            </a:solidFill>
            <a:round/>
          </a:ln>
        </p:spPr>
      </p:sp>
      <p:sp>
        <p:nvSpPr>
          <p:cNvPr id="371" name="TextBox 371"/>
          <p:cNvSpPr txBox="1"/>
          <p:nvPr/>
        </p:nvSpPr>
        <p:spPr>
          <a:xfrm>
            <a:off x="9811068" y="1195070"/>
            <a:ext cx="10585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Linear readout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2" name="TextBox 372"/>
          <p:cNvSpPr txBox="1"/>
          <p:nvPr/>
        </p:nvSpPr>
        <p:spPr>
          <a:xfrm>
            <a:off x="10043160" y="1555115"/>
            <a:ext cx="593725" cy="2514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635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Wz + b</a:t>
            </a:r>
            <a:endParaRPr lang="zh-CN" sz="1635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73" name="Freeform 373"/>
          <p:cNvSpPr/>
          <p:nvPr/>
        </p:nvSpPr>
        <p:spPr>
          <a:xfrm>
            <a:off x="10348595" y="1828165"/>
            <a:ext cx="8890" cy="20828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3335" cap="rnd">
            <a:solidFill>
              <a:srgbClr val="222222"/>
            </a:solidFill>
            <a:round/>
          </a:ln>
        </p:spPr>
      </p:sp>
      <p:sp>
        <p:nvSpPr>
          <p:cNvPr id="374" name="Freeform 374"/>
          <p:cNvSpPr/>
          <p:nvPr/>
        </p:nvSpPr>
        <p:spPr>
          <a:xfrm>
            <a:off x="10318115" y="1967230"/>
            <a:ext cx="60960" cy="69215"/>
          </a:xfrm>
          <a:custGeom>
            <a:avLst/>
            <a:gdLst/>
            <a:ahLst/>
            <a:cxnLst/>
            <a:rect l="l" t="t" r="r" b="b"/>
            <a:pathLst>
              <a:path w="66675" h="76200">
                <a:moveTo>
                  <a:pt x="33338" y="76200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 cap="rnd">
            <a:solidFill>
              <a:srgbClr val="222222"/>
            </a:solidFill>
            <a:round/>
          </a:ln>
        </p:spPr>
      </p:sp>
      <p:sp>
        <p:nvSpPr>
          <p:cNvPr id="375" name="Rectangle 375"/>
          <p:cNvSpPr/>
          <p:nvPr/>
        </p:nvSpPr>
        <p:spPr>
          <a:xfrm>
            <a:off x="9906000" y="2097405"/>
            <a:ext cx="885825" cy="364490"/>
          </a:xfrm>
          <a:prstGeom prst="roundRect">
            <a:avLst>
              <a:gd name="adj" fmla="val 11905"/>
            </a:avLst>
          </a:prstGeom>
          <a:solidFill>
            <a:srgbClr val="FAFBF6"/>
          </a:solidFill>
          <a:ln w="11430">
            <a:solidFill>
              <a:srgbClr val="5F671D"/>
            </a:solidFill>
          </a:ln>
        </p:spPr>
      </p:sp>
      <p:sp>
        <p:nvSpPr>
          <p:cNvPr id="376" name="TextBox 376"/>
          <p:cNvSpPr txBox="1"/>
          <p:nvPr/>
        </p:nvSpPr>
        <p:spPr>
          <a:xfrm>
            <a:off x="9946005" y="2184400"/>
            <a:ext cx="804545" cy="18415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inverse log</a:t>
            </a:r>
            <a:endParaRPr lang="zh-CN" sz="12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377" name="Freeform 377"/>
          <p:cNvSpPr/>
          <p:nvPr/>
        </p:nvSpPr>
        <p:spPr>
          <a:xfrm>
            <a:off x="10348595" y="2513965"/>
            <a:ext cx="8890" cy="208280"/>
          </a:xfrm>
          <a:custGeom>
            <a:avLst/>
            <a:gdLst/>
            <a:ahLst/>
            <a:cxnLst/>
            <a:rect l="l" t="t" r="r" b="b"/>
            <a:pathLst>
              <a:path w="9525" h="228600">
                <a:moveTo>
                  <a:pt x="0" y="0"/>
                </a:moveTo>
                <a:lnTo>
                  <a:pt x="0" y="228600"/>
                </a:lnTo>
              </a:path>
            </a:pathLst>
          </a:custGeom>
          <a:noFill/>
          <a:ln w="13335" cap="rnd">
            <a:solidFill>
              <a:srgbClr val="222222"/>
            </a:solidFill>
            <a:round/>
          </a:ln>
        </p:spPr>
      </p:sp>
      <p:sp>
        <p:nvSpPr>
          <p:cNvPr id="378" name="Freeform 378"/>
          <p:cNvSpPr/>
          <p:nvPr/>
        </p:nvSpPr>
        <p:spPr>
          <a:xfrm>
            <a:off x="10318115" y="2653030"/>
            <a:ext cx="60960" cy="69215"/>
          </a:xfrm>
          <a:custGeom>
            <a:avLst/>
            <a:gdLst/>
            <a:ahLst/>
            <a:cxnLst/>
            <a:rect l="l" t="t" r="r" b="b"/>
            <a:pathLst>
              <a:path w="66675" h="76200">
                <a:moveTo>
                  <a:pt x="33338" y="76200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222222"/>
          </a:solidFill>
          <a:ln w="0" cap="rnd">
            <a:solidFill>
              <a:srgbClr val="222222"/>
            </a:solidFill>
            <a:round/>
          </a:ln>
        </p:spPr>
      </p:sp>
      <p:sp>
        <p:nvSpPr>
          <p:cNvPr id="379" name="TextBox 379"/>
          <p:cNvSpPr txBox="1"/>
          <p:nvPr/>
        </p:nvSpPr>
        <p:spPr>
          <a:xfrm>
            <a:off x="10131108" y="2807970"/>
            <a:ext cx="417195" cy="2717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770" b="1" i="1" dirty="0">
                <a:solidFill>
                  <a:srgbClr val="E69F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(χN)</a:t>
            </a:r>
            <a:endParaRPr lang="zh-CN" sz="1770" b="1" i="1" dirty="0">
              <a:solidFill>
                <a:srgbClr val="E69F0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380" name="TextBox 380"/>
          <p:cNvSpPr txBox="1"/>
          <p:nvPr/>
        </p:nvSpPr>
        <p:spPr>
          <a:xfrm>
            <a:off x="10563225" y="2770505"/>
            <a:ext cx="73660" cy="177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60" b="1" dirty="0">
                <a:solidFill>
                  <a:srgbClr val="E69F00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*</a:t>
            </a:r>
            <a:endParaRPr lang="zh-CN" sz="1160" b="1" dirty="0">
              <a:solidFill>
                <a:srgbClr val="E69F00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452" name="Freeform 452"/>
          <p:cNvSpPr/>
          <p:nvPr/>
        </p:nvSpPr>
        <p:spPr>
          <a:xfrm>
            <a:off x="9679305" y="4556760"/>
            <a:ext cx="130175" cy="8890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3335" cap="rnd">
            <a:solidFill>
              <a:srgbClr val="75449B"/>
            </a:solidFill>
            <a:custDash>
              <a:ds d="357142" sp="285714"/>
            </a:custDash>
            <a:round/>
          </a:ln>
        </p:spPr>
      </p:sp>
      <p:sp>
        <p:nvSpPr>
          <p:cNvPr id="453" name="Freeform 453"/>
          <p:cNvSpPr/>
          <p:nvPr/>
        </p:nvSpPr>
        <p:spPr>
          <a:xfrm>
            <a:off x="9740265" y="4526280"/>
            <a:ext cx="69215" cy="60960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75449B"/>
          </a:solidFill>
          <a:ln w="0" cap="rnd">
            <a:solidFill>
              <a:srgbClr val="75449B"/>
            </a:solidFill>
            <a:round/>
          </a:ln>
        </p:spPr>
      </p:sp>
      <p:sp>
        <p:nvSpPr>
          <p:cNvPr id="454" name="Freeform 454"/>
          <p:cNvSpPr/>
          <p:nvPr/>
        </p:nvSpPr>
        <p:spPr>
          <a:xfrm>
            <a:off x="9141460" y="4556760"/>
            <a:ext cx="538480" cy="442595"/>
          </a:xfrm>
          <a:custGeom>
            <a:avLst/>
            <a:gdLst/>
            <a:ahLst/>
            <a:cxnLst/>
            <a:rect l="l" t="t" r="r" b="b"/>
            <a:pathLst>
              <a:path w="590550" h="485775">
                <a:moveTo>
                  <a:pt x="590550" y="0"/>
                </a:moveTo>
                <a:lnTo>
                  <a:pt x="257175" y="0"/>
                </a:lnTo>
                <a:cubicBezTo>
                  <a:pt x="85725" y="0"/>
                  <a:pt x="0" y="95250"/>
                  <a:pt x="0" y="285750"/>
                </a:cubicBezTo>
                <a:lnTo>
                  <a:pt x="0" y="485775"/>
                </a:lnTo>
              </a:path>
            </a:pathLst>
          </a:custGeom>
          <a:noFill/>
          <a:ln w="14288" cap="rnd">
            <a:solidFill>
              <a:srgbClr val="75449B"/>
            </a:solidFill>
            <a:custDash>
              <a:ds d="333333" sp="266666"/>
            </a:custDash>
            <a:round/>
          </a:ln>
        </p:spPr>
      </p:sp>
      <p:sp>
        <p:nvSpPr>
          <p:cNvPr id="455" name="Freeform 455"/>
          <p:cNvSpPr/>
          <p:nvPr/>
        </p:nvSpPr>
        <p:spPr>
          <a:xfrm>
            <a:off x="9141460" y="4860925"/>
            <a:ext cx="8890" cy="147320"/>
          </a:xfrm>
          <a:custGeom>
            <a:avLst/>
            <a:gdLst/>
            <a:ahLst/>
            <a:cxnLst/>
            <a:rect l="l" t="t" r="r" b="b"/>
            <a:pathLst>
              <a:path w="9525" h="161925">
                <a:moveTo>
                  <a:pt x="0" y="0"/>
                </a:moveTo>
                <a:lnTo>
                  <a:pt x="0" y="161925"/>
                </a:lnTo>
              </a:path>
            </a:pathLst>
          </a:custGeom>
          <a:noFill/>
          <a:ln w="13335" cap="rnd">
            <a:solidFill>
              <a:srgbClr val="75449B"/>
            </a:solidFill>
            <a:custDash>
              <a:ds d="357142" sp="285714"/>
            </a:custDash>
            <a:round/>
          </a:ln>
        </p:spPr>
      </p:sp>
      <p:sp>
        <p:nvSpPr>
          <p:cNvPr id="456" name="Freeform 456"/>
          <p:cNvSpPr/>
          <p:nvPr/>
        </p:nvSpPr>
        <p:spPr>
          <a:xfrm>
            <a:off x="9110980" y="4939030"/>
            <a:ext cx="60960" cy="69215"/>
          </a:xfrm>
          <a:custGeom>
            <a:avLst/>
            <a:gdLst/>
            <a:ahLst/>
            <a:cxnLst/>
            <a:rect l="l" t="t" r="r" b="b"/>
            <a:pathLst>
              <a:path w="66675" h="76200">
                <a:moveTo>
                  <a:pt x="33338" y="76200"/>
                </a:moveTo>
                <a:lnTo>
                  <a:pt x="66675" y="0"/>
                </a:lnTo>
                <a:lnTo>
                  <a:pt x="0" y="0"/>
                </a:lnTo>
                <a:close/>
              </a:path>
            </a:pathLst>
          </a:custGeom>
          <a:solidFill>
            <a:srgbClr val="75449B"/>
          </a:solidFill>
          <a:ln w="0" cap="rnd">
            <a:solidFill>
              <a:srgbClr val="75449B"/>
            </a:solidFill>
            <a:round/>
          </a:ln>
        </p:spPr>
      </p:sp>
      <p:sp>
        <p:nvSpPr>
          <p:cNvPr id="466" name="TextBox 466"/>
          <p:cNvSpPr txBox="1"/>
          <p:nvPr/>
        </p:nvSpPr>
        <p:spPr>
          <a:xfrm>
            <a:off x="3945890" y="6525895"/>
            <a:ext cx="2908300" cy="2768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b="1" dirty="0">
                <a:solidFill>
                  <a:srgbClr val="5F671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Block-count extrapolation</a:t>
            </a:r>
            <a:endParaRPr lang="en-US" b="1" dirty="0">
              <a:solidFill>
                <a:srgbClr val="5F671D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67" name="TextBox 467"/>
          <p:cNvSpPr txBox="1"/>
          <p:nvPr/>
        </p:nvSpPr>
        <p:spPr>
          <a:xfrm>
            <a:off x="1016000" y="7037070"/>
            <a:ext cx="691515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Train on</a:t>
            </a:r>
            <a:endParaRPr lang="zh-CN" sz="14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468" name="TextBox 468"/>
          <p:cNvSpPr txBox="1"/>
          <p:nvPr/>
        </p:nvSpPr>
        <p:spPr>
          <a:xfrm>
            <a:off x="906780" y="7228205"/>
            <a:ext cx="91059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2–5 blocks</a:t>
            </a:r>
            <a:endParaRPr lang="zh-CN" sz="14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951" name="组合 950"/>
          <p:cNvGrpSpPr/>
          <p:nvPr/>
        </p:nvGrpSpPr>
        <p:grpSpPr>
          <a:xfrm>
            <a:off x="4196080" y="7282180"/>
            <a:ext cx="260350" cy="60960"/>
            <a:chOff x="6767" y="12000"/>
            <a:chExt cx="410" cy="96"/>
          </a:xfrm>
        </p:grpSpPr>
        <p:sp>
          <p:nvSpPr>
            <p:cNvPr id="505" name="Freeform 505"/>
            <p:cNvSpPr/>
            <p:nvPr/>
          </p:nvSpPr>
          <p:spPr>
            <a:xfrm>
              <a:off x="6767" y="12048"/>
              <a:ext cx="410" cy="14"/>
            </a:xfrm>
            <a:custGeom>
              <a:avLst/>
              <a:gdLst/>
              <a:ahLst/>
              <a:cxnLst/>
              <a:rect l="l" t="t" r="r" b="b"/>
              <a:pathLst>
                <a:path w="285750" h="9525">
                  <a:moveTo>
                    <a:pt x="0" y="0"/>
                  </a:moveTo>
                  <a:lnTo>
                    <a:pt x="285750" y="0"/>
                  </a:lnTo>
                </a:path>
              </a:pathLst>
            </a:custGeom>
            <a:noFill/>
            <a:ln w="13335" cap="rnd">
              <a:solidFill>
                <a:srgbClr val="75449B"/>
              </a:solidFill>
              <a:round/>
            </a:ln>
          </p:spPr>
        </p:sp>
        <p:sp>
          <p:nvSpPr>
            <p:cNvPr id="506" name="Freeform 506"/>
            <p:cNvSpPr/>
            <p:nvPr/>
          </p:nvSpPr>
          <p:spPr>
            <a:xfrm>
              <a:off x="7068" y="12000"/>
              <a:ext cx="109" cy="96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75449B"/>
            </a:solidFill>
            <a:ln w="0" cap="rnd">
              <a:solidFill>
                <a:srgbClr val="75449B"/>
              </a:solidFill>
              <a:round/>
            </a:ln>
          </p:spPr>
        </p:sp>
      </p:grpSp>
      <p:sp>
        <p:nvSpPr>
          <p:cNvPr id="507" name="Rectangle 507"/>
          <p:cNvSpPr/>
          <p:nvPr/>
        </p:nvSpPr>
        <p:spPr>
          <a:xfrm>
            <a:off x="4519930" y="6973570"/>
            <a:ext cx="1566545" cy="749935"/>
          </a:xfrm>
          <a:prstGeom prst="roundRect">
            <a:avLst>
              <a:gd name="adj" fmla="val 14634"/>
            </a:avLst>
          </a:prstGeom>
          <a:noFill/>
          <a:ln w="11430">
            <a:solidFill>
              <a:srgbClr val="75449B"/>
            </a:solidFill>
            <a:custDash>
              <a:ds d="416666" sp="250000"/>
            </a:custDash>
          </a:ln>
        </p:spPr>
      </p:sp>
      <p:sp>
        <p:nvSpPr>
          <p:cNvPr id="508" name="TextBox 508"/>
          <p:cNvSpPr txBox="1"/>
          <p:nvPr/>
        </p:nvSpPr>
        <p:spPr>
          <a:xfrm>
            <a:off x="4782503" y="7059295"/>
            <a:ext cx="1038225" cy="168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0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Frozen encoder</a:t>
            </a:r>
            <a:endParaRPr lang="en-US" sz="1100" b="1" dirty="0">
              <a:solidFill>
                <a:srgbClr val="75449B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09" name="TextBox 509"/>
          <p:cNvSpPr txBox="1"/>
          <p:nvPr/>
        </p:nvSpPr>
        <p:spPr>
          <a:xfrm>
            <a:off x="5032058" y="7237730"/>
            <a:ext cx="631190" cy="168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0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+ readout</a:t>
            </a:r>
            <a:endParaRPr lang="en-US" sz="1100" b="1" dirty="0">
              <a:solidFill>
                <a:srgbClr val="75449B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10" name="TextBox 510"/>
          <p:cNvSpPr txBox="1"/>
          <p:nvPr/>
        </p:nvSpPr>
        <p:spPr>
          <a:xfrm>
            <a:off x="4913313" y="7468235"/>
            <a:ext cx="868045" cy="16891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en-US" sz="110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No retraining</a:t>
            </a:r>
            <a:endParaRPr lang="en-US" sz="1100" b="1" dirty="0">
              <a:solidFill>
                <a:srgbClr val="75449B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952" name="组合 951"/>
          <p:cNvGrpSpPr/>
          <p:nvPr/>
        </p:nvGrpSpPr>
        <p:grpSpPr>
          <a:xfrm>
            <a:off x="6146165" y="7290435"/>
            <a:ext cx="355600" cy="60960"/>
            <a:chOff x="9693" y="12013"/>
            <a:chExt cx="560" cy="96"/>
          </a:xfrm>
        </p:grpSpPr>
        <p:sp>
          <p:nvSpPr>
            <p:cNvPr id="511" name="Freeform 511"/>
            <p:cNvSpPr/>
            <p:nvPr/>
          </p:nvSpPr>
          <p:spPr>
            <a:xfrm>
              <a:off x="9693" y="12061"/>
              <a:ext cx="561" cy="14"/>
            </a:xfrm>
            <a:custGeom>
              <a:avLst/>
              <a:gdLst/>
              <a:ahLst/>
              <a:cxnLst/>
              <a:rect l="l" t="t" r="r" b="b"/>
              <a:pathLst>
                <a:path w="390525" h="9525">
                  <a:moveTo>
                    <a:pt x="0" y="0"/>
                  </a:moveTo>
                  <a:lnTo>
                    <a:pt x="390525" y="0"/>
                  </a:lnTo>
                </a:path>
              </a:pathLst>
            </a:custGeom>
            <a:noFill/>
            <a:ln w="13335" cap="rnd">
              <a:solidFill>
                <a:srgbClr val="75449B"/>
              </a:solidFill>
              <a:round/>
            </a:ln>
          </p:spPr>
        </p:sp>
        <p:sp>
          <p:nvSpPr>
            <p:cNvPr id="512" name="Freeform 512"/>
            <p:cNvSpPr/>
            <p:nvPr/>
          </p:nvSpPr>
          <p:spPr>
            <a:xfrm>
              <a:off x="10145" y="12013"/>
              <a:ext cx="109" cy="96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75449B"/>
            </a:solidFill>
            <a:ln w="0" cap="rnd">
              <a:solidFill>
                <a:srgbClr val="75449B"/>
              </a:solidFill>
              <a:round/>
            </a:ln>
          </p:spPr>
        </p:sp>
      </p:grpSp>
      <p:sp>
        <p:nvSpPr>
          <p:cNvPr id="513" name="TextBox 513"/>
          <p:cNvSpPr txBox="1"/>
          <p:nvPr/>
        </p:nvSpPr>
        <p:spPr>
          <a:xfrm>
            <a:off x="6550343" y="7071360"/>
            <a:ext cx="118618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Extrapolate to</a:t>
            </a:r>
            <a:endParaRPr lang="zh-CN" sz="1400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14" name="TextBox 514"/>
          <p:cNvSpPr txBox="1"/>
          <p:nvPr/>
        </p:nvSpPr>
        <p:spPr>
          <a:xfrm>
            <a:off x="6638608" y="7262495"/>
            <a:ext cx="1009650" cy="21526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40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6–10 blocks</a:t>
            </a:r>
            <a:endParaRPr lang="zh-CN" sz="1400" b="1" dirty="0">
              <a:solidFill>
                <a:srgbClr val="11111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sp>
        <p:nvSpPr>
          <p:cNvPr id="565" name="TextBox 565"/>
          <p:cNvSpPr txBox="1"/>
          <p:nvPr/>
        </p:nvSpPr>
        <p:spPr>
          <a:xfrm>
            <a:off x="9909493" y="7160260"/>
            <a:ext cx="131445" cy="314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4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⋯</a:t>
            </a:r>
            <a:endParaRPr lang="zh-CN" sz="204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66" name="Freeform 566"/>
          <p:cNvSpPr/>
          <p:nvPr/>
        </p:nvSpPr>
        <p:spPr>
          <a:xfrm>
            <a:off x="10993755" y="6486525"/>
            <a:ext cx="321310" cy="8890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23812" cap="rnd">
            <a:solidFill>
              <a:srgbClr val="0072B2"/>
            </a:solidFill>
            <a:round/>
          </a:ln>
        </p:spPr>
      </p:sp>
      <p:sp>
        <p:nvSpPr>
          <p:cNvPr id="567" name="TextBox 567"/>
          <p:cNvSpPr txBox="1"/>
          <p:nvPr/>
        </p:nvSpPr>
        <p:spPr>
          <a:xfrm>
            <a:off x="11450320" y="6426200"/>
            <a:ext cx="596265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polymer A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68" name="Freeform 568"/>
          <p:cNvSpPr/>
          <p:nvPr/>
        </p:nvSpPr>
        <p:spPr>
          <a:xfrm>
            <a:off x="10993755" y="6755765"/>
            <a:ext cx="321310" cy="8890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23812" cap="rnd">
            <a:solidFill>
              <a:srgbClr val="E69F00"/>
            </a:solidFill>
            <a:round/>
          </a:ln>
        </p:spPr>
      </p:sp>
      <p:sp>
        <p:nvSpPr>
          <p:cNvPr id="569" name="TextBox 569"/>
          <p:cNvSpPr txBox="1"/>
          <p:nvPr/>
        </p:nvSpPr>
        <p:spPr>
          <a:xfrm>
            <a:off x="11450320" y="6695440"/>
            <a:ext cx="596265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polymer B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70" name="Ellipse 570"/>
          <p:cNvSpPr/>
          <p:nvPr/>
        </p:nvSpPr>
        <p:spPr>
          <a:xfrm>
            <a:off x="11106785" y="6946265"/>
            <a:ext cx="104140" cy="104140"/>
          </a:xfrm>
          <a:prstGeom prst="ellipse">
            <a:avLst/>
          </a:prstGeom>
          <a:solidFill>
            <a:srgbClr val="D3D3D3"/>
          </a:solidFill>
          <a:ln w="8572">
            <a:solidFill>
              <a:srgbClr val="7C8790"/>
            </a:solidFill>
          </a:ln>
        </p:spPr>
      </p:sp>
      <p:sp>
        <p:nvSpPr>
          <p:cNvPr id="571" name="TextBox 571"/>
          <p:cNvSpPr txBox="1"/>
          <p:nvPr/>
        </p:nvSpPr>
        <p:spPr>
          <a:xfrm>
            <a:off x="11450320" y="6938645"/>
            <a:ext cx="111506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junction / end node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72" name="Freeform 572"/>
          <p:cNvSpPr/>
          <p:nvPr/>
        </p:nvSpPr>
        <p:spPr>
          <a:xfrm>
            <a:off x="10993755" y="7293610"/>
            <a:ext cx="321310" cy="8890"/>
          </a:xfrm>
          <a:custGeom>
            <a:avLst/>
            <a:gdLst/>
            <a:ahLst/>
            <a:cxnLst/>
            <a:rect l="l" t="t" r="r" b="b"/>
            <a:pathLst>
              <a:path w="352425" h="9525">
                <a:moveTo>
                  <a:pt x="0" y="0"/>
                </a:moveTo>
                <a:lnTo>
                  <a:pt x="352425" y="0"/>
                </a:lnTo>
              </a:path>
            </a:pathLst>
          </a:custGeom>
          <a:noFill/>
          <a:ln w="12700" cap="rnd" cmpd="sng">
            <a:solidFill>
              <a:schemeClr val="accent1">
                <a:shade val="50000"/>
              </a:schemeClr>
            </a:solidFill>
            <a:custDash>
              <a:ds d="357142" sp="285714"/>
            </a:custDash>
            <a:round/>
          </a:ln>
        </p:spPr>
      </p:sp>
      <p:sp>
        <p:nvSpPr>
          <p:cNvPr id="573" name="TextBox 573"/>
          <p:cNvSpPr txBox="1"/>
          <p:nvPr/>
        </p:nvSpPr>
        <p:spPr>
          <a:xfrm>
            <a:off x="11450320" y="7233920"/>
            <a:ext cx="144145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virtual node connections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74" name="Rectangle 574"/>
          <p:cNvSpPr/>
          <p:nvPr/>
        </p:nvSpPr>
        <p:spPr>
          <a:xfrm>
            <a:off x="11054715" y="7519670"/>
            <a:ext cx="104140" cy="104140"/>
          </a:xfrm>
          <a:prstGeom prst="rect">
            <a:avLst/>
          </a:prstGeom>
          <a:solidFill>
            <a:srgbClr val="7A8C36"/>
          </a:solidFill>
          <a:ln>
            <a:noFill/>
          </a:ln>
        </p:spPr>
      </p:sp>
      <p:sp>
        <p:nvSpPr>
          <p:cNvPr id="575" name="Rectangle 575"/>
          <p:cNvSpPr/>
          <p:nvPr/>
        </p:nvSpPr>
        <p:spPr>
          <a:xfrm>
            <a:off x="11167110" y="7519670"/>
            <a:ext cx="104140" cy="104140"/>
          </a:xfrm>
          <a:prstGeom prst="rect">
            <a:avLst/>
          </a:prstGeom>
          <a:solidFill>
            <a:srgbClr val="A6B65F"/>
          </a:solidFill>
          <a:ln>
            <a:noFill/>
          </a:ln>
        </p:spPr>
      </p:sp>
      <p:sp>
        <p:nvSpPr>
          <p:cNvPr id="576" name="TextBox 576"/>
          <p:cNvSpPr txBox="1"/>
          <p:nvPr/>
        </p:nvSpPr>
        <p:spPr>
          <a:xfrm>
            <a:off x="11450320" y="7520305"/>
            <a:ext cx="124714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representation vector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sp>
        <p:nvSpPr>
          <p:cNvPr id="577" name="Freeform 577"/>
          <p:cNvSpPr/>
          <p:nvPr/>
        </p:nvSpPr>
        <p:spPr>
          <a:xfrm>
            <a:off x="10993755" y="7849235"/>
            <a:ext cx="330200" cy="8890"/>
          </a:xfrm>
          <a:custGeom>
            <a:avLst/>
            <a:gdLst/>
            <a:ahLst/>
            <a:cxnLst/>
            <a:rect l="l" t="t" r="r" b="b"/>
            <a:pathLst>
              <a:path w="361950" h="9525">
                <a:moveTo>
                  <a:pt x="0" y="0"/>
                </a:moveTo>
                <a:lnTo>
                  <a:pt x="361950" y="0"/>
                </a:lnTo>
              </a:path>
            </a:pathLst>
          </a:custGeom>
          <a:noFill/>
          <a:ln w="13335" cap="rnd">
            <a:solidFill>
              <a:srgbClr val="75449B"/>
            </a:solidFill>
            <a:custDash>
              <a:ds d="357142" sp="285714"/>
            </a:custDash>
            <a:round/>
          </a:ln>
        </p:spPr>
      </p:sp>
      <p:sp>
        <p:nvSpPr>
          <p:cNvPr id="578" name="Freeform 578"/>
          <p:cNvSpPr/>
          <p:nvPr/>
        </p:nvSpPr>
        <p:spPr>
          <a:xfrm>
            <a:off x="11254105" y="7818755"/>
            <a:ext cx="69215" cy="60960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75449B"/>
          </a:solidFill>
          <a:ln w="0" cap="rnd">
            <a:solidFill>
              <a:srgbClr val="75449B"/>
            </a:solidFill>
            <a:round/>
          </a:ln>
        </p:spPr>
      </p:sp>
      <p:sp>
        <p:nvSpPr>
          <p:cNvPr id="579" name="TextBox 579"/>
          <p:cNvSpPr txBox="1"/>
          <p:nvPr/>
        </p:nvSpPr>
        <p:spPr>
          <a:xfrm>
            <a:off x="11450320" y="7798435"/>
            <a:ext cx="1164590" cy="147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5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transfer / diagnostic</a:t>
            </a:r>
            <a:endParaRPr lang="zh-CN" sz="95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grpSp>
        <p:nvGrpSpPr>
          <p:cNvPr id="581" name="组合 580"/>
          <p:cNvGrpSpPr>
            <a:grpSpLocks noChangeAspect="1"/>
          </p:cNvGrpSpPr>
          <p:nvPr/>
        </p:nvGrpSpPr>
        <p:grpSpPr>
          <a:xfrm>
            <a:off x="1991995" y="6885052"/>
            <a:ext cx="7513955" cy="878458"/>
            <a:chOff x="529" y="11196"/>
            <a:chExt cx="9228" cy="1228"/>
          </a:xfrm>
        </p:grpSpPr>
        <p:grpSp>
          <p:nvGrpSpPr>
            <p:cNvPr id="591" name="组合 590"/>
            <p:cNvGrpSpPr/>
            <p:nvPr/>
          </p:nvGrpSpPr>
          <p:grpSpPr>
            <a:xfrm>
              <a:off x="7677" y="11288"/>
              <a:ext cx="2080" cy="1006"/>
              <a:chOff x="690" y="6270"/>
              <a:chExt cx="2910" cy="1620"/>
            </a:xfrm>
          </p:grpSpPr>
          <p:sp>
            <p:nvSpPr>
              <p:cNvPr id="592" name="Freeform 17"/>
              <p:cNvSpPr/>
              <p:nvPr/>
            </p:nvSpPr>
            <p:spPr>
              <a:xfrm>
                <a:off x="930" y="6615"/>
                <a:ext cx="2280" cy="945"/>
              </a:xfrm>
              <a:custGeom>
                <a:avLst/>
                <a:gdLst/>
                <a:ahLst/>
                <a:cxnLst/>
                <a:rect l="l" t="t" r="r" b="b"/>
                <a:pathLst>
                  <a:path w="1447800" h="600075">
                    <a:moveTo>
                      <a:pt x="0" y="247650"/>
                    </a:moveTo>
                    <a:lnTo>
                      <a:pt x="238125" y="47625"/>
                    </a:lnTo>
                    <a:lnTo>
                      <a:pt x="457200" y="200025"/>
                    </a:lnTo>
                    <a:lnTo>
                      <a:pt x="723900" y="0"/>
                    </a:lnTo>
                    <a:moveTo>
                      <a:pt x="457200" y="200025"/>
                    </a:moveTo>
                    <a:lnTo>
                      <a:pt x="438150" y="600075"/>
                    </a:lnTo>
                    <a:moveTo>
                      <a:pt x="1181100" y="247650"/>
                    </a:moveTo>
                    <a:lnTo>
                      <a:pt x="1447800" y="38100"/>
                    </a:lnTo>
                  </a:path>
                </a:pathLst>
              </a:custGeom>
              <a:noFill/>
              <a:ln w="31432" cap="rnd">
                <a:solidFill>
                  <a:srgbClr val="0072B2"/>
                </a:solidFill>
              </a:ln>
            </p:spPr>
          </p:sp>
          <p:sp>
            <p:nvSpPr>
              <p:cNvPr id="593" name="Freeform 18"/>
              <p:cNvSpPr/>
              <p:nvPr/>
            </p:nvSpPr>
            <p:spPr>
              <a:xfrm>
                <a:off x="690" y="6270"/>
                <a:ext cx="2910" cy="1620"/>
              </a:xfrm>
              <a:custGeom>
                <a:avLst/>
                <a:gdLst/>
                <a:ahLst/>
                <a:cxnLst/>
                <a:rect l="l" t="t" r="r" b="b"/>
                <a:pathLst>
                  <a:path w="1847850" h="1028700">
                    <a:moveTo>
                      <a:pt x="152400" y="466725"/>
                    </a:moveTo>
                    <a:lnTo>
                      <a:pt x="0" y="704850"/>
                    </a:lnTo>
                    <a:moveTo>
                      <a:pt x="390525" y="266700"/>
                    </a:moveTo>
                    <a:lnTo>
                      <a:pt x="285750" y="57150"/>
                    </a:lnTo>
                    <a:moveTo>
                      <a:pt x="876300" y="219075"/>
                    </a:moveTo>
                    <a:lnTo>
                      <a:pt x="1057275" y="342900"/>
                    </a:lnTo>
                    <a:moveTo>
                      <a:pt x="876300" y="219075"/>
                    </a:moveTo>
                    <a:lnTo>
                      <a:pt x="914400" y="0"/>
                    </a:lnTo>
                    <a:moveTo>
                      <a:pt x="1333500" y="466725"/>
                    </a:moveTo>
                    <a:lnTo>
                      <a:pt x="1181100" y="685800"/>
                    </a:lnTo>
                    <a:moveTo>
                      <a:pt x="1333500" y="466725"/>
                    </a:moveTo>
                    <a:lnTo>
                      <a:pt x="1590675" y="762000"/>
                    </a:lnTo>
                    <a:moveTo>
                      <a:pt x="1590675" y="762000"/>
                    </a:moveTo>
                    <a:lnTo>
                      <a:pt x="1809750" y="590550"/>
                    </a:lnTo>
                    <a:moveTo>
                      <a:pt x="1590675" y="762000"/>
                    </a:moveTo>
                    <a:lnTo>
                      <a:pt x="1714500" y="1028700"/>
                    </a:lnTo>
                    <a:moveTo>
                      <a:pt x="1600200" y="257175"/>
                    </a:moveTo>
                    <a:lnTo>
                      <a:pt x="1743075" y="66675"/>
                    </a:lnTo>
                    <a:moveTo>
                      <a:pt x="1600200" y="257175"/>
                    </a:moveTo>
                    <a:lnTo>
                      <a:pt x="1847850" y="295275"/>
                    </a:lnTo>
                  </a:path>
                </a:pathLst>
              </a:custGeom>
              <a:noFill/>
              <a:ln w="31432" cap="rnd">
                <a:solidFill>
                  <a:srgbClr val="E69F00"/>
                </a:solidFill>
              </a:ln>
            </p:spPr>
          </p:sp>
        </p:grpSp>
        <p:grpSp>
          <p:nvGrpSpPr>
            <p:cNvPr id="594" name="Group 21"/>
            <p:cNvGrpSpPr/>
            <p:nvPr/>
          </p:nvGrpSpPr>
          <p:grpSpPr>
            <a:xfrm>
              <a:off x="529" y="11196"/>
              <a:ext cx="2166" cy="1228"/>
              <a:chOff x="-942328" y="1925686"/>
              <a:chExt cx="3285478" cy="1884314"/>
            </a:xfrm>
          </p:grpSpPr>
          <p:sp>
            <p:nvSpPr>
              <p:cNvPr id="595" name="Freeform 14"/>
              <p:cNvSpPr/>
              <p:nvPr/>
            </p:nvSpPr>
            <p:spPr>
              <a:xfrm>
                <a:off x="457200" y="2095500"/>
                <a:ext cx="571500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71500">
                    <a:moveTo>
                      <a:pt x="0" y="371475"/>
                    </a:moveTo>
                    <a:cubicBezTo>
                      <a:pt x="171450" y="0"/>
                      <a:pt x="352425" y="571500"/>
                      <a:pt x="571500" y="285750"/>
                    </a:cubicBezTo>
                  </a:path>
                </a:pathLst>
              </a:custGeom>
              <a:noFill/>
              <a:ln w="33338" cap="rnd">
                <a:solidFill>
                  <a:srgbClr val="0072B2"/>
                </a:solidFill>
              </a:ln>
            </p:spPr>
          </p:sp>
          <p:sp>
            <p:nvSpPr>
              <p:cNvPr id="596" name="Freeform 15"/>
              <p:cNvSpPr/>
              <p:nvPr/>
            </p:nvSpPr>
            <p:spPr>
              <a:xfrm>
                <a:off x="1028700" y="2066925"/>
                <a:ext cx="657225" cy="495300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495300">
                    <a:moveTo>
                      <a:pt x="0" y="314325"/>
                    </a:moveTo>
                    <a:cubicBezTo>
                      <a:pt x="200025" y="0"/>
                      <a:pt x="419100" y="495300"/>
                      <a:pt x="657225" y="247650"/>
                    </a:cubicBezTo>
                  </a:path>
                </a:pathLst>
              </a:custGeom>
              <a:noFill/>
              <a:ln w="33338" cap="rnd">
                <a:solidFill>
                  <a:srgbClr val="E69F00"/>
                </a:solidFill>
              </a:ln>
            </p:spPr>
          </p:sp>
          <p:sp>
            <p:nvSpPr>
              <p:cNvPr id="597" name="Freeform 16"/>
              <p:cNvSpPr/>
              <p:nvPr/>
            </p:nvSpPr>
            <p:spPr>
              <a:xfrm>
                <a:off x="1685925" y="2095500"/>
                <a:ext cx="657225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400050">
                    <a:moveTo>
                      <a:pt x="0" y="219075"/>
                    </a:moveTo>
                    <a:cubicBezTo>
                      <a:pt x="200025" y="0"/>
                      <a:pt x="438150" y="400050"/>
                      <a:pt x="657225" y="133350"/>
                    </a:cubicBezTo>
                  </a:path>
                </a:pathLst>
              </a:custGeom>
              <a:noFill/>
              <a:ln w="33338" cap="rnd">
                <a:solidFill>
                  <a:srgbClr val="0072B2"/>
                </a:solidFill>
              </a:ln>
            </p:spPr>
          </p:sp>
          <p:sp>
            <p:nvSpPr>
              <p:cNvPr id="598" name="Freeform 17"/>
              <p:cNvSpPr/>
              <p:nvPr/>
            </p:nvSpPr>
            <p:spPr>
              <a:xfrm>
                <a:off x="581025" y="2933700"/>
                <a:ext cx="847725" cy="400050"/>
              </a:xfrm>
              <a:custGeom>
                <a:avLst/>
                <a:gdLst/>
                <a:ahLst/>
                <a:cxnLst/>
                <a:rect l="l" t="t" r="r" b="b"/>
                <a:pathLst>
                  <a:path w="847725" h="400050">
                    <a:moveTo>
                      <a:pt x="371475" y="400050"/>
                    </a:moveTo>
                    <a:cubicBezTo>
                      <a:pt x="209550" y="266700"/>
                      <a:pt x="123825" y="19050"/>
                      <a:pt x="0" y="0"/>
                    </a:cubicBezTo>
                    <a:moveTo>
                      <a:pt x="371475" y="400050"/>
                    </a:moveTo>
                    <a:cubicBezTo>
                      <a:pt x="628650" y="352425"/>
                      <a:pt x="714375" y="114300"/>
                      <a:pt x="847725" y="104775"/>
                    </a:cubicBezTo>
                  </a:path>
                </a:pathLst>
              </a:custGeom>
              <a:noFill/>
              <a:ln w="33338" cap="rnd">
                <a:solidFill>
                  <a:srgbClr val="0072B2"/>
                </a:solidFill>
              </a:ln>
            </p:spPr>
          </p:sp>
          <p:sp>
            <p:nvSpPr>
              <p:cNvPr id="599" name="Freeform 18"/>
              <p:cNvSpPr/>
              <p:nvPr/>
            </p:nvSpPr>
            <p:spPr>
              <a:xfrm>
                <a:off x="638175" y="3333750"/>
                <a:ext cx="8001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800100" h="476250">
                    <a:moveTo>
                      <a:pt x="314325" y="0"/>
                    </a:moveTo>
                    <a:cubicBezTo>
                      <a:pt x="266700" y="285750"/>
                      <a:pt x="0" y="295275"/>
                      <a:pt x="28575" y="476250"/>
                    </a:cubicBezTo>
                    <a:moveTo>
                      <a:pt x="314325" y="0"/>
                    </a:moveTo>
                    <a:cubicBezTo>
                      <a:pt x="552450" y="228600"/>
                      <a:pt x="647700" y="285750"/>
                      <a:pt x="800100" y="428625"/>
                    </a:cubicBezTo>
                  </a:path>
                </a:pathLst>
              </a:custGeom>
              <a:noFill/>
              <a:ln w="33338" cap="rnd">
                <a:solidFill>
                  <a:srgbClr val="E69F00"/>
                </a:solidFill>
              </a:ln>
            </p:spPr>
          </p:sp>
          <p:sp>
            <p:nvSpPr>
              <p:cNvPr id="600" name="Freeform 19"/>
              <p:cNvSpPr/>
              <p:nvPr/>
            </p:nvSpPr>
            <p:spPr>
              <a:xfrm>
                <a:off x="-799453" y="1925686"/>
                <a:ext cx="447675" cy="571500"/>
              </a:xfrm>
              <a:custGeom>
                <a:avLst/>
                <a:gdLst/>
                <a:ahLst/>
                <a:cxnLst/>
                <a:rect l="l" t="t" r="r" b="b"/>
                <a:pathLst>
                  <a:path w="447675" h="571500">
                    <a:moveTo>
                      <a:pt x="238125" y="0"/>
                    </a:moveTo>
                    <a:cubicBezTo>
                      <a:pt x="0" y="247650"/>
                      <a:pt x="447675" y="342900"/>
                      <a:pt x="247650" y="571500"/>
                    </a:cubicBezTo>
                  </a:path>
                </a:pathLst>
              </a:custGeom>
              <a:noFill/>
              <a:ln w="33338" cap="rnd">
                <a:solidFill>
                  <a:srgbClr val="0072B2"/>
                </a:solidFill>
              </a:ln>
            </p:spPr>
          </p:sp>
          <p:sp>
            <p:nvSpPr>
              <p:cNvPr id="601" name="Freeform 20"/>
              <p:cNvSpPr/>
              <p:nvPr/>
            </p:nvSpPr>
            <p:spPr>
              <a:xfrm>
                <a:off x="-942328" y="2497186"/>
                <a:ext cx="819150" cy="333375"/>
              </a:xfrm>
              <a:custGeom>
                <a:avLst/>
                <a:gdLst/>
                <a:ahLst/>
                <a:cxnLst/>
                <a:rect l="l" t="t" r="r" b="b"/>
                <a:pathLst>
                  <a:path w="819150" h="333375">
                    <a:moveTo>
                      <a:pt x="390525" y="0"/>
                    </a:moveTo>
                    <a:cubicBezTo>
                      <a:pt x="171450" y="85725"/>
                      <a:pt x="95250" y="295275"/>
                      <a:pt x="0" y="295275"/>
                    </a:cubicBezTo>
                    <a:moveTo>
                      <a:pt x="390525" y="0"/>
                    </a:moveTo>
                    <a:cubicBezTo>
                      <a:pt x="657225" y="9525"/>
                      <a:pt x="619125" y="238125"/>
                      <a:pt x="819150" y="333375"/>
                    </a:cubicBezTo>
                  </a:path>
                </a:pathLst>
              </a:custGeom>
              <a:noFill/>
              <a:ln w="33338" cap="rnd">
                <a:solidFill>
                  <a:srgbClr val="E69F00"/>
                </a:solidFill>
              </a:ln>
            </p:spPr>
          </p:sp>
        </p:grpSp>
      </p:grpSp>
      <p:sp>
        <p:nvSpPr>
          <p:cNvPr id="814" name="Freeform 14"/>
          <p:cNvSpPr/>
          <p:nvPr/>
        </p:nvSpPr>
        <p:spPr>
          <a:xfrm>
            <a:off x="6355080" y="1963420"/>
            <a:ext cx="633730" cy="86995"/>
          </a:xfrm>
          <a:custGeom>
            <a:avLst/>
            <a:gdLst/>
            <a:ahLst/>
            <a:cxnLst/>
            <a:rect l="l" t="t" r="r" b="b"/>
            <a:pathLst>
              <a:path w="695325" h="95250">
                <a:moveTo>
                  <a:pt x="695325" y="952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15" name="Freeform 15"/>
          <p:cNvSpPr/>
          <p:nvPr/>
        </p:nvSpPr>
        <p:spPr>
          <a:xfrm>
            <a:off x="6563360" y="1677035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66725" h="409575">
                <a:moveTo>
                  <a:pt x="466725" y="409575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16" name="Freeform 16"/>
          <p:cNvSpPr/>
          <p:nvPr/>
        </p:nvSpPr>
        <p:spPr>
          <a:xfrm>
            <a:off x="6884670" y="1824355"/>
            <a:ext cx="104140" cy="225425"/>
          </a:xfrm>
          <a:custGeom>
            <a:avLst/>
            <a:gdLst/>
            <a:ahLst/>
            <a:cxnLst/>
            <a:rect l="l" t="t" r="r" b="b"/>
            <a:pathLst>
              <a:path w="114300" h="247650">
                <a:moveTo>
                  <a:pt x="114300" y="2476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17" name="Freeform 17"/>
          <p:cNvSpPr/>
          <p:nvPr/>
        </p:nvSpPr>
        <p:spPr>
          <a:xfrm>
            <a:off x="6988810" y="1590040"/>
            <a:ext cx="225425" cy="460375"/>
          </a:xfrm>
          <a:custGeom>
            <a:avLst/>
            <a:gdLst/>
            <a:ahLst/>
            <a:cxnLst/>
            <a:rect l="l" t="t" r="r" b="b"/>
            <a:pathLst>
              <a:path w="247650" h="504825">
                <a:moveTo>
                  <a:pt x="0" y="504825"/>
                </a:moveTo>
                <a:lnTo>
                  <a:pt x="24765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18" name="Freeform 18"/>
          <p:cNvSpPr/>
          <p:nvPr/>
        </p:nvSpPr>
        <p:spPr>
          <a:xfrm>
            <a:off x="6988810" y="1781175"/>
            <a:ext cx="668655" cy="269240"/>
          </a:xfrm>
          <a:custGeom>
            <a:avLst/>
            <a:gdLst/>
            <a:ahLst/>
            <a:cxnLst/>
            <a:rect l="l" t="t" r="r" b="b"/>
            <a:pathLst>
              <a:path w="733425" h="295275">
                <a:moveTo>
                  <a:pt x="0" y="295275"/>
                </a:moveTo>
                <a:lnTo>
                  <a:pt x="733425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19" name="Freeform 19"/>
          <p:cNvSpPr/>
          <p:nvPr/>
        </p:nvSpPr>
        <p:spPr>
          <a:xfrm>
            <a:off x="6988810" y="2050415"/>
            <a:ext cx="390525" cy="86995"/>
          </a:xfrm>
          <a:custGeom>
            <a:avLst/>
            <a:gdLst/>
            <a:ahLst/>
            <a:cxnLst/>
            <a:rect l="l" t="t" r="r" b="b"/>
            <a:pathLst>
              <a:path w="428625" h="95250">
                <a:moveTo>
                  <a:pt x="0" y="0"/>
                </a:moveTo>
                <a:lnTo>
                  <a:pt x="428625" y="9525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20" name="Freeform 20"/>
          <p:cNvSpPr/>
          <p:nvPr/>
        </p:nvSpPr>
        <p:spPr>
          <a:xfrm>
            <a:off x="6355080" y="1677035"/>
            <a:ext cx="208280" cy="286385"/>
          </a:xfrm>
          <a:custGeom>
            <a:avLst/>
            <a:gdLst/>
            <a:ahLst/>
            <a:cxnLst/>
            <a:rect l="l" t="t" r="r" b="b"/>
            <a:pathLst>
              <a:path w="228600" h="314325">
                <a:moveTo>
                  <a:pt x="0" y="314325"/>
                </a:moveTo>
                <a:lnTo>
                  <a:pt x="22860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821" name="Freeform 21"/>
          <p:cNvSpPr/>
          <p:nvPr/>
        </p:nvSpPr>
        <p:spPr>
          <a:xfrm>
            <a:off x="6563360" y="1677035"/>
            <a:ext cx="321310" cy="147320"/>
          </a:xfrm>
          <a:custGeom>
            <a:avLst/>
            <a:gdLst/>
            <a:ahLst/>
            <a:cxnLst/>
            <a:rect l="l" t="t" r="r" b="b"/>
            <a:pathLst>
              <a:path w="352425" h="161925">
                <a:moveTo>
                  <a:pt x="0" y="0"/>
                </a:moveTo>
                <a:lnTo>
                  <a:pt x="352425" y="161925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22" name="Freeform 22"/>
          <p:cNvSpPr/>
          <p:nvPr/>
        </p:nvSpPr>
        <p:spPr>
          <a:xfrm>
            <a:off x="6884670" y="1590040"/>
            <a:ext cx="330200" cy="234315"/>
          </a:xfrm>
          <a:custGeom>
            <a:avLst/>
            <a:gdLst/>
            <a:ahLst/>
            <a:cxnLst/>
            <a:rect l="l" t="t" r="r" b="b"/>
            <a:pathLst>
              <a:path w="361950" h="257175">
                <a:moveTo>
                  <a:pt x="0" y="257175"/>
                </a:moveTo>
                <a:lnTo>
                  <a:pt x="36195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823" name="Freeform 23"/>
          <p:cNvSpPr/>
          <p:nvPr/>
        </p:nvSpPr>
        <p:spPr>
          <a:xfrm>
            <a:off x="7214235" y="1590040"/>
            <a:ext cx="442595" cy="191135"/>
          </a:xfrm>
          <a:custGeom>
            <a:avLst/>
            <a:gdLst/>
            <a:ahLst/>
            <a:cxnLst/>
            <a:rect l="l" t="t" r="r" b="b"/>
            <a:pathLst>
              <a:path w="485775" h="209550">
                <a:moveTo>
                  <a:pt x="0" y="0"/>
                </a:moveTo>
                <a:lnTo>
                  <a:pt x="485775" y="20955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24" name="Freeform 24"/>
          <p:cNvSpPr/>
          <p:nvPr/>
        </p:nvSpPr>
        <p:spPr>
          <a:xfrm>
            <a:off x="6884670" y="1824355"/>
            <a:ext cx="494665" cy="312420"/>
          </a:xfrm>
          <a:custGeom>
            <a:avLst/>
            <a:gdLst/>
            <a:ahLst/>
            <a:cxnLst/>
            <a:rect l="l" t="t" r="r" b="b"/>
            <a:pathLst>
              <a:path w="542925" h="342900">
                <a:moveTo>
                  <a:pt x="0" y="0"/>
                </a:moveTo>
                <a:lnTo>
                  <a:pt x="542925" y="34290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25" name="Ellipse 25"/>
          <p:cNvSpPr/>
          <p:nvPr/>
        </p:nvSpPr>
        <p:spPr>
          <a:xfrm>
            <a:off x="6320155" y="192913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26" name="Ellipse 26"/>
          <p:cNvSpPr/>
          <p:nvPr/>
        </p:nvSpPr>
        <p:spPr>
          <a:xfrm>
            <a:off x="6528435" y="164211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27" name="Ellipse 27"/>
          <p:cNvSpPr/>
          <p:nvPr/>
        </p:nvSpPr>
        <p:spPr>
          <a:xfrm>
            <a:off x="6849745" y="179006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28" name="Ellipse 28"/>
          <p:cNvSpPr/>
          <p:nvPr/>
        </p:nvSpPr>
        <p:spPr>
          <a:xfrm>
            <a:off x="7179945" y="155575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29" name="Ellipse 29"/>
          <p:cNvSpPr/>
          <p:nvPr/>
        </p:nvSpPr>
        <p:spPr>
          <a:xfrm>
            <a:off x="7622540" y="174625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30" name="Ellipse 30"/>
          <p:cNvSpPr/>
          <p:nvPr/>
        </p:nvSpPr>
        <p:spPr>
          <a:xfrm>
            <a:off x="7344410" y="210248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31" name="Ellipse 31"/>
          <p:cNvSpPr/>
          <p:nvPr/>
        </p:nvSpPr>
        <p:spPr>
          <a:xfrm>
            <a:off x="6918960" y="1981200"/>
            <a:ext cx="139065" cy="139065"/>
          </a:xfrm>
          <a:prstGeom prst="ellipse">
            <a:avLst/>
          </a:prstGeom>
          <a:solidFill>
            <a:srgbClr val="E0E0E0"/>
          </a:solidFill>
          <a:ln w="8572">
            <a:solidFill>
              <a:srgbClr val="888888"/>
            </a:solidFill>
          </a:ln>
        </p:spPr>
      </p:sp>
      <p:sp>
        <p:nvSpPr>
          <p:cNvPr id="832" name="TextBox 32"/>
          <p:cNvSpPr txBox="1"/>
          <p:nvPr/>
        </p:nvSpPr>
        <p:spPr>
          <a:xfrm>
            <a:off x="6959283" y="1990725"/>
            <a:ext cx="590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v</a:t>
            </a:r>
            <a:endParaRPr lang="zh-CN" sz="105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833" name="Ellipse 33"/>
          <p:cNvSpPr/>
          <p:nvPr/>
        </p:nvSpPr>
        <p:spPr>
          <a:xfrm>
            <a:off x="6259195" y="2797175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34" name="Ellipse 34"/>
          <p:cNvSpPr/>
          <p:nvPr/>
        </p:nvSpPr>
        <p:spPr>
          <a:xfrm>
            <a:off x="6289675" y="282765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35" name="Ellipse 35"/>
          <p:cNvSpPr/>
          <p:nvPr/>
        </p:nvSpPr>
        <p:spPr>
          <a:xfrm>
            <a:off x="6468110" y="2510790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36" name="Ellipse 36"/>
          <p:cNvSpPr/>
          <p:nvPr/>
        </p:nvSpPr>
        <p:spPr>
          <a:xfrm>
            <a:off x="6497955" y="254063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45" name="Freeform 45"/>
          <p:cNvSpPr/>
          <p:nvPr/>
        </p:nvSpPr>
        <p:spPr>
          <a:xfrm>
            <a:off x="6355080" y="2892425"/>
            <a:ext cx="633730" cy="86995"/>
          </a:xfrm>
          <a:custGeom>
            <a:avLst/>
            <a:gdLst/>
            <a:ahLst/>
            <a:cxnLst/>
            <a:rect l="l" t="t" r="r" b="b"/>
            <a:pathLst>
              <a:path w="695325" h="95250">
                <a:moveTo>
                  <a:pt x="695325" y="952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46" name="Freeform 46"/>
          <p:cNvSpPr/>
          <p:nvPr/>
        </p:nvSpPr>
        <p:spPr>
          <a:xfrm>
            <a:off x="6563360" y="2606040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66725" h="409575">
                <a:moveTo>
                  <a:pt x="466725" y="409575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47" name="Freeform 47"/>
          <p:cNvSpPr/>
          <p:nvPr/>
        </p:nvSpPr>
        <p:spPr>
          <a:xfrm>
            <a:off x="6884670" y="2753360"/>
            <a:ext cx="104140" cy="225425"/>
          </a:xfrm>
          <a:custGeom>
            <a:avLst/>
            <a:gdLst/>
            <a:ahLst/>
            <a:cxnLst/>
            <a:rect l="l" t="t" r="r" b="b"/>
            <a:pathLst>
              <a:path w="114300" h="247650">
                <a:moveTo>
                  <a:pt x="114300" y="2476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48" name="Freeform 48"/>
          <p:cNvSpPr/>
          <p:nvPr/>
        </p:nvSpPr>
        <p:spPr>
          <a:xfrm>
            <a:off x="6988810" y="2519045"/>
            <a:ext cx="225425" cy="460375"/>
          </a:xfrm>
          <a:custGeom>
            <a:avLst/>
            <a:gdLst/>
            <a:ahLst/>
            <a:cxnLst/>
            <a:rect l="l" t="t" r="r" b="b"/>
            <a:pathLst>
              <a:path w="247650" h="504825">
                <a:moveTo>
                  <a:pt x="0" y="504825"/>
                </a:moveTo>
                <a:lnTo>
                  <a:pt x="24765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49" name="Freeform 49"/>
          <p:cNvSpPr/>
          <p:nvPr/>
        </p:nvSpPr>
        <p:spPr>
          <a:xfrm>
            <a:off x="6988810" y="2710180"/>
            <a:ext cx="668655" cy="269240"/>
          </a:xfrm>
          <a:custGeom>
            <a:avLst/>
            <a:gdLst/>
            <a:ahLst/>
            <a:cxnLst/>
            <a:rect l="l" t="t" r="r" b="b"/>
            <a:pathLst>
              <a:path w="733425" h="295275">
                <a:moveTo>
                  <a:pt x="0" y="295275"/>
                </a:moveTo>
                <a:lnTo>
                  <a:pt x="733425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50" name="Freeform 50"/>
          <p:cNvSpPr/>
          <p:nvPr/>
        </p:nvSpPr>
        <p:spPr>
          <a:xfrm>
            <a:off x="6988810" y="2979420"/>
            <a:ext cx="390525" cy="86995"/>
          </a:xfrm>
          <a:custGeom>
            <a:avLst/>
            <a:gdLst/>
            <a:ahLst/>
            <a:cxnLst/>
            <a:rect l="l" t="t" r="r" b="b"/>
            <a:pathLst>
              <a:path w="428625" h="95250">
                <a:moveTo>
                  <a:pt x="0" y="0"/>
                </a:moveTo>
                <a:lnTo>
                  <a:pt x="428625" y="9525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51" name="Freeform 51"/>
          <p:cNvSpPr/>
          <p:nvPr/>
        </p:nvSpPr>
        <p:spPr>
          <a:xfrm>
            <a:off x="6355080" y="2606040"/>
            <a:ext cx="208280" cy="286385"/>
          </a:xfrm>
          <a:custGeom>
            <a:avLst/>
            <a:gdLst/>
            <a:ahLst/>
            <a:cxnLst/>
            <a:rect l="l" t="t" r="r" b="b"/>
            <a:pathLst>
              <a:path w="228600" h="314325">
                <a:moveTo>
                  <a:pt x="0" y="314325"/>
                </a:moveTo>
                <a:lnTo>
                  <a:pt x="22860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852" name="Freeform 52"/>
          <p:cNvSpPr/>
          <p:nvPr/>
        </p:nvSpPr>
        <p:spPr>
          <a:xfrm>
            <a:off x="6563360" y="2606040"/>
            <a:ext cx="321310" cy="147320"/>
          </a:xfrm>
          <a:custGeom>
            <a:avLst/>
            <a:gdLst/>
            <a:ahLst/>
            <a:cxnLst/>
            <a:rect l="l" t="t" r="r" b="b"/>
            <a:pathLst>
              <a:path w="352425" h="161925">
                <a:moveTo>
                  <a:pt x="0" y="0"/>
                </a:moveTo>
                <a:lnTo>
                  <a:pt x="352425" y="161925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53" name="Freeform 53"/>
          <p:cNvSpPr/>
          <p:nvPr/>
        </p:nvSpPr>
        <p:spPr>
          <a:xfrm>
            <a:off x="6884670" y="2519045"/>
            <a:ext cx="330200" cy="234315"/>
          </a:xfrm>
          <a:custGeom>
            <a:avLst/>
            <a:gdLst/>
            <a:ahLst/>
            <a:cxnLst/>
            <a:rect l="l" t="t" r="r" b="b"/>
            <a:pathLst>
              <a:path w="361950" h="257175">
                <a:moveTo>
                  <a:pt x="0" y="257175"/>
                </a:moveTo>
                <a:lnTo>
                  <a:pt x="36195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854" name="Freeform 54"/>
          <p:cNvSpPr/>
          <p:nvPr/>
        </p:nvSpPr>
        <p:spPr>
          <a:xfrm>
            <a:off x="7214235" y="2519045"/>
            <a:ext cx="442595" cy="191135"/>
          </a:xfrm>
          <a:custGeom>
            <a:avLst/>
            <a:gdLst/>
            <a:ahLst/>
            <a:cxnLst/>
            <a:rect l="l" t="t" r="r" b="b"/>
            <a:pathLst>
              <a:path w="485775" h="209550">
                <a:moveTo>
                  <a:pt x="0" y="0"/>
                </a:moveTo>
                <a:lnTo>
                  <a:pt x="485775" y="20955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55" name="Freeform 55"/>
          <p:cNvSpPr/>
          <p:nvPr/>
        </p:nvSpPr>
        <p:spPr>
          <a:xfrm>
            <a:off x="6884670" y="2753360"/>
            <a:ext cx="494665" cy="312420"/>
          </a:xfrm>
          <a:custGeom>
            <a:avLst/>
            <a:gdLst/>
            <a:ahLst/>
            <a:cxnLst/>
            <a:rect l="l" t="t" r="r" b="b"/>
            <a:pathLst>
              <a:path w="542925" h="342900">
                <a:moveTo>
                  <a:pt x="0" y="0"/>
                </a:moveTo>
                <a:lnTo>
                  <a:pt x="542925" y="34290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56" name="Ellipse 56"/>
          <p:cNvSpPr/>
          <p:nvPr/>
        </p:nvSpPr>
        <p:spPr>
          <a:xfrm>
            <a:off x="6320155" y="285750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57" name="Ellipse 57"/>
          <p:cNvSpPr/>
          <p:nvPr/>
        </p:nvSpPr>
        <p:spPr>
          <a:xfrm>
            <a:off x="6528435" y="257111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58" name="Ellipse 58"/>
          <p:cNvSpPr/>
          <p:nvPr/>
        </p:nvSpPr>
        <p:spPr>
          <a:xfrm>
            <a:off x="6849745" y="271907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59" name="Ellipse 59"/>
          <p:cNvSpPr/>
          <p:nvPr/>
        </p:nvSpPr>
        <p:spPr>
          <a:xfrm>
            <a:off x="7179945" y="248475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60" name="Ellipse 60"/>
          <p:cNvSpPr/>
          <p:nvPr/>
        </p:nvSpPr>
        <p:spPr>
          <a:xfrm>
            <a:off x="7622540" y="267525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61" name="Ellipse 61"/>
          <p:cNvSpPr/>
          <p:nvPr/>
        </p:nvSpPr>
        <p:spPr>
          <a:xfrm>
            <a:off x="7344410" y="303149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62" name="Ellipse 62"/>
          <p:cNvSpPr/>
          <p:nvPr/>
        </p:nvSpPr>
        <p:spPr>
          <a:xfrm>
            <a:off x="6918960" y="2909570"/>
            <a:ext cx="139065" cy="139065"/>
          </a:xfrm>
          <a:prstGeom prst="ellipse">
            <a:avLst/>
          </a:prstGeom>
          <a:solidFill>
            <a:srgbClr val="E0E0E0"/>
          </a:solidFill>
          <a:ln w="8572">
            <a:solidFill>
              <a:srgbClr val="888888"/>
            </a:solidFill>
          </a:ln>
        </p:spPr>
      </p:sp>
      <p:sp>
        <p:nvSpPr>
          <p:cNvPr id="863" name="TextBox 63"/>
          <p:cNvSpPr txBox="1"/>
          <p:nvPr/>
        </p:nvSpPr>
        <p:spPr>
          <a:xfrm>
            <a:off x="6959283" y="2919095"/>
            <a:ext cx="590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v</a:t>
            </a:r>
            <a:endParaRPr lang="zh-CN" sz="105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864" name="Ellipse 64"/>
          <p:cNvSpPr/>
          <p:nvPr/>
        </p:nvSpPr>
        <p:spPr>
          <a:xfrm>
            <a:off x="6259195" y="3665220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65" name="Ellipse 65"/>
          <p:cNvSpPr/>
          <p:nvPr/>
        </p:nvSpPr>
        <p:spPr>
          <a:xfrm>
            <a:off x="6289675" y="3695700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66" name="Ellipse 66"/>
          <p:cNvSpPr/>
          <p:nvPr/>
        </p:nvSpPr>
        <p:spPr>
          <a:xfrm>
            <a:off x="6468110" y="3378835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67" name="Ellipse 67"/>
          <p:cNvSpPr/>
          <p:nvPr/>
        </p:nvSpPr>
        <p:spPr>
          <a:xfrm>
            <a:off x="6497955" y="340931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68" name="Ellipse 68"/>
          <p:cNvSpPr/>
          <p:nvPr/>
        </p:nvSpPr>
        <p:spPr>
          <a:xfrm>
            <a:off x="6788785" y="3526155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69" name="Ellipse 69"/>
          <p:cNvSpPr/>
          <p:nvPr/>
        </p:nvSpPr>
        <p:spPr>
          <a:xfrm>
            <a:off x="6819265" y="355663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76" name="Freeform 76"/>
          <p:cNvSpPr/>
          <p:nvPr/>
        </p:nvSpPr>
        <p:spPr>
          <a:xfrm>
            <a:off x="6355080" y="3760470"/>
            <a:ext cx="633730" cy="86995"/>
          </a:xfrm>
          <a:custGeom>
            <a:avLst/>
            <a:gdLst/>
            <a:ahLst/>
            <a:cxnLst/>
            <a:rect l="l" t="t" r="r" b="b"/>
            <a:pathLst>
              <a:path w="695325" h="95250">
                <a:moveTo>
                  <a:pt x="695325" y="952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77" name="Freeform 77"/>
          <p:cNvSpPr/>
          <p:nvPr/>
        </p:nvSpPr>
        <p:spPr>
          <a:xfrm>
            <a:off x="6563360" y="3474085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66725" h="409575">
                <a:moveTo>
                  <a:pt x="466725" y="409575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78" name="Freeform 78"/>
          <p:cNvSpPr/>
          <p:nvPr/>
        </p:nvSpPr>
        <p:spPr>
          <a:xfrm>
            <a:off x="6884670" y="3622040"/>
            <a:ext cx="104140" cy="225425"/>
          </a:xfrm>
          <a:custGeom>
            <a:avLst/>
            <a:gdLst/>
            <a:ahLst/>
            <a:cxnLst/>
            <a:rect l="l" t="t" r="r" b="b"/>
            <a:pathLst>
              <a:path w="114300" h="247650">
                <a:moveTo>
                  <a:pt x="114300" y="2476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79" name="Freeform 79"/>
          <p:cNvSpPr/>
          <p:nvPr/>
        </p:nvSpPr>
        <p:spPr>
          <a:xfrm>
            <a:off x="6988810" y="3387090"/>
            <a:ext cx="225425" cy="460375"/>
          </a:xfrm>
          <a:custGeom>
            <a:avLst/>
            <a:gdLst/>
            <a:ahLst/>
            <a:cxnLst/>
            <a:rect l="l" t="t" r="r" b="b"/>
            <a:pathLst>
              <a:path w="247650" h="504825">
                <a:moveTo>
                  <a:pt x="0" y="504825"/>
                </a:moveTo>
                <a:lnTo>
                  <a:pt x="24765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80" name="Freeform 80"/>
          <p:cNvSpPr/>
          <p:nvPr/>
        </p:nvSpPr>
        <p:spPr>
          <a:xfrm>
            <a:off x="6988810" y="3578225"/>
            <a:ext cx="668655" cy="269240"/>
          </a:xfrm>
          <a:custGeom>
            <a:avLst/>
            <a:gdLst/>
            <a:ahLst/>
            <a:cxnLst/>
            <a:rect l="l" t="t" r="r" b="b"/>
            <a:pathLst>
              <a:path w="733425" h="295275">
                <a:moveTo>
                  <a:pt x="0" y="295275"/>
                </a:moveTo>
                <a:lnTo>
                  <a:pt x="733425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81" name="Freeform 81"/>
          <p:cNvSpPr/>
          <p:nvPr/>
        </p:nvSpPr>
        <p:spPr>
          <a:xfrm>
            <a:off x="6988810" y="3847465"/>
            <a:ext cx="390525" cy="86995"/>
          </a:xfrm>
          <a:custGeom>
            <a:avLst/>
            <a:gdLst/>
            <a:ahLst/>
            <a:cxnLst/>
            <a:rect l="l" t="t" r="r" b="b"/>
            <a:pathLst>
              <a:path w="428625" h="95250">
                <a:moveTo>
                  <a:pt x="0" y="0"/>
                </a:moveTo>
                <a:lnTo>
                  <a:pt x="428625" y="9525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882" name="Freeform 82"/>
          <p:cNvSpPr/>
          <p:nvPr/>
        </p:nvSpPr>
        <p:spPr>
          <a:xfrm>
            <a:off x="6355080" y="3474085"/>
            <a:ext cx="208280" cy="286385"/>
          </a:xfrm>
          <a:custGeom>
            <a:avLst/>
            <a:gdLst/>
            <a:ahLst/>
            <a:cxnLst/>
            <a:rect l="l" t="t" r="r" b="b"/>
            <a:pathLst>
              <a:path w="228600" h="314325">
                <a:moveTo>
                  <a:pt x="0" y="314325"/>
                </a:moveTo>
                <a:lnTo>
                  <a:pt x="22860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883" name="Freeform 83"/>
          <p:cNvSpPr/>
          <p:nvPr/>
        </p:nvSpPr>
        <p:spPr>
          <a:xfrm>
            <a:off x="6563360" y="3474085"/>
            <a:ext cx="321310" cy="147320"/>
          </a:xfrm>
          <a:custGeom>
            <a:avLst/>
            <a:gdLst/>
            <a:ahLst/>
            <a:cxnLst/>
            <a:rect l="l" t="t" r="r" b="b"/>
            <a:pathLst>
              <a:path w="352425" h="161925">
                <a:moveTo>
                  <a:pt x="0" y="0"/>
                </a:moveTo>
                <a:lnTo>
                  <a:pt x="352425" y="161925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84" name="Freeform 84"/>
          <p:cNvSpPr/>
          <p:nvPr/>
        </p:nvSpPr>
        <p:spPr>
          <a:xfrm>
            <a:off x="6884670" y="3387090"/>
            <a:ext cx="330200" cy="234315"/>
          </a:xfrm>
          <a:custGeom>
            <a:avLst/>
            <a:gdLst/>
            <a:ahLst/>
            <a:cxnLst/>
            <a:rect l="l" t="t" r="r" b="b"/>
            <a:pathLst>
              <a:path w="361950" h="257175">
                <a:moveTo>
                  <a:pt x="0" y="257175"/>
                </a:moveTo>
                <a:lnTo>
                  <a:pt x="36195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885" name="Freeform 85"/>
          <p:cNvSpPr/>
          <p:nvPr/>
        </p:nvSpPr>
        <p:spPr>
          <a:xfrm>
            <a:off x="7214235" y="3387090"/>
            <a:ext cx="442595" cy="191135"/>
          </a:xfrm>
          <a:custGeom>
            <a:avLst/>
            <a:gdLst/>
            <a:ahLst/>
            <a:cxnLst/>
            <a:rect l="l" t="t" r="r" b="b"/>
            <a:pathLst>
              <a:path w="485775" h="209550">
                <a:moveTo>
                  <a:pt x="0" y="0"/>
                </a:moveTo>
                <a:lnTo>
                  <a:pt x="485775" y="20955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86" name="Freeform 86"/>
          <p:cNvSpPr/>
          <p:nvPr/>
        </p:nvSpPr>
        <p:spPr>
          <a:xfrm>
            <a:off x="6884670" y="3622040"/>
            <a:ext cx="494665" cy="312420"/>
          </a:xfrm>
          <a:custGeom>
            <a:avLst/>
            <a:gdLst/>
            <a:ahLst/>
            <a:cxnLst/>
            <a:rect l="l" t="t" r="r" b="b"/>
            <a:pathLst>
              <a:path w="542925" h="342900">
                <a:moveTo>
                  <a:pt x="0" y="0"/>
                </a:moveTo>
                <a:lnTo>
                  <a:pt x="542925" y="34290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887" name="Ellipse 87"/>
          <p:cNvSpPr/>
          <p:nvPr/>
        </p:nvSpPr>
        <p:spPr>
          <a:xfrm>
            <a:off x="6320155" y="372618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88" name="Ellipse 88"/>
          <p:cNvSpPr/>
          <p:nvPr/>
        </p:nvSpPr>
        <p:spPr>
          <a:xfrm>
            <a:off x="6528435" y="343916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89" name="Ellipse 89"/>
          <p:cNvSpPr/>
          <p:nvPr/>
        </p:nvSpPr>
        <p:spPr>
          <a:xfrm>
            <a:off x="6849745" y="358711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90" name="Ellipse 90"/>
          <p:cNvSpPr/>
          <p:nvPr/>
        </p:nvSpPr>
        <p:spPr>
          <a:xfrm>
            <a:off x="7179945" y="335280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91" name="Ellipse 91"/>
          <p:cNvSpPr/>
          <p:nvPr/>
        </p:nvSpPr>
        <p:spPr>
          <a:xfrm>
            <a:off x="7622540" y="354330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92" name="Ellipse 92"/>
          <p:cNvSpPr/>
          <p:nvPr/>
        </p:nvSpPr>
        <p:spPr>
          <a:xfrm>
            <a:off x="7344410" y="389953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893" name="Ellipse 93"/>
          <p:cNvSpPr/>
          <p:nvPr/>
        </p:nvSpPr>
        <p:spPr>
          <a:xfrm>
            <a:off x="6918960" y="3778250"/>
            <a:ext cx="139065" cy="139065"/>
          </a:xfrm>
          <a:prstGeom prst="ellipse">
            <a:avLst/>
          </a:prstGeom>
          <a:solidFill>
            <a:srgbClr val="E0E0E0"/>
          </a:solidFill>
          <a:ln w="8572">
            <a:solidFill>
              <a:srgbClr val="888888"/>
            </a:solidFill>
          </a:ln>
        </p:spPr>
      </p:sp>
      <p:sp>
        <p:nvSpPr>
          <p:cNvPr id="894" name="TextBox 94"/>
          <p:cNvSpPr txBox="1"/>
          <p:nvPr/>
        </p:nvSpPr>
        <p:spPr>
          <a:xfrm>
            <a:off x="6959283" y="3787775"/>
            <a:ext cx="590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v</a:t>
            </a:r>
            <a:endParaRPr lang="zh-CN" sz="105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sp>
        <p:nvSpPr>
          <p:cNvPr id="895" name="Ellipse 95"/>
          <p:cNvSpPr/>
          <p:nvPr/>
        </p:nvSpPr>
        <p:spPr>
          <a:xfrm>
            <a:off x="6259195" y="4793615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96" name="Ellipse 96"/>
          <p:cNvSpPr/>
          <p:nvPr/>
        </p:nvSpPr>
        <p:spPr>
          <a:xfrm>
            <a:off x="6289675" y="482409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97" name="Ellipse 97"/>
          <p:cNvSpPr/>
          <p:nvPr/>
        </p:nvSpPr>
        <p:spPr>
          <a:xfrm>
            <a:off x="6468110" y="4507230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898" name="Ellipse 98"/>
          <p:cNvSpPr/>
          <p:nvPr/>
        </p:nvSpPr>
        <p:spPr>
          <a:xfrm>
            <a:off x="6497955" y="4537710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899" name="Ellipse 99"/>
          <p:cNvSpPr/>
          <p:nvPr/>
        </p:nvSpPr>
        <p:spPr>
          <a:xfrm>
            <a:off x="6788785" y="4654550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900" name="Ellipse 100"/>
          <p:cNvSpPr/>
          <p:nvPr/>
        </p:nvSpPr>
        <p:spPr>
          <a:xfrm>
            <a:off x="6819265" y="4685030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901" name="Ellipse 101"/>
          <p:cNvSpPr/>
          <p:nvPr/>
        </p:nvSpPr>
        <p:spPr>
          <a:xfrm>
            <a:off x="7118985" y="4420235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902" name="Ellipse 102"/>
          <p:cNvSpPr/>
          <p:nvPr/>
        </p:nvSpPr>
        <p:spPr>
          <a:xfrm>
            <a:off x="7149465" y="445071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903" name="Ellipse 103"/>
          <p:cNvSpPr/>
          <p:nvPr/>
        </p:nvSpPr>
        <p:spPr>
          <a:xfrm>
            <a:off x="7561580" y="4611370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904" name="Ellipse 104"/>
          <p:cNvSpPr/>
          <p:nvPr/>
        </p:nvSpPr>
        <p:spPr>
          <a:xfrm>
            <a:off x="7592060" y="4641850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905" name="Ellipse 105"/>
          <p:cNvSpPr/>
          <p:nvPr/>
        </p:nvSpPr>
        <p:spPr>
          <a:xfrm>
            <a:off x="7284085" y="4967605"/>
            <a:ext cx="191135" cy="191135"/>
          </a:xfrm>
          <a:prstGeom prst="ellipse">
            <a:avLst/>
          </a:prstGeom>
          <a:solidFill>
            <a:srgbClr val="F3F6EC"/>
          </a:solidFill>
          <a:ln>
            <a:noFill/>
          </a:ln>
        </p:spPr>
      </p:sp>
      <p:sp>
        <p:nvSpPr>
          <p:cNvPr id="906" name="Ellipse 106"/>
          <p:cNvSpPr/>
          <p:nvPr/>
        </p:nvSpPr>
        <p:spPr>
          <a:xfrm>
            <a:off x="7314565" y="4998085"/>
            <a:ext cx="130175" cy="130175"/>
          </a:xfrm>
          <a:prstGeom prst="ellipse">
            <a:avLst/>
          </a:prstGeom>
          <a:solidFill>
            <a:srgbClr val="E3E9D5"/>
          </a:solidFill>
          <a:ln>
            <a:noFill/>
          </a:ln>
        </p:spPr>
      </p:sp>
      <p:sp>
        <p:nvSpPr>
          <p:cNvPr id="907" name="Freeform 107"/>
          <p:cNvSpPr/>
          <p:nvPr/>
        </p:nvSpPr>
        <p:spPr>
          <a:xfrm>
            <a:off x="6355080" y="4889500"/>
            <a:ext cx="633730" cy="86995"/>
          </a:xfrm>
          <a:custGeom>
            <a:avLst/>
            <a:gdLst/>
            <a:ahLst/>
            <a:cxnLst/>
            <a:rect l="l" t="t" r="r" b="b"/>
            <a:pathLst>
              <a:path w="695325" h="95250">
                <a:moveTo>
                  <a:pt x="695325" y="952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908" name="Freeform 108"/>
          <p:cNvSpPr/>
          <p:nvPr/>
        </p:nvSpPr>
        <p:spPr>
          <a:xfrm>
            <a:off x="6563360" y="4602480"/>
            <a:ext cx="425450" cy="373380"/>
          </a:xfrm>
          <a:custGeom>
            <a:avLst/>
            <a:gdLst/>
            <a:ahLst/>
            <a:cxnLst/>
            <a:rect l="l" t="t" r="r" b="b"/>
            <a:pathLst>
              <a:path w="466725" h="409575">
                <a:moveTo>
                  <a:pt x="466725" y="409575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909" name="Freeform 109"/>
          <p:cNvSpPr/>
          <p:nvPr/>
        </p:nvSpPr>
        <p:spPr>
          <a:xfrm>
            <a:off x="6884670" y="4750435"/>
            <a:ext cx="104140" cy="225425"/>
          </a:xfrm>
          <a:custGeom>
            <a:avLst/>
            <a:gdLst/>
            <a:ahLst/>
            <a:cxnLst/>
            <a:rect l="l" t="t" r="r" b="b"/>
            <a:pathLst>
              <a:path w="114300" h="247650">
                <a:moveTo>
                  <a:pt x="114300" y="247650"/>
                </a:moveTo>
                <a:lnTo>
                  <a:pt x="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910" name="Freeform 110"/>
          <p:cNvSpPr/>
          <p:nvPr/>
        </p:nvSpPr>
        <p:spPr>
          <a:xfrm>
            <a:off x="6988810" y="4516120"/>
            <a:ext cx="225425" cy="460375"/>
          </a:xfrm>
          <a:custGeom>
            <a:avLst/>
            <a:gdLst/>
            <a:ahLst/>
            <a:cxnLst/>
            <a:rect l="l" t="t" r="r" b="b"/>
            <a:pathLst>
              <a:path w="247650" h="504825">
                <a:moveTo>
                  <a:pt x="0" y="504825"/>
                </a:moveTo>
                <a:lnTo>
                  <a:pt x="247650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911" name="Freeform 111"/>
          <p:cNvSpPr/>
          <p:nvPr/>
        </p:nvSpPr>
        <p:spPr>
          <a:xfrm>
            <a:off x="6988810" y="4707255"/>
            <a:ext cx="668655" cy="269240"/>
          </a:xfrm>
          <a:custGeom>
            <a:avLst/>
            <a:gdLst/>
            <a:ahLst/>
            <a:cxnLst/>
            <a:rect l="l" t="t" r="r" b="b"/>
            <a:pathLst>
              <a:path w="733425" h="295275">
                <a:moveTo>
                  <a:pt x="0" y="295275"/>
                </a:moveTo>
                <a:lnTo>
                  <a:pt x="733425" y="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912" name="Freeform 112"/>
          <p:cNvSpPr/>
          <p:nvPr/>
        </p:nvSpPr>
        <p:spPr>
          <a:xfrm>
            <a:off x="6988810" y="4975860"/>
            <a:ext cx="390525" cy="86995"/>
          </a:xfrm>
          <a:custGeom>
            <a:avLst/>
            <a:gdLst/>
            <a:ahLst/>
            <a:cxnLst/>
            <a:rect l="l" t="t" r="r" b="b"/>
            <a:pathLst>
              <a:path w="428625" h="95250">
                <a:moveTo>
                  <a:pt x="0" y="0"/>
                </a:moveTo>
                <a:lnTo>
                  <a:pt x="428625" y="95250"/>
                </a:lnTo>
              </a:path>
            </a:pathLst>
          </a:custGeom>
          <a:noFill/>
          <a:ln w="11906" cap="rnd">
            <a:solidFill>
              <a:srgbClr val="B6B6B6"/>
            </a:solidFill>
            <a:round/>
          </a:ln>
        </p:spPr>
      </p:sp>
      <p:sp>
        <p:nvSpPr>
          <p:cNvPr id="913" name="Freeform 113"/>
          <p:cNvSpPr/>
          <p:nvPr/>
        </p:nvSpPr>
        <p:spPr>
          <a:xfrm>
            <a:off x="6355080" y="4602480"/>
            <a:ext cx="208280" cy="286385"/>
          </a:xfrm>
          <a:custGeom>
            <a:avLst/>
            <a:gdLst/>
            <a:ahLst/>
            <a:cxnLst/>
            <a:rect l="l" t="t" r="r" b="b"/>
            <a:pathLst>
              <a:path w="228600" h="314325">
                <a:moveTo>
                  <a:pt x="0" y="314325"/>
                </a:moveTo>
                <a:lnTo>
                  <a:pt x="22860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914" name="Freeform 114"/>
          <p:cNvSpPr/>
          <p:nvPr/>
        </p:nvSpPr>
        <p:spPr>
          <a:xfrm>
            <a:off x="6563360" y="4602480"/>
            <a:ext cx="321310" cy="147320"/>
          </a:xfrm>
          <a:custGeom>
            <a:avLst/>
            <a:gdLst/>
            <a:ahLst/>
            <a:cxnLst/>
            <a:rect l="l" t="t" r="r" b="b"/>
            <a:pathLst>
              <a:path w="352425" h="161925">
                <a:moveTo>
                  <a:pt x="0" y="0"/>
                </a:moveTo>
                <a:lnTo>
                  <a:pt x="352425" y="161925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915" name="Freeform 115"/>
          <p:cNvSpPr/>
          <p:nvPr/>
        </p:nvSpPr>
        <p:spPr>
          <a:xfrm>
            <a:off x="6884670" y="4516120"/>
            <a:ext cx="330200" cy="234315"/>
          </a:xfrm>
          <a:custGeom>
            <a:avLst/>
            <a:gdLst/>
            <a:ahLst/>
            <a:cxnLst/>
            <a:rect l="l" t="t" r="r" b="b"/>
            <a:pathLst>
              <a:path w="361950" h="257175">
                <a:moveTo>
                  <a:pt x="0" y="257175"/>
                </a:moveTo>
                <a:lnTo>
                  <a:pt x="361950" y="0"/>
                </a:lnTo>
              </a:path>
            </a:pathLst>
          </a:custGeom>
          <a:noFill/>
          <a:ln w="19050" cap="rnd">
            <a:solidFill>
              <a:srgbClr val="0072B2"/>
            </a:solidFill>
            <a:round/>
          </a:ln>
        </p:spPr>
      </p:sp>
      <p:sp>
        <p:nvSpPr>
          <p:cNvPr id="916" name="Freeform 116"/>
          <p:cNvSpPr/>
          <p:nvPr/>
        </p:nvSpPr>
        <p:spPr>
          <a:xfrm>
            <a:off x="7214235" y="4516120"/>
            <a:ext cx="442595" cy="191135"/>
          </a:xfrm>
          <a:custGeom>
            <a:avLst/>
            <a:gdLst/>
            <a:ahLst/>
            <a:cxnLst/>
            <a:rect l="l" t="t" r="r" b="b"/>
            <a:pathLst>
              <a:path w="485775" h="209550">
                <a:moveTo>
                  <a:pt x="0" y="0"/>
                </a:moveTo>
                <a:lnTo>
                  <a:pt x="485775" y="20955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917" name="Freeform 117"/>
          <p:cNvSpPr/>
          <p:nvPr/>
        </p:nvSpPr>
        <p:spPr>
          <a:xfrm>
            <a:off x="6884670" y="4750435"/>
            <a:ext cx="494665" cy="312420"/>
          </a:xfrm>
          <a:custGeom>
            <a:avLst/>
            <a:gdLst/>
            <a:ahLst/>
            <a:cxnLst/>
            <a:rect l="l" t="t" r="r" b="b"/>
            <a:pathLst>
              <a:path w="542925" h="342900">
                <a:moveTo>
                  <a:pt x="0" y="0"/>
                </a:moveTo>
                <a:lnTo>
                  <a:pt x="542925" y="342900"/>
                </a:lnTo>
              </a:path>
            </a:pathLst>
          </a:custGeom>
          <a:noFill/>
          <a:ln w="19050" cap="rnd">
            <a:solidFill>
              <a:srgbClr val="E69F00"/>
            </a:solidFill>
            <a:round/>
          </a:ln>
        </p:spPr>
      </p:sp>
      <p:sp>
        <p:nvSpPr>
          <p:cNvPr id="918" name="Ellipse 118"/>
          <p:cNvSpPr/>
          <p:nvPr/>
        </p:nvSpPr>
        <p:spPr>
          <a:xfrm>
            <a:off x="6320155" y="485457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919" name="Ellipse 119"/>
          <p:cNvSpPr/>
          <p:nvPr/>
        </p:nvSpPr>
        <p:spPr>
          <a:xfrm>
            <a:off x="6528435" y="456819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920" name="Ellipse 120"/>
          <p:cNvSpPr/>
          <p:nvPr/>
        </p:nvSpPr>
        <p:spPr>
          <a:xfrm>
            <a:off x="6849745" y="471551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921" name="Ellipse 121"/>
          <p:cNvSpPr/>
          <p:nvPr/>
        </p:nvSpPr>
        <p:spPr>
          <a:xfrm>
            <a:off x="7179945" y="4481195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922" name="Ellipse 122"/>
          <p:cNvSpPr/>
          <p:nvPr/>
        </p:nvSpPr>
        <p:spPr>
          <a:xfrm>
            <a:off x="7622540" y="467233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923" name="Ellipse 123"/>
          <p:cNvSpPr/>
          <p:nvPr/>
        </p:nvSpPr>
        <p:spPr>
          <a:xfrm>
            <a:off x="7344410" y="5027930"/>
            <a:ext cx="69215" cy="69215"/>
          </a:xfrm>
          <a:prstGeom prst="ellipse">
            <a:avLst/>
          </a:prstGeom>
          <a:solidFill>
            <a:srgbClr val="D8D8D8"/>
          </a:solidFill>
          <a:ln w="8572">
            <a:solidFill>
              <a:srgbClr val="7B7B7B"/>
            </a:solidFill>
          </a:ln>
        </p:spPr>
      </p:sp>
      <p:sp>
        <p:nvSpPr>
          <p:cNvPr id="924" name="Ellipse 124"/>
          <p:cNvSpPr/>
          <p:nvPr/>
        </p:nvSpPr>
        <p:spPr>
          <a:xfrm>
            <a:off x="6918960" y="4906645"/>
            <a:ext cx="139065" cy="139065"/>
          </a:xfrm>
          <a:prstGeom prst="ellipse">
            <a:avLst/>
          </a:prstGeom>
          <a:solidFill>
            <a:srgbClr val="E0E0E0"/>
          </a:solidFill>
          <a:ln w="8572">
            <a:solidFill>
              <a:srgbClr val="888888"/>
            </a:solidFill>
          </a:ln>
        </p:spPr>
      </p:sp>
      <p:sp>
        <p:nvSpPr>
          <p:cNvPr id="925" name="TextBox 125"/>
          <p:cNvSpPr txBox="1"/>
          <p:nvPr/>
        </p:nvSpPr>
        <p:spPr>
          <a:xfrm>
            <a:off x="6959283" y="4916170"/>
            <a:ext cx="59055" cy="161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i="1" dirty="0">
                <a:solidFill>
                  <a:srgbClr val="111111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rPr>
              <a:t>v</a:t>
            </a:r>
            <a:endParaRPr lang="zh-CN" sz="1050" b="1" i="1" dirty="0">
              <a:solidFill>
                <a:srgbClr val="111111"/>
              </a:solidFill>
              <a:latin typeface="Times New Roman" panose="02020603050405020304"/>
              <a:ea typeface="宋体" panose="02010600030101010101" pitchFamily="2" charset="-122"/>
              <a:cs typeface="Times New Roman" panose="02020603050405020304"/>
            </a:endParaRPr>
          </a:p>
        </p:txBody>
      </p:sp>
      <p:grpSp>
        <p:nvGrpSpPr>
          <p:cNvPr id="1027" name="组合 1026"/>
          <p:cNvGrpSpPr/>
          <p:nvPr/>
        </p:nvGrpSpPr>
        <p:grpSpPr>
          <a:xfrm>
            <a:off x="8233410" y="5045710"/>
            <a:ext cx="1545590" cy="1068070"/>
            <a:chOff x="12906" y="8261"/>
            <a:chExt cx="2434" cy="1682"/>
          </a:xfrm>
        </p:grpSpPr>
        <p:sp>
          <p:nvSpPr>
            <p:cNvPr id="457" name="Rectangle 457"/>
            <p:cNvSpPr/>
            <p:nvPr/>
          </p:nvSpPr>
          <p:spPr>
            <a:xfrm>
              <a:off x="12906" y="8261"/>
              <a:ext cx="2434" cy="1682"/>
            </a:xfrm>
            <a:prstGeom prst="roundRect">
              <a:avLst>
                <a:gd name="adj" fmla="val 9155"/>
              </a:avLst>
            </a:prstGeom>
            <a:noFill/>
            <a:ln w="11430">
              <a:solidFill>
                <a:srgbClr val="75449B"/>
              </a:solidFill>
              <a:custDash>
                <a:ds d="416666" sp="250000"/>
              </a:custDash>
            </a:ln>
          </p:spPr>
        </p:sp>
        <p:grpSp>
          <p:nvGrpSpPr>
            <p:cNvPr id="1026" name="组合 1025"/>
            <p:cNvGrpSpPr/>
            <p:nvPr/>
          </p:nvGrpSpPr>
          <p:grpSpPr>
            <a:xfrm>
              <a:off x="12952" y="8395"/>
              <a:ext cx="2340" cy="1391"/>
              <a:chOff x="12952" y="8395"/>
              <a:chExt cx="2340" cy="1391"/>
            </a:xfrm>
          </p:grpSpPr>
          <p:sp>
            <p:nvSpPr>
              <p:cNvPr id="938" name="TextBox 2"/>
              <p:cNvSpPr txBox="1"/>
              <p:nvPr/>
            </p:nvSpPr>
            <p:spPr>
              <a:xfrm>
                <a:off x="12952" y="8395"/>
                <a:ext cx="2340" cy="26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80" b="1" dirty="0">
                    <a:solidFill>
                      <a:srgbClr val="75449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Layerwise RPA probes</a:t>
                </a:r>
                <a:endParaRPr lang="zh-CN" sz="1080" b="1" dirty="0">
                  <a:solidFill>
                    <a:srgbClr val="75449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39" name="TextBox 3"/>
              <p:cNvSpPr txBox="1"/>
              <p:nvPr/>
            </p:nvSpPr>
            <p:spPr>
              <a:xfrm>
                <a:off x="13367" y="8680"/>
                <a:ext cx="1510" cy="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75449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Frozen layers 0–5</a:t>
                </a:r>
                <a:endParaRPr lang="en-US" sz="900" b="1" dirty="0">
                  <a:solidFill>
                    <a:srgbClr val="75449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40" name="Rectangle 4"/>
              <p:cNvSpPr/>
              <p:nvPr/>
            </p:nvSpPr>
            <p:spPr>
              <a:xfrm>
                <a:off x="13124" y="8983"/>
                <a:ext cx="1996" cy="355"/>
              </a:xfrm>
              <a:prstGeom prst="roundRect">
                <a:avLst>
                  <a:gd name="adj" fmla="val 19231"/>
                </a:avLst>
              </a:prstGeom>
              <a:solidFill>
                <a:srgbClr val="F8F5FB"/>
              </a:solidFill>
              <a:ln w="11430">
                <a:solidFill>
                  <a:srgbClr val="75449B"/>
                </a:solidFill>
              </a:ln>
            </p:spPr>
          </p:sp>
          <p:sp>
            <p:nvSpPr>
              <p:cNvPr id="941" name="TextBox 5"/>
              <p:cNvSpPr txBox="1"/>
              <p:nvPr/>
            </p:nvSpPr>
            <p:spPr>
              <a:xfrm>
                <a:off x="13560" y="9048"/>
                <a:ext cx="1124" cy="26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100" b="1" dirty="0">
                    <a:solidFill>
                      <a:srgbClr val="75449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PCA–ridge</a:t>
                </a:r>
                <a:endParaRPr lang="en-US" sz="1100" b="1" dirty="0">
                  <a:solidFill>
                    <a:srgbClr val="75449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42" name="Freeform 6"/>
              <p:cNvSpPr/>
              <p:nvPr/>
            </p:nvSpPr>
            <p:spPr>
              <a:xfrm>
                <a:off x="14001" y="9338"/>
                <a:ext cx="14" cy="164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14300">
                    <a:moveTo>
                      <a:pt x="0" y="0"/>
                    </a:moveTo>
                    <a:lnTo>
                      <a:pt x="0" y="114300"/>
                    </a:lnTo>
                  </a:path>
                </a:pathLst>
              </a:custGeom>
              <a:noFill/>
              <a:ln w="13335" cap="rnd">
                <a:solidFill>
                  <a:srgbClr val="75449B"/>
                </a:solidFill>
                <a:round/>
              </a:ln>
            </p:spPr>
          </p:sp>
          <p:sp>
            <p:nvSpPr>
              <p:cNvPr id="943" name="Freeform 7"/>
              <p:cNvSpPr/>
              <p:nvPr/>
            </p:nvSpPr>
            <p:spPr>
              <a:xfrm>
                <a:off x="13957" y="9459"/>
                <a:ext cx="96" cy="109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6200">
                    <a:moveTo>
                      <a:pt x="33338" y="76200"/>
                    </a:moveTo>
                    <a:lnTo>
                      <a:pt x="66675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5449B"/>
              </a:solidFill>
              <a:ln w="0" cap="rnd">
                <a:solidFill>
                  <a:srgbClr val="75449B"/>
                </a:solidFill>
                <a:round/>
              </a:ln>
            </p:spPr>
          </p:sp>
          <p:sp>
            <p:nvSpPr>
              <p:cNvPr id="944" name="TextBox 8"/>
              <p:cNvSpPr txBox="1"/>
              <p:nvPr/>
            </p:nvSpPr>
            <p:spPr>
              <a:xfrm>
                <a:off x="13282" y="9568"/>
                <a:ext cx="1680" cy="2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75449B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RPA-related targets</a:t>
                </a:r>
                <a:endParaRPr lang="en-US" sz="900" b="1" dirty="0">
                  <a:solidFill>
                    <a:srgbClr val="75449B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</p:grpSp>
      </p:grpSp>
      <p:grpSp>
        <p:nvGrpSpPr>
          <p:cNvPr id="1025" name="组合 1024"/>
          <p:cNvGrpSpPr/>
          <p:nvPr/>
        </p:nvGrpSpPr>
        <p:grpSpPr>
          <a:xfrm>
            <a:off x="9845040" y="3860800"/>
            <a:ext cx="3377565" cy="2375535"/>
            <a:chOff x="15504" y="6346"/>
            <a:chExt cx="5319" cy="3741"/>
          </a:xfrm>
        </p:grpSpPr>
        <p:sp>
          <p:nvSpPr>
            <p:cNvPr id="13" name="Rectangle 13"/>
            <p:cNvSpPr/>
            <p:nvPr/>
          </p:nvSpPr>
          <p:spPr>
            <a:xfrm>
              <a:off x="15504" y="6346"/>
              <a:ext cx="5319" cy="3741"/>
            </a:xfrm>
            <a:prstGeom prst="roundRect">
              <a:avLst>
                <a:gd name="adj" fmla="val 7483"/>
              </a:avLst>
            </a:prstGeom>
            <a:solidFill>
              <a:srgbClr val="F3EEF7"/>
            </a:solidFill>
            <a:ln>
              <a:noFill/>
            </a:ln>
          </p:spPr>
        </p:sp>
        <p:sp>
          <p:nvSpPr>
            <p:cNvPr id="396" name="TextBox 396"/>
            <p:cNvSpPr txBox="1"/>
            <p:nvPr/>
          </p:nvSpPr>
          <p:spPr>
            <a:xfrm>
              <a:off x="15968" y="6445"/>
              <a:ext cx="4322" cy="33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400" b="1" dirty="0">
                  <a:solidFill>
                    <a:srgbClr val="75449B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Target transfer (new property k*)</a:t>
              </a:r>
              <a:endParaRPr lang="zh-CN" sz="140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97" name="Rectangle 397"/>
            <p:cNvSpPr/>
            <p:nvPr/>
          </p:nvSpPr>
          <p:spPr>
            <a:xfrm>
              <a:off x="15860" y="6907"/>
              <a:ext cx="1272" cy="998"/>
            </a:xfrm>
            <a:prstGeom prst="roundRect">
              <a:avLst>
                <a:gd name="adj" fmla="val 10959"/>
              </a:avLst>
            </a:prstGeom>
            <a:solidFill>
              <a:srgbClr val="E8F3FA"/>
            </a:solidFill>
            <a:ln w="11430">
              <a:solidFill>
                <a:srgbClr val="0072B2"/>
              </a:solidFill>
            </a:ln>
          </p:spPr>
        </p:sp>
        <p:sp>
          <p:nvSpPr>
            <p:cNvPr id="398" name="TextBox 398"/>
            <p:cNvSpPr txBox="1"/>
            <p:nvPr/>
          </p:nvSpPr>
          <p:spPr>
            <a:xfrm>
              <a:off x="16014" y="7045"/>
              <a:ext cx="950" cy="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55" b="1" dirty="0">
                  <a:solidFill>
                    <a:srgbClr val="0072B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Pretrained</a:t>
              </a:r>
              <a:endParaRPr lang="zh-CN" sz="955" b="1" dirty="0">
                <a:solidFill>
                  <a:srgbClr val="0072B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399" name="TextBox 399"/>
            <p:cNvSpPr txBox="1"/>
            <p:nvPr/>
          </p:nvSpPr>
          <p:spPr>
            <a:xfrm>
              <a:off x="16116" y="7332"/>
              <a:ext cx="747" cy="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55" b="1" dirty="0">
                  <a:solidFill>
                    <a:srgbClr val="0072B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encoder</a:t>
              </a:r>
              <a:endParaRPr lang="zh-CN" sz="955" b="1" dirty="0">
                <a:solidFill>
                  <a:srgbClr val="0072B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00" name="TextBox 400"/>
            <p:cNvSpPr txBox="1"/>
            <p:nvPr/>
          </p:nvSpPr>
          <p:spPr>
            <a:xfrm>
              <a:off x="16137" y="7592"/>
              <a:ext cx="704" cy="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55" b="1" dirty="0">
                  <a:solidFill>
                    <a:srgbClr val="0072B2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(frozen)</a:t>
              </a:r>
              <a:endParaRPr lang="zh-CN" sz="955" b="1" dirty="0">
                <a:solidFill>
                  <a:srgbClr val="0072B2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01" name="Freeform 401"/>
            <p:cNvSpPr/>
            <p:nvPr/>
          </p:nvSpPr>
          <p:spPr>
            <a:xfrm>
              <a:off x="16128" y="8015"/>
              <a:ext cx="123" cy="135"/>
            </a:xfrm>
            <a:custGeom>
              <a:avLst/>
              <a:gdLst/>
              <a:ahLst/>
              <a:cxnLst/>
              <a:rect l="l" t="t" r="r" b="b"/>
              <a:pathLst>
                <a:path w="85725" h="94297">
                  <a:moveTo>
                    <a:pt x="0" y="94297"/>
                  </a:moveTo>
                  <a:lnTo>
                    <a:pt x="0" y="60007"/>
                  </a:lnTo>
                  <a:cubicBezTo>
                    <a:pt x="0" y="0"/>
                    <a:pt x="85725" y="0"/>
                    <a:pt x="85725" y="60007"/>
                  </a:cubicBezTo>
                  <a:lnTo>
                    <a:pt x="85725" y="94297"/>
                  </a:lnTo>
                </a:path>
              </a:pathLst>
            </a:custGeom>
            <a:noFill/>
            <a:ln w="17145" cap="rnd">
              <a:solidFill>
                <a:srgbClr val="0072B2"/>
              </a:solidFill>
              <a:round/>
            </a:ln>
          </p:spPr>
        </p:sp>
        <p:sp>
          <p:nvSpPr>
            <p:cNvPr id="402" name="Rectangle 402"/>
            <p:cNvSpPr/>
            <p:nvPr/>
          </p:nvSpPr>
          <p:spPr>
            <a:xfrm>
              <a:off x="16078" y="8139"/>
              <a:ext cx="221" cy="197"/>
            </a:xfrm>
            <a:prstGeom prst="roundRect">
              <a:avLst>
                <a:gd name="adj" fmla="val 12500"/>
              </a:avLst>
            </a:prstGeom>
            <a:solidFill>
              <a:srgbClr val="0072B2"/>
            </a:solidFill>
            <a:ln>
              <a:noFill/>
            </a:ln>
          </p:spPr>
        </p:sp>
        <p:sp>
          <p:nvSpPr>
            <p:cNvPr id="403" name="Ellipse 403"/>
            <p:cNvSpPr/>
            <p:nvPr/>
          </p:nvSpPr>
          <p:spPr>
            <a:xfrm>
              <a:off x="16165" y="8188"/>
              <a:ext cx="49" cy="49"/>
            </a:xfrm>
            <a:prstGeom prst="ellipse">
              <a:avLst/>
            </a:prstGeom>
            <a:noFill/>
            <a:ln>
              <a:noFill/>
            </a:ln>
          </p:spPr>
        </p:sp>
        <p:sp>
          <p:nvSpPr>
            <p:cNvPr id="404" name="Rectangle 404"/>
            <p:cNvSpPr/>
            <p:nvPr/>
          </p:nvSpPr>
          <p:spPr>
            <a:xfrm>
              <a:off x="16177" y="8212"/>
              <a:ext cx="25" cy="62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405" name="Freeform 405"/>
            <p:cNvSpPr/>
            <p:nvPr/>
          </p:nvSpPr>
          <p:spPr>
            <a:xfrm>
              <a:off x="17186" y="7372"/>
              <a:ext cx="273" cy="14"/>
            </a:xfrm>
            <a:custGeom>
              <a:avLst/>
              <a:gdLst/>
              <a:ahLst/>
              <a:cxnLst/>
              <a:rect l="l" t="t" r="r" b="b"/>
              <a:pathLst>
                <a:path w="190500" h="9525">
                  <a:moveTo>
                    <a:pt x="0" y="0"/>
                  </a:moveTo>
                  <a:lnTo>
                    <a:pt x="190500" y="0"/>
                  </a:lnTo>
                </a:path>
              </a:pathLst>
            </a:custGeom>
            <a:noFill/>
            <a:ln w="13335" cap="rnd">
              <a:solidFill>
                <a:srgbClr val="0072B2"/>
              </a:solidFill>
              <a:round/>
            </a:ln>
          </p:spPr>
        </p:sp>
        <p:sp>
          <p:nvSpPr>
            <p:cNvPr id="406" name="Freeform 406"/>
            <p:cNvSpPr/>
            <p:nvPr/>
          </p:nvSpPr>
          <p:spPr>
            <a:xfrm>
              <a:off x="17350" y="7324"/>
              <a:ext cx="109" cy="96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0072B2"/>
            </a:solidFill>
            <a:ln w="0" cap="rnd">
              <a:solidFill>
                <a:srgbClr val="0072B2"/>
              </a:solidFill>
              <a:round/>
            </a:ln>
          </p:spPr>
        </p:sp>
        <p:sp>
          <p:nvSpPr>
            <p:cNvPr id="407" name="Rectangle 407"/>
            <p:cNvSpPr/>
            <p:nvPr/>
          </p:nvSpPr>
          <p:spPr>
            <a:xfrm>
              <a:off x="17528" y="6852"/>
              <a:ext cx="164" cy="161"/>
            </a:xfrm>
            <a:prstGeom prst="rect">
              <a:avLst/>
            </a:prstGeom>
            <a:solidFill>
              <a:srgbClr val="819339"/>
            </a:solidFill>
            <a:ln w="11430">
              <a:solidFill>
                <a:srgbClr val="8A944A"/>
              </a:solidFill>
            </a:ln>
          </p:spPr>
        </p:sp>
        <p:sp>
          <p:nvSpPr>
            <p:cNvPr id="408" name="Rectangle 408"/>
            <p:cNvSpPr/>
            <p:nvPr/>
          </p:nvSpPr>
          <p:spPr>
            <a:xfrm>
              <a:off x="17528" y="7026"/>
              <a:ext cx="164" cy="161"/>
            </a:xfrm>
            <a:prstGeom prst="rect">
              <a:avLst/>
            </a:prstGeom>
            <a:solidFill>
              <a:srgbClr val="A8B465"/>
            </a:solidFill>
            <a:ln w="11430">
              <a:solidFill>
                <a:srgbClr val="8A944A"/>
              </a:solidFill>
            </a:ln>
          </p:spPr>
        </p:sp>
        <p:sp>
          <p:nvSpPr>
            <p:cNvPr id="409" name="Rectangle 409"/>
            <p:cNvSpPr/>
            <p:nvPr/>
          </p:nvSpPr>
          <p:spPr>
            <a:xfrm>
              <a:off x="17528" y="7201"/>
              <a:ext cx="164" cy="161"/>
            </a:xfrm>
            <a:prstGeom prst="rect">
              <a:avLst/>
            </a:prstGeom>
            <a:solidFill>
              <a:srgbClr val="67791F"/>
            </a:solidFill>
            <a:ln w="11430">
              <a:solidFill>
                <a:srgbClr val="8A944A"/>
              </a:solidFill>
            </a:ln>
          </p:spPr>
        </p:sp>
        <p:sp>
          <p:nvSpPr>
            <p:cNvPr id="410" name="Rectangle 410"/>
            <p:cNvSpPr/>
            <p:nvPr/>
          </p:nvSpPr>
          <p:spPr>
            <a:xfrm>
              <a:off x="17528" y="7375"/>
              <a:ext cx="164" cy="161"/>
            </a:xfrm>
            <a:prstGeom prst="rect">
              <a:avLst/>
            </a:prstGeom>
            <a:solidFill>
              <a:srgbClr val="D8DFB7"/>
            </a:solidFill>
            <a:ln w="11430">
              <a:solidFill>
                <a:srgbClr val="8A944A"/>
              </a:solidFill>
            </a:ln>
          </p:spPr>
        </p:sp>
        <p:sp>
          <p:nvSpPr>
            <p:cNvPr id="411" name="Rectangle 411"/>
            <p:cNvSpPr/>
            <p:nvPr/>
          </p:nvSpPr>
          <p:spPr>
            <a:xfrm>
              <a:off x="17528" y="7549"/>
              <a:ext cx="164" cy="161"/>
            </a:xfrm>
            <a:prstGeom prst="rect">
              <a:avLst/>
            </a:prstGeom>
            <a:solidFill>
              <a:srgbClr val="94A447"/>
            </a:solidFill>
            <a:ln w="11430">
              <a:solidFill>
                <a:srgbClr val="8A944A"/>
              </a:solidFill>
            </a:ln>
          </p:spPr>
        </p:sp>
        <p:sp>
          <p:nvSpPr>
            <p:cNvPr id="412" name="Rectangle 412"/>
            <p:cNvSpPr/>
            <p:nvPr/>
          </p:nvSpPr>
          <p:spPr>
            <a:xfrm>
              <a:off x="17528" y="7724"/>
              <a:ext cx="164" cy="161"/>
            </a:xfrm>
            <a:prstGeom prst="rect">
              <a:avLst/>
            </a:prstGeom>
            <a:solidFill>
              <a:srgbClr val="788A2E"/>
            </a:solidFill>
            <a:ln w="11430">
              <a:solidFill>
                <a:srgbClr val="8A944A"/>
              </a:solidFill>
            </a:ln>
          </p:spPr>
        </p:sp>
        <p:sp>
          <p:nvSpPr>
            <p:cNvPr id="413" name="Rectangle 413"/>
            <p:cNvSpPr/>
            <p:nvPr/>
          </p:nvSpPr>
          <p:spPr>
            <a:xfrm>
              <a:off x="17528" y="7898"/>
              <a:ext cx="164" cy="161"/>
            </a:xfrm>
            <a:prstGeom prst="rect">
              <a:avLst/>
            </a:prstGeom>
            <a:solidFill>
              <a:srgbClr val="B9C58A"/>
            </a:solidFill>
            <a:ln w="11430">
              <a:solidFill>
                <a:srgbClr val="8A944A"/>
              </a:solidFill>
            </a:ln>
          </p:spPr>
        </p:sp>
        <p:sp>
          <p:nvSpPr>
            <p:cNvPr id="414" name="Rectangle 414"/>
            <p:cNvSpPr/>
            <p:nvPr/>
          </p:nvSpPr>
          <p:spPr>
            <a:xfrm>
              <a:off x="17528" y="8072"/>
              <a:ext cx="164" cy="161"/>
            </a:xfrm>
            <a:prstGeom prst="rect">
              <a:avLst/>
            </a:prstGeom>
            <a:solidFill>
              <a:srgbClr val="768B2D"/>
            </a:solidFill>
            <a:ln w="11430">
              <a:solidFill>
                <a:srgbClr val="8A944A"/>
              </a:solidFill>
            </a:ln>
          </p:spPr>
        </p:sp>
        <p:sp>
          <p:nvSpPr>
            <p:cNvPr id="415" name="Rectangle 415"/>
            <p:cNvSpPr/>
            <p:nvPr/>
          </p:nvSpPr>
          <p:spPr>
            <a:xfrm>
              <a:off x="17528" y="7563"/>
              <a:ext cx="164" cy="153"/>
            </a:xfrm>
            <a:prstGeom prst="rect">
              <a:avLst/>
            </a:prstGeom>
            <a:solidFill>
              <a:srgbClr val="FEFEF8"/>
            </a:solidFill>
            <a:ln>
              <a:noFill/>
            </a:ln>
          </p:spPr>
        </p:sp>
        <p:sp>
          <p:nvSpPr>
            <p:cNvPr id="416" name="TextBox 416"/>
            <p:cNvSpPr txBox="1"/>
            <p:nvPr/>
          </p:nvSpPr>
          <p:spPr>
            <a:xfrm>
              <a:off x="17569" y="7549"/>
              <a:ext cx="83" cy="19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15" b="1" dirty="0">
                  <a:solidFill>
                    <a:srgbClr val="5F671D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⋮</a:t>
              </a:r>
              <a:endParaRPr lang="zh-CN" sz="815" b="1" dirty="0">
                <a:solidFill>
                  <a:srgbClr val="5F671D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17" name="TextBox 417"/>
            <p:cNvSpPr txBox="1"/>
            <p:nvPr/>
          </p:nvSpPr>
          <p:spPr>
            <a:xfrm>
              <a:off x="17186" y="8508"/>
              <a:ext cx="820" cy="38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00" b="1" i="1" dirty="0">
                  <a:solidFill>
                    <a:srgbClr val="5F671D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z ∈ R</a:t>
              </a:r>
              <a:endParaRPr lang="zh-CN" sz="1600" b="1" i="1" dirty="0">
                <a:solidFill>
                  <a:srgbClr val="5F671D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418" name="TextBox 418"/>
            <p:cNvSpPr txBox="1"/>
            <p:nvPr/>
          </p:nvSpPr>
          <p:spPr>
            <a:xfrm>
              <a:off x="18028" y="8367"/>
              <a:ext cx="327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90" b="1" dirty="0">
                  <a:solidFill>
                    <a:srgbClr val="5F671D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rPr>
                <a:t>512</a:t>
              </a:r>
              <a:endParaRPr lang="zh-CN" sz="1090" b="1" dirty="0">
                <a:solidFill>
                  <a:srgbClr val="5F671D"/>
                </a:solidFill>
                <a:latin typeface="Times New Roman" panose="02020603050405020304"/>
                <a:ea typeface="宋体" panose="02010600030101010101" pitchFamily="2" charset="-122"/>
                <a:cs typeface="Times New Roman" panose="02020603050405020304"/>
              </a:endParaRPr>
            </a:p>
          </p:txBody>
        </p:sp>
        <p:sp>
          <p:nvSpPr>
            <p:cNvPr id="419" name="Freeform 419"/>
            <p:cNvSpPr/>
            <p:nvPr/>
          </p:nvSpPr>
          <p:spPr>
            <a:xfrm>
              <a:off x="17746" y="7358"/>
              <a:ext cx="369" cy="14"/>
            </a:xfrm>
            <a:custGeom>
              <a:avLst/>
              <a:gdLst/>
              <a:ahLst/>
              <a:cxnLst/>
              <a:rect l="l" t="t" r="r" b="b"/>
              <a:pathLst>
                <a:path w="257175" h="9525">
                  <a:moveTo>
                    <a:pt x="0" y="0"/>
                  </a:moveTo>
                  <a:lnTo>
                    <a:pt x="257175" y="0"/>
                  </a:lnTo>
                </a:path>
              </a:pathLst>
            </a:custGeom>
            <a:noFill/>
            <a:ln w="13335" cap="rnd">
              <a:solidFill>
                <a:srgbClr val="75449B"/>
              </a:solidFill>
              <a:round/>
            </a:ln>
          </p:spPr>
        </p:sp>
        <p:sp>
          <p:nvSpPr>
            <p:cNvPr id="420" name="Freeform 420"/>
            <p:cNvSpPr/>
            <p:nvPr/>
          </p:nvSpPr>
          <p:spPr>
            <a:xfrm>
              <a:off x="18006" y="7310"/>
              <a:ext cx="109" cy="96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75449B"/>
            </a:solidFill>
            <a:ln w="0" cap="rnd">
              <a:solidFill>
                <a:srgbClr val="75449B"/>
              </a:solidFill>
              <a:round/>
            </a:ln>
          </p:spPr>
        </p:sp>
        <p:sp>
          <p:nvSpPr>
            <p:cNvPr id="421" name="Rectangle 421"/>
            <p:cNvSpPr/>
            <p:nvPr/>
          </p:nvSpPr>
          <p:spPr>
            <a:xfrm>
              <a:off x="18184" y="6961"/>
              <a:ext cx="1367" cy="834"/>
            </a:xfrm>
            <a:prstGeom prst="roundRect">
              <a:avLst>
                <a:gd name="adj" fmla="val 11475"/>
              </a:avLst>
            </a:prstGeom>
            <a:solidFill>
              <a:srgbClr val="F8F4FB"/>
            </a:solidFill>
            <a:ln w="11430">
              <a:solidFill>
                <a:srgbClr val="75449B"/>
              </a:solidFill>
            </a:ln>
          </p:spPr>
        </p:sp>
        <p:sp>
          <p:nvSpPr>
            <p:cNvPr id="422" name="TextBox 422"/>
            <p:cNvSpPr txBox="1"/>
            <p:nvPr/>
          </p:nvSpPr>
          <p:spPr>
            <a:xfrm>
              <a:off x="18291" y="7127"/>
              <a:ext cx="1152" cy="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55" b="1" dirty="0">
                  <a:solidFill>
                    <a:srgbClr val="75449B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New readout</a:t>
              </a:r>
              <a:endParaRPr lang="zh-CN" sz="955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3" name="TextBox 423"/>
            <p:cNvSpPr txBox="1"/>
            <p:nvPr/>
          </p:nvSpPr>
          <p:spPr>
            <a:xfrm>
              <a:off x="18601" y="7414"/>
              <a:ext cx="533" cy="23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-US" sz="955" b="1" dirty="0">
                  <a:solidFill>
                    <a:srgbClr val="75449B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(trained)</a:t>
              </a:r>
              <a:endParaRPr lang="en-US" sz="955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26" name="Freeform 426"/>
            <p:cNvSpPr/>
            <p:nvPr/>
          </p:nvSpPr>
          <p:spPr>
            <a:xfrm>
              <a:off x="19633" y="7372"/>
              <a:ext cx="342" cy="14"/>
            </a:xfrm>
            <a:custGeom>
              <a:avLst/>
              <a:gdLst/>
              <a:ahLst/>
              <a:cxnLst/>
              <a:rect l="l" t="t" r="r" b="b"/>
              <a:pathLst>
                <a:path w="238125" h="9525">
                  <a:moveTo>
                    <a:pt x="0" y="0"/>
                  </a:moveTo>
                  <a:lnTo>
                    <a:pt x="238125" y="0"/>
                  </a:lnTo>
                </a:path>
              </a:pathLst>
            </a:custGeom>
            <a:noFill/>
            <a:ln w="13335" cap="rnd">
              <a:solidFill>
                <a:srgbClr val="75449B"/>
              </a:solidFill>
              <a:round/>
            </a:ln>
          </p:spPr>
        </p:sp>
        <p:sp>
          <p:nvSpPr>
            <p:cNvPr id="427" name="Freeform 427"/>
            <p:cNvSpPr/>
            <p:nvPr/>
          </p:nvSpPr>
          <p:spPr>
            <a:xfrm>
              <a:off x="19866" y="7324"/>
              <a:ext cx="109" cy="96"/>
            </a:xfrm>
            <a:custGeom>
              <a:avLst/>
              <a:gdLst/>
              <a:ahLst/>
              <a:cxnLst/>
              <a:rect l="l" t="t" r="r" b="b"/>
              <a:pathLst>
                <a:path w="76200" h="66675">
                  <a:moveTo>
                    <a:pt x="76200" y="33338"/>
                  </a:moveTo>
                  <a:lnTo>
                    <a:pt x="0" y="0"/>
                  </a:lnTo>
                  <a:lnTo>
                    <a:pt x="0" y="66675"/>
                  </a:lnTo>
                  <a:close/>
                </a:path>
              </a:pathLst>
            </a:custGeom>
            <a:solidFill>
              <a:srgbClr val="75449B"/>
            </a:solidFill>
            <a:ln w="0" cap="rnd">
              <a:solidFill>
                <a:srgbClr val="75449B"/>
              </a:solidFill>
              <a:round/>
            </a:ln>
          </p:spPr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28" name="TextBox 428"/>
                <p:cNvSpPr txBox="1"/>
                <p:nvPr/>
              </p:nvSpPr>
              <p:spPr>
                <a:xfrm>
                  <a:off x="20129" y="7127"/>
                  <a:ext cx="321" cy="387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500" b="1" i="1" dirty="0">
                                <a:solidFill>
                                  <a:srgbClr val="111111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acc>
                              <m:accPr>
                                <m:ctrlPr>
                                  <a:rPr lang="en-US" altLang="zh-CN" sz="1500" b="1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zh-CN" sz="1500" b="1" i="1" dirty="0">
                                    <a:solidFill>
                                      <a:srgbClr val="111111"/>
                                    </a:solidFill>
                                    <a:latin typeface="Cambria Math" panose="02040503050406030204" charset="0"/>
                                    <a:ea typeface="宋体" panose="02010600030101010101" pitchFamily="2" charset="-122"/>
                                    <a:cs typeface="Cambria Math" panose="02040503050406030204" charset="0"/>
                                  </a:rPr>
                                  <m:t>𝒌</m:t>
                                </m:r>
                              </m:e>
                            </m:acc>
                          </m:e>
                          <m:sup>
                            <m:r>
                              <a:rPr lang="en-US" altLang="zh-CN" sz="1500" b="1" i="1" dirty="0">
                                <a:solidFill>
                                  <a:srgbClr val="111111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sz="1500" b="1" i="1" dirty="0">
                    <a:solidFill>
                      <a:srgbClr val="111111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</mc:Choice>
          <mc:Fallback>
            <p:sp>
              <p:nvSpPr>
                <p:cNvPr id="428" name="TextBox 42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0129" y="7127"/>
                  <a:ext cx="321" cy="387"/>
                </a:xfrm>
                <a:prstGeom prst="rect">
                  <a:avLst/>
                </a:prstGeom>
                <a:blipFill rotWithShape="1">
                  <a:blip r:embed="rId1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1" name="Freeform 431"/>
            <p:cNvSpPr/>
            <p:nvPr/>
          </p:nvSpPr>
          <p:spPr>
            <a:xfrm>
              <a:off x="20276" y="7528"/>
              <a:ext cx="120" cy="527"/>
            </a:xfrm>
            <a:custGeom>
              <a:avLst/>
              <a:gdLst/>
              <a:ahLst/>
              <a:cxnLst/>
              <a:rect l="l" t="t" r="r" b="b"/>
              <a:pathLst>
                <a:path w="9525" h="247650">
                  <a:moveTo>
                    <a:pt x="0" y="0"/>
                  </a:moveTo>
                  <a:lnTo>
                    <a:pt x="0" y="247650"/>
                  </a:lnTo>
                </a:path>
              </a:pathLst>
            </a:custGeom>
            <a:noFill/>
            <a:ln w="13335" cap="rnd">
              <a:solidFill>
                <a:srgbClr val="999999"/>
              </a:solidFill>
              <a:custDash>
                <a:ds d="357142" sp="285714"/>
              </a:custDash>
              <a:round/>
            </a:ln>
          </p:spPr>
        </p:sp>
        <p:sp>
          <p:nvSpPr>
            <p:cNvPr id="432" name="Freeform 432"/>
            <p:cNvSpPr/>
            <p:nvPr/>
          </p:nvSpPr>
          <p:spPr>
            <a:xfrm>
              <a:off x="20228" y="7946"/>
              <a:ext cx="96" cy="109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33338" y="76200"/>
                  </a:moveTo>
                  <a:lnTo>
                    <a:pt x="66675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999999"/>
            </a:solidFill>
            <a:ln w="0" cap="rnd">
              <a:solidFill>
                <a:srgbClr val="999999"/>
              </a:solidFill>
              <a:round/>
            </a:ln>
          </p:spPr>
        </p:sp>
        <p:sp>
          <p:nvSpPr>
            <p:cNvPr id="433" name="Rectangle 433"/>
            <p:cNvSpPr/>
            <p:nvPr/>
          </p:nvSpPr>
          <p:spPr>
            <a:xfrm>
              <a:off x="19797" y="8123"/>
              <a:ext cx="957" cy="684"/>
            </a:xfrm>
            <a:prstGeom prst="roundRect">
              <a:avLst>
                <a:gd name="adj" fmla="val 18000"/>
              </a:avLst>
            </a:prstGeom>
            <a:solidFill>
              <a:srgbClr val="F7F2FB"/>
            </a:solidFill>
            <a:ln w="11430">
              <a:solidFill>
                <a:srgbClr val="75449B"/>
              </a:solidFill>
              <a:custDash>
                <a:ds d="416666" sp="250000"/>
              </a:custDash>
            </a:ln>
          </p:spPr>
        </p:sp>
        <p:sp>
          <p:nvSpPr>
            <p:cNvPr id="434" name="TextBox 434"/>
            <p:cNvSpPr txBox="1"/>
            <p:nvPr/>
          </p:nvSpPr>
          <p:spPr>
            <a:xfrm>
              <a:off x="20029" y="8195"/>
              <a:ext cx="494" cy="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60" b="1" dirty="0">
                  <a:solidFill>
                    <a:srgbClr val="75449B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Loss</a:t>
              </a:r>
              <a:endParaRPr lang="zh-CN" sz="106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35" name="TextBox 435"/>
            <p:cNvSpPr txBox="1"/>
            <p:nvPr/>
          </p:nvSpPr>
          <p:spPr>
            <a:xfrm>
              <a:off x="19976" y="8469"/>
              <a:ext cx="601" cy="25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60" b="1" dirty="0">
                  <a:solidFill>
                    <a:srgbClr val="75449B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(MSE)</a:t>
              </a:r>
              <a:endParaRPr lang="zh-CN" sz="1060" b="1" dirty="0">
                <a:solidFill>
                  <a:srgbClr val="75449B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36" name="TextBox 436"/>
                <p:cNvSpPr txBox="1"/>
                <p:nvPr/>
              </p:nvSpPr>
              <p:spPr>
                <a:xfrm>
                  <a:off x="19067" y="9288"/>
                  <a:ext cx="286" cy="34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p>
                          <m:sSupPr>
                            <m:ctrlPr>
                              <a:rPr lang="en-US" altLang="zh-CN" sz="1430" b="1" i="1" dirty="0">
                                <a:solidFill>
                                  <a:srgbClr val="111111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</m:ctrlPr>
                          </m:sSupPr>
                          <m:e>
                            <m:r>
                              <a:rPr lang="en-US" altLang="zh-CN" sz="1430" b="1" i="1" dirty="0">
                                <a:solidFill>
                                  <a:srgbClr val="111111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𝒌</m:t>
                            </m:r>
                          </m:e>
                          <m:sup>
                            <m:r>
                              <a:rPr lang="en-US" altLang="zh-CN" sz="1430" b="1" i="1" dirty="0">
                                <a:solidFill>
                                  <a:srgbClr val="111111"/>
                                </a:solidFill>
                                <a:latin typeface="Cambria Math" panose="02040503050406030204" charset="0"/>
                                <a:ea typeface="宋体" panose="02010600030101010101" pitchFamily="2" charset="-122"/>
                                <a:cs typeface="Cambria Math" panose="02040503050406030204" charset="0"/>
                              </a:rPr>
                              <m:t>∗</m:t>
                            </m:r>
                          </m:sup>
                        </m:sSup>
                      </m:oMath>
                    </m:oMathPara>
                  </a14:m>
                  <a:endParaRPr lang="zh-CN" sz="1430" i="1" dirty="0">
                    <a:solidFill>
                      <a:srgbClr val="111111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</a:endParaRPr>
                </a:p>
              </p:txBody>
            </p:sp>
          </mc:Choice>
          <mc:Fallback>
            <p:sp>
              <p:nvSpPr>
                <p:cNvPr id="436" name="TextBox 43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9067" y="9288"/>
                  <a:ext cx="286" cy="346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38" name="TextBox 438"/>
            <p:cNvSpPr txBox="1"/>
            <p:nvPr/>
          </p:nvSpPr>
          <p:spPr>
            <a:xfrm>
              <a:off x="19317" y="9306"/>
              <a:ext cx="840" cy="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(labels)</a:t>
              </a:r>
              <a:endPara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39" name="TextBox 439"/>
            <p:cNvSpPr txBox="1"/>
            <p:nvPr/>
          </p:nvSpPr>
          <p:spPr>
            <a:xfrm>
              <a:off x="19020" y="9628"/>
              <a:ext cx="1507" cy="2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11111"/>
                  </a:solidFill>
                  <a:latin typeface="Arial" panose="020B0604020202020204" pitchFamily="34" charset="0"/>
                  <a:ea typeface="微软雅黑" panose="020B0503020204020204" charset="-122"/>
                  <a:cs typeface="Arial" panose="020B0604020202020204" pitchFamily="34" charset="0"/>
                </a:rPr>
                <a:t>(supervision)</a:t>
              </a:r>
              <a:endParaRPr lang="zh-CN" sz="1200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endParaRPr>
            </a:p>
          </p:txBody>
        </p:sp>
        <p:sp>
          <p:nvSpPr>
            <p:cNvPr id="440" name="Freeform 440"/>
            <p:cNvSpPr/>
            <p:nvPr/>
          </p:nvSpPr>
          <p:spPr>
            <a:xfrm>
              <a:off x="20166" y="8930"/>
              <a:ext cx="205" cy="529"/>
            </a:xfrm>
            <a:custGeom>
              <a:avLst/>
              <a:gdLst/>
              <a:ahLst/>
              <a:cxnLst/>
              <a:rect l="l" t="t" r="r" b="b"/>
              <a:pathLst>
                <a:path w="142875" h="368300">
                  <a:moveTo>
                    <a:pt x="0" y="342900"/>
                  </a:moveTo>
                  <a:cubicBezTo>
                    <a:pt x="95250" y="368300"/>
                    <a:pt x="142875" y="333375"/>
                    <a:pt x="142875" y="238125"/>
                  </a:cubicBezTo>
                  <a:lnTo>
                    <a:pt x="142875" y="0"/>
                  </a:lnTo>
                </a:path>
              </a:pathLst>
            </a:custGeom>
            <a:noFill/>
            <a:ln w="13335" cap="rnd">
              <a:solidFill>
                <a:srgbClr val="999999"/>
              </a:solidFill>
              <a:custDash>
                <a:ds d="357142" sp="285714"/>
              </a:custDash>
              <a:round/>
            </a:ln>
          </p:spPr>
        </p:sp>
        <p:sp>
          <p:nvSpPr>
            <p:cNvPr id="441" name="Freeform 441"/>
            <p:cNvSpPr/>
            <p:nvPr/>
          </p:nvSpPr>
          <p:spPr>
            <a:xfrm>
              <a:off x="20372" y="8875"/>
              <a:ext cx="14" cy="260"/>
            </a:xfrm>
            <a:custGeom>
              <a:avLst/>
              <a:gdLst/>
              <a:ahLst/>
              <a:cxnLst/>
              <a:rect l="l" t="t" r="r" b="b"/>
              <a:pathLst>
                <a:path w="9525" h="180975">
                  <a:moveTo>
                    <a:pt x="0" y="180975"/>
                  </a:moveTo>
                  <a:lnTo>
                    <a:pt x="0" y="0"/>
                  </a:lnTo>
                </a:path>
              </a:pathLst>
            </a:custGeom>
            <a:noFill/>
            <a:ln w="13335" cap="rnd">
              <a:solidFill>
                <a:srgbClr val="999999"/>
              </a:solidFill>
              <a:custDash>
                <a:ds d="357142" sp="285714"/>
              </a:custDash>
              <a:round/>
            </a:ln>
          </p:spPr>
        </p:sp>
        <p:sp>
          <p:nvSpPr>
            <p:cNvPr id="442" name="Freeform 442"/>
            <p:cNvSpPr/>
            <p:nvPr/>
          </p:nvSpPr>
          <p:spPr>
            <a:xfrm>
              <a:off x="20324" y="8875"/>
              <a:ext cx="96" cy="109"/>
            </a:xfrm>
            <a:custGeom>
              <a:avLst/>
              <a:gdLst/>
              <a:ahLst/>
              <a:cxnLst/>
              <a:rect l="l" t="t" r="r" b="b"/>
              <a:pathLst>
                <a:path w="66675" h="76200">
                  <a:moveTo>
                    <a:pt x="33338" y="0"/>
                  </a:moveTo>
                  <a:lnTo>
                    <a:pt x="0" y="76200"/>
                  </a:lnTo>
                  <a:lnTo>
                    <a:pt x="66675" y="76200"/>
                  </a:lnTo>
                  <a:close/>
                </a:path>
              </a:pathLst>
            </a:custGeom>
            <a:solidFill>
              <a:srgbClr val="999999"/>
            </a:solidFill>
            <a:ln w="0" cap="rnd">
              <a:solidFill>
                <a:srgbClr val="999999"/>
              </a:solidFill>
              <a:round/>
            </a:ln>
          </p:spPr>
        </p:sp>
        <p:sp>
          <p:nvSpPr>
            <p:cNvPr id="445" name="Ellipse 445"/>
            <p:cNvSpPr/>
            <p:nvPr/>
          </p:nvSpPr>
          <p:spPr>
            <a:xfrm>
              <a:off x="16104" y="9560"/>
              <a:ext cx="38" cy="38"/>
            </a:xfrm>
            <a:prstGeom prst="ellipse">
              <a:avLst/>
            </a:prstGeom>
            <a:noFill/>
            <a:ln>
              <a:noFill/>
            </a:ln>
          </p:spPr>
        </p:sp>
        <p:sp>
          <p:nvSpPr>
            <p:cNvPr id="446" name="Rectangle 446"/>
            <p:cNvSpPr/>
            <p:nvPr/>
          </p:nvSpPr>
          <p:spPr>
            <a:xfrm>
              <a:off x="16114" y="9580"/>
              <a:ext cx="19" cy="48"/>
            </a:xfrm>
            <a:prstGeom prst="rect">
              <a:avLst/>
            </a:prstGeom>
            <a:noFill/>
            <a:ln>
              <a:noFill/>
            </a:ln>
          </p:spPr>
        </p:sp>
        <p:sp>
          <p:nvSpPr>
            <p:cNvPr id="946" name="Freeform 10"/>
            <p:cNvSpPr/>
            <p:nvPr/>
          </p:nvSpPr>
          <p:spPr>
            <a:xfrm>
              <a:off x="18703" y="7889"/>
              <a:ext cx="302" cy="372"/>
            </a:xfrm>
            <a:custGeom>
              <a:avLst/>
              <a:gdLst/>
              <a:ahLst/>
              <a:cxnLst/>
              <a:rect l="l" t="t" r="r" b="b"/>
              <a:pathLst>
                <a:path w="210502" h="259080">
                  <a:moveTo>
                    <a:pt x="80962" y="0"/>
                  </a:moveTo>
                  <a:cubicBezTo>
                    <a:pt x="121444" y="80962"/>
                    <a:pt x="97155" y="97155"/>
                    <a:pt x="129540" y="129540"/>
                  </a:cubicBezTo>
                  <a:cubicBezTo>
                    <a:pt x="145732" y="97155"/>
                    <a:pt x="145732" y="80962"/>
                    <a:pt x="137636" y="64770"/>
                  </a:cubicBezTo>
                  <a:cubicBezTo>
                    <a:pt x="210502" y="145732"/>
                    <a:pt x="202406" y="226695"/>
                    <a:pt x="137636" y="259080"/>
                  </a:cubicBezTo>
                  <a:cubicBezTo>
                    <a:pt x="170021" y="210503"/>
                    <a:pt x="121444" y="202406"/>
                    <a:pt x="121444" y="170021"/>
                  </a:cubicBezTo>
                  <a:cubicBezTo>
                    <a:pt x="97155" y="202406"/>
                    <a:pt x="80962" y="202406"/>
                    <a:pt x="89059" y="250984"/>
                  </a:cubicBezTo>
                  <a:cubicBezTo>
                    <a:pt x="8096" y="234791"/>
                    <a:pt x="0" y="178118"/>
                    <a:pt x="40481" y="129540"/>
                  </a:cubicBezTo>
                  <a:cubicBezTo>
                    <a:pt x="24289" y="186214"/>
                    <a:pt x="64770" y="194310"/>
                    <a:pt x="64770" y="145732"/>
                  </a:cubicBezTo>
                  <a:cubicBezTo>
                    <a:pt x="48577" y="89059"/>
                    <a:pt x="89059" y="48578"/>
                    <a:pt x="80962" y="0"/>
                  </a:cubicBezTo>
                  <a:close/>
                </a:path>
              </a:pathLst>
            </a:custGeom>
            <a:solidFill>
              <a:srgbClr val="75449B"/>
            </a:solidFill>
            <a:ln w="0" cap="rnd">
              <a:solidFill>
                <a:srgbClr val="75449B"/>
              </a:solidFill>
              <a:round/>
            </a:ln>
          </p:spPr>
        </p:sp>
        <p:grpSp>
          <p:nvGrpSpPr>
            <p:cNvPr id="950" name="组合 949"/>
            <p:cNvGrpSpPr/>
            <p:nvPr/>
          </p:nvGrpSpPr>
          <p:grpSpPr>
            <a:xfrm>
              <a:off x="16010" y="9153"/>
              <a:ext cx="2470" cy="766"/>
              <a:chOff x="16010" y="9426"/>
              <a:chExt cx="2470" cy="766"/>
            </a:xfrm>
          </p:grpSpPr>
          <p:sp>
            <p:nvSpPr>
              <p:cNvPr id="443" name="Freeform 443"/>
              <p:cNvSpPr/>
              <p:nvPr/>
            </p:nvSpPr>
            <p:spPr>
              <a:xfrm>
                <a:off x="16076" y="9426"/>
                <a:ext cx="96" cy="105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3343">
                    <a:moveTo>
                      <a:pt x="0" y="73343"/>
                    </a:moveTo>
                    <a:lnTo>
                      <a:pt x="0" y="46673"/>
                    </a:lnTo>
                    <a:cubicBezTo>
                      <a:pt x="0" y="0"/>
                      <a:pt x="66675" y="0"/>
                      <a:pt x="66675" y="46673"/>
                    </a:cubicBezTo>
                    <a:lnTo>
                      <a:pt x="66675" y="73343"/>
                    </a:lnTo>
                  </a:path>
                </a:pathLst>
              </a:custGeom>
              <a:noFill/>
              <a:ln w="13335" cap="rnd">
                <a:solidFill>
                  <a:srgbClr val="0072B2"/>
                </a:solidFill>
                <a:round/>
              </a:ln>
            </p:spPr>
          </p:sp>
          <p:grpSp>
            <p:nvGrpSpPr>
              <p:cNvPr id="949" name="组合 948"/>
              <p:cNvGrpSpPr/>
              <p:nvPr/>
            </p:nvGrpSpPr>
            <p:grpSpPr>
              <a:xfrm>
                <a:off x="16010" y="9465"/>
                <a:ext cx="2470" cy="727"/>
                <a:chOff x="16010" y="9465"/>
                <a:chExt cx="2470" cy="727"/>
              </a:xfrm>
            </p:grpSpPr>
            <p:sp>
              <p:nvSpPr>
                <p:cNvPr id="444" name="Rectangle 444"/>
                <p:cNvSpPr/>
                <p:nvPr/>
              </p:nvSpPr>
              <p:spPr>
                <a:xfrm>
                  <a:off x="16037" y="9522"/>
                  <a:ext cx="172" cy="153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0072B2"/>
                </a:solidFill>
                <a:ln>
                  <a:noFill/>
                </a:ln>
              </p:spPr>
            </p:sp>
            <p:sp>
              <p:nvSpPr>
                <p:cNvPr id="447" name="TextBox 447"/>
                <p:cNvSpPr txBox="1"/>
                <p:nvPr/>
              </p:nvSpPr>
              <p:spPr>
                <a:xfrm>
                  <a:off x="16360" y="9465"/>
                  <a:ext cx="2120" cy="2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1111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pretrained (frozen)</a:t>
                  </a:r>
                  <a:endParaRPr lang="zh-CN" sz="12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450" name="TextBox 450"/>
                <p:cNvSpPr txBox="1"/>
                <p:nvPr/>
              </p:nvSpPr>
              <p:spPr>
                <a:xfrm>
                  <a:off x="16360" y="9902"/>
                  <a:ext cx="1494" cy="29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rgbClr val="111111"/>
                      </a:solidFill>
                      <a:latin typeface="Arial" panose="020B0604020202020204" pitchFamily="34" charset="0"/>
                      <a:ea typeface="微软雅黑" panose="020B0503020204020204" charset="-122"/>
                      <a:cs typeface="Arial" panose="020B0604020202020204" pitchFamily="34" charset="0"/>
                    </a:rPr>
                    <a:t>trained (new)</a:t>
                  </a:r>
                  <a:endParaRPr lang="zh-CN" sz="1200" b="1" dirty="0">
                    <a:solidFill>
                      <a:srgbClr val="111111"/>
                    </a:solidFill>
                    <a:latin typeface="Arial" panose="020B0604020202020204" pitchFamily="34" charset="0"/>
                    <a:ea typeface="微软雅黑" panose="020B0503020204020204" charset="-122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947" name="Freeform 11"/>
                <p:cNvSpPr/>
                <p:nvPr/>
              </p:nvSpPr>
              <p:spPr>
                <a:xfrm>
                  <a:off x="16010" y="9816"/>
                  <a:ext cx="242" cy="2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8402" h="207264">
                      <a:moveTo>
                        <a:pt x="64770" y="0"/>
                      </a:moveTo>
                      <a:cubicBezTo>
                        <a:pt x="97155" y="64770"/>
                        <a:pt x="77724" y="77724"/>
                        <a:pt x="103632" y="103632"/>
                      </a:cubicBezTo>
                      <a:cubicBezTo>
                        <a:pt x="116586" y="77724"/>
                        <a:pt x="116586" y="64770"/>
                        <a:pt x="110109" y="51816"/>
                      </a:cubicBezTo>
                      <a:cubicBezTo>
                        <a:pt x="168402" y="116586"/>
                        <a:pt x="161925" y="181356"/>
                        <a:pt x="110109" y="207264"/>
                      </a:cubicBezTo>
                      <a:cubicBezTo>
                        <a:pt x="136017" y="168402"/>
                        <a:pt x="97155" y="161925"/>
                        <a:pt x="97155" y="136017"/>
                      </a:cubicBezTo>
                      <a:cubicBezTo>
                        <a:pt x="77724" y="161925"/>
                        <a:pt x="64770" y="161925"/>
                        <a:pt x="71247" y="200787"/>
                      </a:cubicBezTo>
                      <a:cubicBezTo>
                        <a:pt x="6477" y="187833"/>
                        <a:pt x="0" y="142494"/>
                        <a:pt x="32385" y="103632"/>
                      </a:cubicBezTo>
                      <a:cubicBezTo>
                        <a:pt x="19431" y="148971"/>
                        <a:pt x="51816" y="155448"/>
                        <a:pt x="51816" y="116586"/>
                      </a:cubicBezTo>
                      <a:cubicBezTo>
                        <a:pt x="38862" y="71247"/>
                        <a:pt x="71247" y="38862"/>
                        <a:pt x="64770" y="0"/>
                      </a:cubicBezTo>
                      <a:close/>
                    </a:path>
                  </a:pathLst>
                </a:custGeom>
                <a:solidFill>
                  <a:srgbClr val="75449B"/>
                </a:solidFill>
                <a:ln w="0" cap="rnd">
                  <a:solidFill>
                    <a:srgbClr val="75449B"/>
                  </a:solidFill>
                  <a:round/>
                </a:ln>
              </p:spPr>
            </p:sp>
          </p:grpSp>
        </p:grpSp>
      </p:grpSp>
      <p:sp>
        <p:nvSpPr>
          <p:cNvPr id="948" name="TextBox 565"/>
          <p:cNvSpPr txBox="1"/>
          <p:nvPr/>
        </p:nvSpPr>
        <p:spPr>
          <a:xfrm>
            <a:off x="3915728" y="7150735"/>
            <a:ext cx="131445" cy="3149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045" b="1" dirty="0">
                <a:solidFill>
                  <a:srgbClr val="111111"/>
                </a:solidFill>
                <a:latin typeface="Arial" panose="020B0604020202020204" pitchFamily="34" charset="0"/>
                <a:ea typeface="微软雅黑" panose="020B0503020204020204" charset="-122"/>
                <a:cs typeface="Arial" panose="020B0604020202020204" pitchFamily="34" charset="0"/>
              </a:rPr>
              <a:t>⋯</a:t>
            </a:r>
            <a:endParaRPr lang="zh-CN" sz="2045" b="1" dirty="0">
              <a:solidFill>
                <a:srgbClr val="111111"/>
              </a:solidFill>
              <a:latin typeface="Arial" panose="020B0604020202020204" pitchFamily="34" charset="0"/>
              <a:ea typeface="微软雅黑" panose="020B0503020204020204" charset="-122"/>
              <a:cs typeface="Arial" panose="020B0604020202020204" pitchFamily="34" charset="0"/>
            </a:endParaRPr>
          </a:p>
        </p:txBody>
      </p:sp>
      <p:cxnSp>
        <p:nvCxnSpPr>
          <p:cNvPr id="956" name="直接连接符 955"/>
          <p:cNvCxnSpPr/>
          <p:nvPr/>
        </p:nvCxnSpPr>
        <p:spPr>
          <a:xfrm>
            <a:off x="9250680" y="3999230"/>
            <a:ext cx="0" cy="603250"/>
          </a:xfrm>
          <a:prstGeom prst="line">
            <a:avLst/>
          </a:prstGeom>
          <a:ln w="19050" cmpd="sng">
            <a:solidFill>
              <a:srgbClr val="7030A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57" name="TextBox 2"/>
          <p:cNvSpPr txBox="1"/>
          <p:nvPr/>
        </p:nvSpPr>
        <p:spPr>
          <a:xfrm>
            <a:off x="11450220" y="869678"/>
            <a:ext cx="1541145" cy="3225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05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Architecture-dependent </a:t>
            </a:r>
            <a:endParaRPr lang="zh-CN" sz="1050" b="1" dirty="0">
              <a:solidFill>
                <a:srgbClr val="11111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  <a:p>
            <a:pPr algn="ctr"/>
            <a:r>
              <a:rPr lang="zh-CN" sz="1050" b="1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rPr>
              <a:t>response</a:t>
            </a:r>
            <a:endParaRPr lang="zh-CN" sz="1050" b="1" dirty="0">
              <a:solidFill>
                <a:srgbClr val="111111"/>
              </a:solidFill>
              <a:latin typeface="Arial" panose="020B0604020202020204"/>
              <a:ea typeface="微软雅黑" panose="020B0503020204020204" charset="-122"/>
              <a:cs typeface="Arial" panose="020B0604020202020204"/>
            </a:endParaRPr>
          </a:p>
        </p:txBody>
      </p:sp>
      <p:grpSp>
        <p:nvGrpSpPr>
          <p:cNvPr id="1029" name="组合 1028"/>
          <p:cNvGrpSpPr/>
          <p:nvPr/>
        </p:nvGrpSpPr>
        <p:grpSpPr>
          <a:xfrm>
            <a:off x="10929226" y="1123394"/>
            <a:ext cx="2185100" cy="2548930"/>
            <a:chOff x="17418" y="1728"/>
            <a:chExt cx="3441" cy="4014"/>
          </a:xfrm>
        </p:grpSpPr>
        <p:sp>
          <p:nvSpPr>
            <p:cNvPr id="964" name="TextBox 9"/>
            <p:cNvSpPr txBox="1"/>
            <p:nvPr/>
          </p:nvSpPr>
          <p:spPr>
            <a:xfrm>
              <a:off x="17418" y="2116"/>
              <a:ext cx="344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100</a:t>
              </a:r>
              <a:endParaRPr lang="zh-CN" sz="9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  <p:grpSp>
          <p:nvGrpSpPr>
            <p:cNvPr id="1028" name="组合 1027"/>
            <p:cNvGrpSpPr/>
            <p:nvPr/>
          </p:nvGrpSpPr>
          <p:grpSpPr>
            <a:xfrm>
              <a:off x="17522" y="1728"/>
              <a:ext cx="3337" cy="3689"/>
              <a:chOff x="17522" y="1728"/>
              <a:chExt cx="3337" cy="3689"/>
            </a:xfrm>
          </p:grpSpPr>
          <p:sp>
            <p:nvSpPr>
              <p:cNvPr id="958" name="Freeform 3"/>
              <p:cNvSpPr/>
              <p:nvPr/>
            </p:nvSpPr>
            <p:spPr>
              <a:xfrm>
                <a:off x="17883" y="2105"/>
                <a:ext cx="2830" cy="2557"/>
              </a:xfrm>
              <a:custGeom>
                <a:avLst/>
                <a:gdLst/>
                <a:ahLst/>
                <a:cxnLst/>
                <a:rect l="l" t="t" r="r" b="b"/>
                <a:pathLst>
                  <a:path w="1971675" h="1781175">
                    <a:moveTo>
                      <a:pt x="0" y="0"/>
                    </a:moveTo>
                    <a:lnTo>
                      <a:pt x="0" y="1781175"/>
                    </a:lnTo>
                    <a:lnTo>
                      <a:pt x="1971675" y="1781175"/>
                    </a:lnTo>
                  </a:path>
                </a:pathLst>
              </a:custGeom>
              <a:noFill/>
              <a:ln w="10478" cap="rnd">
                <a:solidFill>
                  <a:srgbClr val="333333"/>
                </a:solidFill>
                <a:round/>
              </a:ln>
            </p:spPr>
            <p:txBody>
              <a:bodyPr/>
              <a:p>
                <a:endParaRPr lang="zh-CN" altLang="en-US"/>
              </a:p>
            </p:txBody>
          </p:sp>
          <p:sp>
            <p:nvSpPr>
              <p:cNvPr id="959" name="Freeform 4"/>
              <p:cNvSpPr/>
              <p:nvPr/>
            </p:nvSpPr>
            <p:spPr>
              <a:xfrm>
                <a:off x="17828" y="4662"/>
                <a:ext cx="2885" cy="14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9525">
                    <a:moveTo>
                      <a:pt x="0" y="0"/>
                    </a:moveTo>
                    <a:lnTo>
                      <a:pt x="2009775" y="0"/>
                    </a:lnTo>
                  </a:path>
                </a:pathLst>
              </a:custGeom>
              <a:noFill/>
              <a:ln w="6668" cap="rnd">
                <a:solidFill>
                  <a:schemeClr val="tx1"/>
                </a:solidFill>
                <a:round/>
              </a:ln>
            </p:spPr>
          </p:sp>
          <p:sp>
            <p:nvSpPr>
              <p:cNvPr id="960" name="TextBox 5"/>
              <p:cNvSpPr txBox="1"/>
              <p:nvPr/>
            </p:nvSpPr>
            <p:spPr>
              <a:xfrm>
                <a:off x="17626" y="4577"/>
                <a:ext cx="137" cy="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</a:t>
                </a:r>
                <a:endPara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1" name="Freeform 6"/>
              <p:cNvSpPr/>
              <p:nvPr/>
            </p:nvSpPr>
            <p:spPr>
              <a:xfrm>
                <a:off x="17828" y="3432"/>
                <a:ext cx="2885" cy="14"/>
              </a:xfrm>
              <a:custGeom>
                <a:avLst/>
                <a:gdLst/>
                <a:ahLst/>
                <a:cxnLst/>
                <a:rect l="l" t="t" r="r" b="b"/>
                <a:pathLst>
                  <a:path w="2009775" h="9525">
                    <a:moveTo>
                      <a:pt x="0" y="0"/>
                    </a:moveTo>
                    <a:lnTo>
                      <a:pt x="2009775" y="0"/>
                    </a:lnTo>
                  </a:path>
                </a:pathLst>
              </a:custGeom>
              <a:noFill/>
              <a:ln w="6668" cap="rnd">
                <a:solidFill>
                  <a:srgbClr val="DDDDDD"/>
                </a:solidFill>
                <a:round/>
              </a:ln>
            </p:spPr>
          </p:sp>
          <p:sp>
            <p:nvSpPr>
              <p:cNvPr id="962" name="TextBox 7"/>
              <p:cNvSpPr txBox="1"/>
              <p:nvPr/>
            </p:nvSpPr>
            <p:spPr>
              <a:xfrm>
                <a:off x="17522" y="3347"/>
                <a:ext cx="240" cy="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50</a:t>
                </a:r>
                <a:endPara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5" name="TextBox 10"/>
              <p:cNvSpPr txBox="1"/>
              <p:nvPr/>
            </p:nvSpPr>
            <p:spPr>
              <a:xfrm>
                <a:off x="17736" y="4769"/>
                <a:ext cx="293" cy="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0.1</a:t>
                </a:r>
                <a:endPara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6" name="TextBox 11"/>
              <p:cNvSpPr txBox="1"/>
              <p:nvPr/>
            </p:nvSpPr>
            <p:spPr>
              <a:xfrm>
                <a:off x="19151" y="4769"/>
                <a:ext cx="293" cy="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0.5</a:t>
                </a:r>
                <a:endPara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7" name="TextBox 12"/>
              <p:cNvSpPr txBox="1"/>
              <p:nvPr/>
            </p:nvSpPr>
            <p:spPr>
              <a:xfrm>
                <a:off x="20566" y="4769"/>
                <a:ext cx="293" cy="26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111111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0.9</a:t>
                </a:r>
                <a:endPara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968" name="TextBox 13"/>
              <p:cNvSpPr txBox="1"/>
              <p:nvPr/>
            </p:nvSpPr>
            <p:spPr>
              <a:xfrm>
                <a:off x="17546" y="1728"/>
                <a:ext cx="564" cy="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rgbClr val="111111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</a:rPr>
                  <a:t>(χN)*</a:t>
                </a:r>
                <a:endParaRPr lang="zh-CN" sz="1200" b="1" dirty="0">
                  <a:solidFill>
                    <a:srgbClr val="111111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969" name="TextBox 14"/>
              <p:cNvSpPr txBox="1"/>
              <p:nvPr/>
            </p:nvSpPr>
            <p:spPr>
              <a:xfrm>
                <a:off x="19111" y="5025"/>
                <a:ext cx="196" cy="37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75" i="1" dirty="0">
                    <a:solidFill>
                      <a:srgbClr val="111111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</a:rPr>
                  <a:t>f</a:t>
                </a:r>
                <a:endParaRPr lang="zh-CN" sz="1275" i="1" dirty="0">
                  <a:solidFill>
                    <a:srgbClr val="111111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970" name="TextBox 15"/>
              <p:cNvSpPr txBox="1"/>
              <p:nvPr/>
            </p:nvSpPr>
            <p:spPr>
              <a:xfrm>
                <a:off x="19269" y="5177"/>
                <a:ext cx="127" cy="24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dirty="0">
                    <a:solidFill>
                      <a:srgbClr val="111111"/>
                    </a:solidFill>
                    <a:latin typeface="Times New Roman" panose="02020603050405020304"/>
                    <a:ea typeface="宋体" panose="02010600030101010101" pitchFamily="2" charset="-122"/>
                    <a:cs typeface="Times New Roman" panose="02020603050405020304"/>
                  </a:rPr>
                  <a:t>A</a:t>
                </a:r>
                <a:endParaRPr lang="zh-CN" sz="825" dirty="0">
                  <a:solidFill>
                    <a:srgbClr val="111111"/>
                  </a:solidFill>
                  <a:latin typeface="Times New Roman" panose="02020603050405020304"/>
                  <a:ea typeface="宋体" panose="02010600030101010101" pitchFamily="2" charset="-122"/>
                  <a:cs typeface="Times New Roman" panose="02020603050405020304"/>
                </a:endParaRPr>
              </a:p>
            </p:txBody>
          </p:sp>
          <p:sp>
            <p:nvSpPr>
              <p:cNvPr id="971" name="Freeform 16"/>
              <p:cNvSpPr/>
              <p:nvPr/>
            </p:nvSpPr>
            <p:spPr>
              <a:xfrm>
                <a:off x="17915" y="3082"/>
                <a:ext cx="2766" cy="1322"/>
              </a:xfrm>
              <a:custGeom>
                <a:avLst/>
                <a:gdLst/>
                <a:ahLst/>
                <a:cxnLst/>
                <a:rect l="l" t="t" r="r" b="b"/>
                <a:pathLst>
                  <a:path w="1927365" h="920782">
                    <a:moveTo>
                      <a:pt x="0" y="0"/>
                    </a:moveTo>
                    <a:lnTo>
                      <a:pt x="24403" y="149362"/>
                    </a:lnTo>
                    <a:lnTo>
                      <a:pt x="48797" y="267081"/>
                    </a:lnTo>
                    <a:lnTo>
                      <a:pt x="73190" y="361607"/>
                    </a:lnTo>
                    <a:lnTo>
                      <a:pt x="97593" y="438731"/>
                    </a:lnTo>
                    <a:lnTo>
                      <a:pt x="121987" y="502529"/>
                    </a:lnTo>
                    <a:lnTo>
                      <a:pt x="146380" y="555936"/>
                    </a:lnTo>
                    <a:lnTo>
                      <a:pt x="170783" y="601113"/>
                    </a:lnTo>
                    <a:lnTo>
                      <a:pt x="195177" y="639670"/>
                    </a:lnTo>
                    <a:lnTo>
                      <a:pt x="219570" y="672856"/>
                    </a:lnTo>
                    <a:lnTo>
                      <a:pt x="243973" y="701621"/>
                    </a:lnTo>
                    <a:lnTo>
                      <a:pt x="268367" y="726700"/>
                    </a:lnTo>
                    <a:lnTo>
                      <a:pt x="292760" y="748713"/>
                    </a:lnTo>
                    <a:lnTo>
                      <a:pt x="317163" y="768106"/>
                    </a:lnTo>
                    <a:lnTo>
                      <a:pt x="341557" y="785289"/>
                    </a:lnTo>
                    <a:lnTo>
                      <a:pt x="365960" y="800557"/>
                    </a:lnTo>
                    <a:lnTo>
                      <a:pt x="390354" y="814178"/>
                    </a:lnTo>
                    <a:lnTo>
                      <a:pt x="414747" y="826360"/>
                    </a:lnTo>
                    <a:lnTo>
                      <a:pt x="439150" y="837295"/>
                    </a:lnTo>
                    <a:lnTo>
                      <a:pt x="463544" y="847115"/>
                    </a:lnTo>
                    <a:lnTo>
                      <a:pt x="487937" y="855964"/>
                    </a:lnTo>
                    <a:lnTo>
                      <a:pt x="512340" y="863937"/>
                    </a:lnTo>
                    <a:lnTo>
                      <a:pt x="536734" y="871128"/>
                    </a:lnTo>
                    <a:lnTo>
                      <a:pt x="561127" y="877624"/>
                    </a:lnTo>
                    <a:lnTo>
                      <a:pt x="585530" y="883482"/>
                    </a:lnTo>
                    <a:lnTo>
                      <a:pt x="609924" y="888759"/>
                    </a:lnTo>
                    <a:lnTo>
                      <a:pt x="634327" y="893512"/>
                    </a:lnTo>
                    <a:lnTo>
                      <a:pt x="658720" y="897779"/>
                    </a:lnTo>
                    <a:lnTo>
                      <a:pt x="683114" y="901598"/>
                    </a:lnTo>
                    <a:lnTo>
                      <a:pt x="707517" y="905008"/>
                    </a:lnTo>
                    <a:lnTo>
                      <a:pt x="731911" y="908028"/>
                    </a:lnTo>
                    <a:lnTo>
                      <a:pt x="756304" y="910685"/>
                    </a:lnTo>
                    <a:lnTo>
                      <a:pt x="780707" y="913000"/>
                    </a:lnTo>
                    <a:lnTo>
                      <a:pt x="805101" y="914991"/>
                    </a:lnTo>
                    <a:lnTo>
                      <a:pt x="829494" y="916676"/>
                    </a:lnTo>
                    <a:lnTo>
                      <a:pt x="853897" y="918058"/>
                    </a:lnTo>
                    <a:lnTo>
                      <a:pt x="878291" y="919153"/>
                    </a:lnTo>
                    <a:lnTo>
                      <a:pt x="902694" y="919972"/>
                    </a:lnTo>
                    <a:lnTo>
                      <a:pt x="927087" y="920506"/>
                    </a:lnTo>
                    <a:lnTo>
                      <a:pt x="951481" y="920782"/>
                    </a:lnTo>
                    <a:lnTo>
                      <a:pt x="975884" y="920782"/>
                    </a:lnTo>
                    <a:lnTo>
                      <a:pt x="1000277" y="920506"/>
                    </a:lnTo>
                    <a:lnTo>
                      <a:pt x="1024671" y="919972"/>
                    </a:lnTo>
                    <a:lnTo>
                      <a:pt x="1049074" y="919153"/>
                    </a:lnTo>
                    <a:lnTo>
                      <a:pt x="1073468" y="918058"/>
                    </a:lnTo>
                    <a:lnTo>
                      <a:pt x="1097871" y="916676"/>
                    </a:lnTo>
                    <a:lnTo>
                      <a:pt x="1122264" y="914991"/>
                    </a:lnTo>
                    <a:lnTo>
                      <a:pt x="1146658" y="913000"/>
                    </a:lnTo>
                    <a:lnTo>
                      <a:pt x="1171061" y="910685"/>
                    </a:lnTo>
                    <a:lnTo>
                      <a:pt x="1195454" y="908028"/>
                    </a:lnTo>
                    <a:lnTo>
                      <a:pt x="1219848" y="905008"/>
                    </a:lnTo>
                    <a:lnTo>
                      <a:pt x="1244251" y="901598"/>
                    </a:lnTo>
                    <a:lnTo>
                      <a:pt x="1268644" y="897779"/>
                    </a:lnTo>
                    <a:lnTo>
                      <a:pt x="1293038" y="893512"/>
                    </a:lnTo>
                    <a:lnTo>
                      <a:pt x="1317441" y="888759"/>
                    </a:lnTo>
                    <a:lnTo>
                      <a:pt x="1341834" y="883482"/>
                    </a:lnTo>
                    <a:lnTo>
                      <a:pt x="1366237" y="877624"/>
                    </a:lnTo>
                    <a:lnTo>
                      <a:pt x="1390631" y="871128"/>
                    </a:lnTo>
                    <a:lnTo>
                      <a:pt x="1415024" y="863937"/>
                    </a:lnTo>
                    <a:lnTo>
                      <a:pt x="1439428" y="855964"/>
                    </a:lnTo>
                    <a:lnTo>
                      <a:pt x="1463821" y="847115"/>
                    </a:lnTo>
                    <a:lnTo>
                      <a:pt x="1488215" y="837295"/>
                    </a:lnTo>
                    <a:lnTo>
                      <a:pt x="1512618" y="826360"/>
                    </a:lnTo>
                    <a:lnTo>
                      <a:pt x="1537011" y="814178"/>
                    </a:lnTo>
                    <a:lnTo>
                      <a:pt x="1561405" y="800557"/>
                    </a:lnTo>
                    <a:lnTo>
                      <a:pt x="1585808" y="785289"/>
                    </a:lnTo>
                    <a:lnTo>
                      <a:pt x="1610201" y="768106"/>
                    </a:lnTo>
                    <a:lnTo>
                      <a:pt x="1634604" y="748713"/>
                    </a:lnTo>
                    <a:lnTo>
                      <a:pt x="1658998" y="726700"/>
                    </a:lnTo>
                    <a:lnTo>
                      <a:pt x="1683391" y="701621"/>
                    </a:lnTo>
                    <a:lnTo>
                      <a:pt x="1707794" y="672856"/>
                    </a:lnTo>
                    <a:lnTo>
                      <a:pt x="1732188" y="639670"/>
                    </a:lnTo>
                    <a:lnTo>
                      <a:pt x="1756581" y="601113"/>
                    </a:lnTo>
                    <a:lnTo>
                      <a:pt x="1780985" y="555936"/>
                    </a:lnTo>
                    <a:lnTo>
                      <a:pt x="1805378" y="502529"/>
                    </a:lnTo>
                    <a:lnTo>
                      <a:pt x="1829772" y="438731"/>
                    </a:lnTo>
                    <a:lnTo>
                      <a:pt x="1854175" y="361607"/>
                    </a:lnTo>
                    <a:lnTo>
                      <a:pt x="1878568" y="267081"/>
                    </a:lnTo>
                    <a:lnTo>
                      <a:pt x="1902962" y="149362"/>
                    </a:lnTo>
                    <a:lnTo>
                      <a:pt x="1927365" y="0"/>
                    </a:lnTo>
                  </a:path>
                </a:pathLst>
              </a:custGeom>
              <a:noFill/>
              <a:ln w="16192" cap="rnd">
                <a:solidFill>
                  <a:srgbClr val="2166AC"/>
                </a:solidFill>
                <a:round/>
              </a:ln>
            </p:spPr>
          </p:sp>
          <p:sp>
            <p:nvSpPr>
              <p:cNvPr id="972" name="Ellipse 17"/>
              <p:cNvSpPr/>
              <p:nvPr/>
            </p:nvSpPr>
            <p:spPr>
              <a:xfrm>
                <a:off x="17883" y="305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3" name="Ellipse 18"/>
              <p:cNvSpPr/>
              <p:nvPr/>
            </p:nvSpPr>
            <p:spPr>
              <a:xfrm>
                <a:off x="18128" y="3913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4" name="Ellipse 19"/>
              <p:cNvSpPr/>
              <p:nvPr/>
            </p:nvSpPr>
            <p:spPr>
              <a:xfrm>
                <a:off x="18373" y="4177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5" name="Ellipse 20"/>
              <p:cNvSpPr/>
              <p:nvPr/>
            </p:nvSpPr>
            <p:spPr>
              <a:xfrm>
                <a:off x="18619" y="4290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6" name="Ellipse 21"/>
              <p:cNvSpPr/>
              <p:nvPr/>
            </p:nvSpPr>
            <p:spPr>
              <a:xfrm>
                <a:off x="18864" y="4344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7" name="Ellipse 22"/>
              <p:cNvSpPr/>
              <p:nvPr/>
            </p:nvSpPr>
            <p:spPr>
              <a:xfrm>
                <a:off x="19109" y="4368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8" name="Ellipse 23"/>
              <p:cNvSpPr/>
              <p:nvPr/>
            </p:nvSpPr>
            <p:spPr>
              <a:xfrm>
                <a:off x="19354" y="437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79" name="Ellipse 24"/>
              <p:cNvSpPr/>
              <p:nvPr/>
            </p:nvSpPr>
            <p:spPr>
              <a:xfrm>
                <a:off x="19599" y="4354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80" name="Ellipse 25"/>
              <p:cNvSpPr/>
              <p:nvPr/>
            </p:nvSpPr>
            <p:spPr>
              <a:xfrm>
                <a:off x="19844" y="4310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81" name="Ellipse 26"/>
              <p:cNvSpPr/>
              <p:nvPr/>
            </p:nvSpPr>
            <p:spPr>
              <a:xfrm>
                <a:off x="20089" y="4219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82" name="Ellipse 27"/>
              <p:cNvSpPr/>
              <p:nvPr/>
            </p:nvSpPr>
            <p:spPr>
              <a:xfrm>
                <a:off x="20334" y="4015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83" name="Ellipse 28"/>
              <p:cNvSpPr/>
              <p:nvPr/>
            </p:nvSpPr>
            <p:spPr>
              <a:xfrm>
                <a:off x="20580" y="343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2166AC"/>
                </a:solidFill>
              </a:ln>
            </p:spPr>
          </p:sp>
          <p:sp>
            <p:nvSpPr>
              <p:cNvPr id="984" name="Freeform 29"/>
              <p:cNvSpPr/>
              <p:nvPr/>
            </p:nvSpPr>
            <p:spPr>
              <a:xfrm>
                <a:off x="17915" y="2644"/>
                <a:ext cx="2766" cy="1689"/>
              </a:xfrm>
              <a:custGeom>
                <a:avLst/>
                <a:gdLst/>
                <a:ahLst/>
                <a:cxnLst/>
                <a:rect l="l" t="t" r="r" b="b"/>
                <a:pathLst>
                  <a:path w="1927365" h="1176376">
                    <a:moveTo>
                      <a:pt x="0" y="0"/>
                    </a:moveTo>
                    <a:lnTo>
                      <a:pt x="24403" y="181394"/>
                    </a:lnTo>
                    <a:lnTo>
                      <a:pt x="48797" y="325441"/>
                    </a:lnTo>
                    <a:lnTo>
                      <a:pt x="73190" y="441941"/>
                    </a:lnTo>
                    <a:lnTo>
                      <a:pt x="97593" y="537658"/>
                    </a:lnTo>
                    <a:lnTo>
                      <a:pt x="121987" y="617353"/>
                    </a:lnTo>
                    <a:lnTo>
                      <a:pt x="146380" y="684505"/>
                    </a:lnTo>
                    <a:lnTo>
                      <a:pt x="170783" y="741674"/>
                    </a:lnTo>
                    <a:lnTo>
                      <a:pt x="195177" y="790765"/>
                    </a:lnTo>
                    <a:lnTo>
                      <a:pt x="219570" y="833266"/>
                    </a:lnTo>
                    <a:lnTo>
                      <a:pt x="243973" y="870337"/>
                    </a:lnTo>
                    <a:lnTo>
                      <a:pt x="268367" y="902856"/>
                    </a:lnTo>
                    <a:lnTo>
                      <a:pt x="292760" y="931555"/>
                    </a:lnTo>
                    <a:lnTo>
                      <a:pt x="317163" y="957005"/>
                    </a:lnTo>
                    <a:lnTo>
                      <a:pt x="341557" y="979684"/>
                    </a:lnTo>
                    <a:lnTo>
                      <a:pt x="365960" y="999973"/>
                    </a:lnTo>
                    <a:lnTo>
                      <a:pt x="390354" y="1018184"/>
                    </a:lnTo>
                    <a:lnTo>
                      <a:pt x="414747" y="1034586"/>
                    </a:lnTo>
                    <a:lnTo>
                      <a:pt x="439150" y="1049398"/>
                    </a:lnTo>
                    <a:lnTo>
                      <a:pt x="463544" y="1062799"/>
                    </a:lnTo>
                    <a:lnTo>
                      <a:pt x="487937" y="1074963"/>
                    </a:lnTo>
                    <a:lnTo>
                      <a:pt x="512340" y="1086012"/>
                    </a:lnTo>
                    <a:lnTo>
                      <a:pt x="536734" y="1096070"/>
                    </a:lnTo>
                    <a:lnTo>
                      <a:pt x="561127" y="1105233"/>
                    </a:lnTo>
                    <a:lnTo>
                      <a:pt x="585530" y="1113577"/>
                    </a:lnTo>
                    <a:lnTo>
                      <a:pt x="609924" y="1121188"/>
                    </a:lnTo>
                    <a:lnTo>
                      <a:pt x="634327" y="1128122"/>
                    </a:lnTo>
                    <a:lnTo>
                      <a:pt x="658720" y="1134437"/>
                    </a:lnTo>
                    <a:lnTo>
                      <a:pt x="683114" y="1140181"/>
                    </a:lnTo>
                    <a:lnTo>
                      <a:pt x="707517" y="1145391"/>
                    </a:lnTo>
                    <a:lnTo>
                      <a:pt x="731911" y="1150115"/>
                    </a:lnTo>
                    <a:lnTo>
                      <a:pt x="756304" y="1154373"/>
                    </a:lnTo>
                    <a:lnTo>
                      <a:pt x="780707" y="1158202"/>
                    </a:lnTo>
                    <a:lnTo>
                      <a:pt x="805101" y="1161621"/>
                    </a:lnTo>
                    <a:lnTo>
                      <a:pt x="829494" y="1164650"/>
                    </a:lnTo>
                    <a:lnTo>
                      <a:pt x="853897" y="1167308"/>
                    </a:lnTo>
                    <a:lnTo>
                      <a:pt x="878291" y="1169603"/>
                    </a:lnTo>
                    <a:lnTo>
                      <a:pt x="902694" y="1171556"/>
                    </a:lnTo>
                    <a:lnTo>
                      <a:pt x="927087" y="1173166"/>
                    </a:lnTo>
                    <a:lnTo>
                      <a:pt x="951481" y="1174452"/>
                    </a:lnTo>
                    <a:lnTo>
                      <a:pt x="975884" y="1175414"/>
                    </a:lnTo>
                    <a:lnTo>
                      <a:pt x="1000277" y="1176061"/>
                    </a:lnTo>
                    <a:lnTo>
                      <a:pt x="1024671" y="1176376"/>
                    </a:lnTo>
                    <a:lnTo>
                      <a:pt x="1049074" y="1176366"/>
                    </a:lnTo>
                    <a:lnTo>
                      <a:pt x="1073468" y="1176042"/>
                    </a:lnTo>
                    <a:lnTo>
                      <a:pt x="1097871" y="1175375"/>
                    </a:lnTo>
                    <a:lnTo>
                      <a:pt x="1122264" y="1174375"/>
                    </a:lnTo>
                    <a:lnTo>
                      <a:pt x="1146658" y="1173023"/>
                    </a:lnTo>
                    <a:lnTo>
                      <a:pt x="1171061" y="1171299"/>
                    </a:lnTo>
                    <a:lnTo>
                      <a:pt x="1195454" y="1169203"/>
                    </a:lnTo>
                    <a:lnTo>
                      <a:pt x="1219848" y="1166698"/>
                    </a:lnTo>
                    <a:lnTo>
                      <a:pt x="1244251" y="1163774"/>
                    </a:lnTo>
                    <a:lnTo>
                      <a:pt x="1268644" y="1160402"/>
                    </a:lnTo>
                    <a:lnTo>
                      <a:pt x="1293038" y="1156545"/>
                    </a:lnTo>
                    <a:lnTo>
                      <a:pt x="1317441" y="1152163"/>
                    </a:lnTo>
                    <a:lnTo>
                      <a:pt x="1341834" y="1147220"/>
                    </a:lnTo>
                    <a:lnTo>
                      <a:pt x="1366237" y="1141667"/>
                    </a:lnTo>
                    <a:lnTo>
                      <a:pt x="1390631" y="1135447"/>
                    </a:lnTo>
                    <a:lnTo>
                      <a:pt x="1415024" y="1128484"/>
                    </a:lnTo>
                    <a:lnTo>
                      <a:pt x="1439428" y="1120702"/>
                    </a:lnTo>
                    <a:lnTo>
                      <a:pt x="1463821" y="1112006"/>
                    </a:lnTo>
                    <a:lnTo>
                      <a:pt x="1488215" y="1102290"/>
                    </a:lnTo>
                    <a:lnTo>
                      <a:pt x="1512618" y="1091432"/>
                    </a:lnTo>
                    <a:lnTo>
                      <a:pt x="1537011" y="1079268"/>
                    </a:lnTo>
                    <a:lnTo>
                      <a:pt x="1561405" y="1065628"/>
                    </a:lnTo>
                    <a:lnTo>
                      <a:pt x="1585808" y="1050293"/>
                    </a:lnTo>
                    <a:lnTo>
                      <a:pt x="1610201" y="1032986"/>
                    </a:lnTo>
                    <a:lnTo>
                      <a:pt x="1634604" y="1013412"/>
                    </a:lnTo>
                    <a:lnTo>
                      <a:pt x="1658998" y="991162"/>
                    </a:lnTo>
                    <a:lnTo>
                      <a:pt x="1683391" y="965759"/>
                    </a:lnTo>
                    <a:lnTo>
                      <a:pt x="1707794" y="936612"/>
                    </a:lnTo>
                    <a:lnTo>
                      <a:pt x="1732188" y="902951"/>
                    </a:lnTo>
                    <a:lnTo>
                      <a:pt x="1756581" y="863813"/>
                    </a:lnTo>
                    <a:lnTo>
                      <a:pt x="1780985" y="817950"/>
                    </a:lnTo>
                    <a:lnTo>
                      <a:pt x="1805378" y="763724"/>
                    </a:lnTo>
                    <a:lnTo>
                      <a:pt x="1829772" y="698954"/>
                    </a:lnTo>
                    <a:lnTo>
                      <a:pt x="1854175" y="620668"/>
                    </a:lnTo>
                    <a:lnTo>
                      <a:pt x="1878568" y="524761"/>
                    </a:lnTo>
                    <a:lnTo>
                      <a:pt x="1902962" y="405403"/>
                    </a:lnTo>
                    <a:lnTo>
                      <a:pt x="1927365" y="254060"/>
                    </a:lnTo>
                  </a:path>
                </a:pathLst>
              </a:custGeom>
              <a:noFill/>
              <a:ln w="16192" cap="rnd">
                <a:solidFill>
                  <a:srgbClr val="D6604D"/>
                </a:solidFill>
                <a:round/>
              </a:ln>
            </p:spPr>
          </p:sp>
          <p:sp>
            <p:nvSpPr>
              <p:cNvPr id="985" name="Ellipse 30"/>
              <p:cNvSpPr/>
              <p:nvPr/>
            </p:nvSpPr>
            <p:spPr>
              <a:xfrm>
                <a:off x="17883" y="2620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86" name="Ellipse 31"/>
              <p:cNvSpPr/>
              <p:nvPr/>
            </p:nvSpPr>
            <p:spPr>
              <a:xfrm>
                <a:off x="18128" y="3678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87" name="Ellipse 32"/>
              <p:cNvSpPr/>
              <p:nvPr/>
            </p:nvSpPr>
            <p:spPr>
              <a:xfrm>
                <a:off x="18373" y="4019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88" name="Ellipse 33"/>
              <p:cNvSpPr/>
              <p:nvPr/>
            </p:nvSpPr>
            <p:spPr>
              <a:xfrm>
                <a:off x="18619" y="4172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89" name="Ellipse 34"/>
              <p:cNvSpPr/>
              <p:nvPr/>
            </p:nvSpPr>
            <p:spPr>
              <a:xfrm>
                <a:off x="18864" y="4249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0" name="Ellipse 35"/>
              <p:cNvSpPr/>
              <p:nvPr/>
            </p:nvSpPr>
            <p:spPr>
              <a:xfrm>
                <a:off x="19109" y="4288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1" name="Ellipse 36"/>
              <p:cNvSpPr/>
              <p:nvPr/>
            </p:nvSpPr>
            <p:spPr>
              <a:xfrm>
                <a:off x="19354" y="430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2" name="Ellipse 37"/>
              <p:cNvSpPr/>
              <p:nvPr/>
            </p:nvSpPr>
            <p:spPr>
              <a:xfrm>
                <a:off x="19599" y="429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3" name="Ellipse 38"/>
              <p:cNvSpPr/>
              <p:nvPr/>
            </p:nvSpPr>
            <p:spPr>
              <a:xfrm>
                <a:off x="19844" y="425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4" name="Ellipse 39"/>
              <p:cNvSpPr/>
              <p:nvPr/>
            </p:nvSpPr>
            <p:spPr>
              <a:xfrm>
                <a:off x="20089" y="416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5" name="Ellipse 40"/>
              <p:cNvSpPr/>
              <p:nvPr/>
            </p:nvSpPr>
            <p:spPr>
              <a:xfrm>
                <a:off x="20334" y="3957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6" name="Ellipse 41"/>
              <p:cNvSpPr/>
              <p:nvPr/>
            </p:nvSpPr>
            <p:spPr>
              <a:xfrm>
                <a:off x="20580" y="3363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D6604D"/>
                </a:solidFill>
              </a:ln>
            </p:spPr>
          </p:sp>
          <p:sp>
            <p:nvSpPr>
              <p:cNvPr id="997" name="Freeform 42"/>
              <p:cNvSpPr/>
              <p:nvPr/>
            </p:nvSpPr>
            <p:spPr>
              <a:xfrm>
                <a:off x="17915" y="2307"/>
                <a:ext cx="2766" cy="2016"/>
              </a:xfrm>
              <a:custGeom>
                <a:avLst/>
                <a:gdLst/>
                <a:ahLst/>
                <a:cxnLst/>
                <a:rect l="l" t="t" r="r" b="b"/>
                <a:pathLst>
                  <a:path w="1927365" h="1404337">
                    <a:moveTo>
                      <a:pt x="0" y="0"/>
                    </a:moveTo>
                    <a:lnTo>
                      <a:pt x="24403" y="210512"/>
                    </a:lnTo>
                    <a:lnTo>
                      <a:pt x="48797" y="378428"/>
                    </a:lnTo>
                    <a:lnTo>
                      <a:pt x="73190" y="514798"/>
                    </a:lnTo>
                    <a:lnTo>
                      <a:pt x="97593" y="627278"/>
                    </a:lnTo>
                    <a:lnTo>
                      <a:pt x="121987" y="721300"/>
                    </a:lnTo>
                    <a:lnTo>
                      <a:pt x="146380" y="800795"/>
                    </a:lnTo>
                    <a:lnTo>
                      <a:pt x="170783" y="868699"/>
                    </a:lnTo>
                    <a:lnTo>
                      <a:pt x="195177" y="927211"/>
                    </a:lnTo>
                    <a:lnTo>
                      <a:pt x="219570" y="978027"/>
                    </a:lnTo>
                    <a:lnTo>
                      <a:pt x="243973" y="1022471"/>
                    </a:lnTo>
                    <a:lnTo>
                      <a:pt x="268367" y="1061590"/>
                    </a:lnTo>
                    <a:lnTo>
                      <a:pt x="292760" y="1096204"/>
                    </a:lnTo>
                    <a:lnTo>
                      <a:pt x="317163" y="1126988"/>
                    </a:lnTo>
                    <a:lnTo>
                      <a:pt x="341557" y="1154487"/>
                    </a:lnTo>
                    <a:lnTo>
                      <a:pt x="365960" y="1179147"/>
                    </a:lnTo>
                    <a:lnTo>
                      <a:pt x="390354" y="1201341"/>
                    </a:lnTo>
                    <a:lnTo>
                      <a:pt x="414747" y="1221391"/>
                    </a:lnTo>
                    <a:lnTo>
                      <a:pt x="439150" y="1239536"/>
                    </a:lnTo>
                    <a:lnTo>
                      <a:pt x="463544" y="1256014"/>
                    </a:lnTo>
                    <a:lnTo>
                      <a:pt x="487937" y="1270997"/>
                    </a:lnTo>
                    <a:lnTo>
                      <a:pt x="512340" y="1284656"/>
                    </a:lnTo>
                    <a:lnTo>
                      <a:pt x="536734" y="1297115"/>
                    </a:lnTo>
                    <a:lnTo>
                      <a:pt x="561127" y="1308506"/>
                    </a:lnTo>
                    <a:lnTo>
                      <a:pt x="585530" y="1318927"/>
                    </a:lnTo>
                    <a:lnTo>
                      <a:pt x="609924" y="1328471"/>
                    </a:lnTo>
                    <a:lnTo>
                      <a:pt x="634327" y="1337196"/>
                    </a:lnTo>
                    <a:lnTo>
                      <a:pt x="658720" y="1345197"/>
                    </a:lnTo>
                    <a:lnTo>
                      <a:pt x="683114" y="1352502"/>
                    </a:lnTo>
                    <a:lnTo>
                      <a:pt x="707517" y="1359189"/>
                    </a:lnTo>
                    <a:lnTo>
                      <a:pt x="731911" y="1365294"/>
                    </a:lnTo>
                    <a:lnTo>
                      <a:pt x="756304" y="1370848"/>
                    </a:lnTo>
                    <a:lnTo>
                      <a:pt x="780707" y="1375896"/>
                    </a:lnTo>
                    <a:lnTo>
                      <a:pt x="805101" y="1380468"/>
                    </a:lnTo>
                    <a:lnTo>
                      <a:pt x="829494" y="1384583"/>
                    </a:lnTo>
                    <a:lnTo>
                      <a:pt x="853897" y="1388269"/>
                    </a:lnTo>
                    <a:lnTo>
                      <a:pt x="878291" y="1391545"/>
                    </a:lnTo>
                    <a:lnTo>
                      <a:pt x="902694" y="1394422"/>
                    </a:lnTo>
                    <a:lnTo>
                      <a:pt x="927087" y="1396917"/>
                    </a:lnTo>
                    <a:lnTo>
                      <a:pt x="951481" y="1399051"/>
                    </a:lnTo>
                    <a:lnTo>
                      <a:pt x="975884" y="1400813"/>
                    </a:lnTo>
                    <a:lnTo>
                      <a:pt x="1000277" y="1402223"/>
                    </a:lnTo>
                    <a:lnTo>
                      <a:pt x="1024671" y="1403280"/>
                    </a:lnTo>
                    <a:lnTo>
                      <a:pt x="1049074" y="1403985"/>
                    </a:lnTo>
                    <a:lnTo>
                      <a:pt x="1073468" y="1404337"/>
                    </a:lnTo>
                    <a:lnTo>
                      <a:pt x="1097871" y="1404337"/>
                    </a:lnTo>
                    <a:lnTo>
                      <a:pt x="1122264" y="1403975"/>
                    </a:lnTo>
                    <a:lnTo>
                      <a:pt x="1146658" y="1403252"/>
                    </a:lnTo>
                    <a:lnTo>
                      <a:pt x="1171061" y="1402137"/>
                    </a:lnTo>
                    <a:lnTo>
                      <a:pt x="1195454" y="1400632"/>
                    </a:lnTo>
                    <a:lnTo>
                      <a:pt x="1219848" y="1398718"/>
                    </a:lnTo>
                    <a:lnTo>
                      <a:pt x="1244251" y="1396365"/>
                    </a:lnTo>
                    <a:lnTo>
                      <a:pt x="1268644" y="1393555"/>
                    </a:lnTo>
                    <a:lnTo>
                      <a:pt x="1293038" y="1390259"/>
                    </a:lnTo>
                    <a:lnTo>
                      <a:pt x="1317441" y="1386449"/>
                    </a:lnTo>
                    <a:lnTo>
                      <a:pt x="1341834" y="1382068"/>
                    </a:lnTo>
                    <a:lnTo>
                      <a:pt x="1366237" y="1377077"/>
                    </a:lnTo>
                    <a:lnTo>
                      <a:pt x="1390631" y="1371429"/>
                    </a:lnTo>
                    <a:lnTo>
                      <a:pt x="1415024" y="1365037"/>
                    </a:lnTo>
                    <a:lnTo>
                      <a:pt x="1439428" y="1357846"/>
                    </a:lnTo>
                    <a:lnTo>
                      <a:pt x="1463821" y="1349759"/>
                    </a:lnTo>
                    <a:lnTo>
                      <a:pt x="1488215" y="1340672"/>
                    </a:lnTo>
                    <a:lnTo>
                      <a:pt x="1512618" y="1330452"/>
                    </a:lnTo>
                    <a:lnTo>
                      <a:pt x="1537011" y="1318965"/>
                    </a:lnTo>
                    <a:lnTo>
                      <a:pt x="1561405" y="1306030"/>
                    </a:lnTo>
                    <a:lnTo>
                      <a:pt x="1585808" y="1291438"/>
                    </a:lnTo>
                    <a:lnTo>
                      <a:pt x="1610201" y="1274921"/>
                    </a:lnTo>
                    <a:lnTo>
                      <a:pt x="1634604" y="1256186"/>
                    </a:lnTo>
                    <a:lnTo>
                      <a:pt x="1658998" y="1234850"/>
                    </a:lnTo>
                    <a:lnTo>
                      <a:pt x="1683391" y="1210437"/>
                    </a:lnTo>
                    <a:lnTo>
                      <a:pt x="1707794" y="1182357"/>
                    </a:lnTo>
                    <a:lnTo>
                      <a:pt x="1732188" y="1149887"/>
                    </a:lnTo>
                    <a:lnTo>
                      <a:pt x="1756581" y="1112063"/>
                    </a:lnTo>
                    <a:lnTo>
                      <a:pt x="1780985" y="1067676"/>
                    </a:lnTo>
                    <a:lnTo>
                      <a:pt x="1805378" y="1015117"/>
                    </a:lnTo>
                    <a:lnTo>
                      <a:pt x="1829772" y="952252"/>
                    </a:lnTo>
                    <a:lnTo>
                      <a:pt x="1854175" y="876176"/>
                    </a:lnTo>
                    <a:lnTo>
                      <a:pt x="1878568" y="782860"/>
                    </a:lnTo>
                    <a:lnTo>
                      <a:pt x="1902962" y="666579"/>
                    </a:lnTo>
                    <a:lnTo>
                      <a:pt x="1927365" y="518951"/>
                    </a:lnTo>
                  </a:path>
                </a:pathLst>
              </a:custGeom>
              <a:noFill/>
              <a:ln w="16192" cap="rnd">
                <a:solidFill>
                  <a:srgbClr val="762A83"/>
                </a:solidFill>
                <a:round/>
              </a:ln>
            </p:spPr>
          </p:sp>
          <p:sp>
            <p:nvSpPr>
              <p:cNvPr id="998" name="Ellipse 43"/>
              <p:cNvSpPr/>
              <p:nvPr/>
            </p:nvSpPr>
            <p:spPr>
              <a:xfrm>
                <a:off x="17883" y="2293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999" name="Ellipse 44"/>
              <p:cNvSpPr/>
              <p:nvPr/>
            </p:nvSpPr>
            <p:spPr>
              <a:xfrm>
                <a:off x="18128" y="3524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0" name="Ellipse 45"/>
              <p:cNvSpPr/>
              <p:nvPr/>
            </p:nvSpPr>
            <p:spPr>
              <a:xfrm>
                <a:off x="18373" y="3932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1" name="Ellipse 46"/>
              <p:cNvSpPr/>
              <p:nvPr/>
            </p:nvSpPr>
            <p:spPr>
              <a:xfrm>
                <a:off x="18619" y="412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2" name="Ellipse 47"/>
              <p:cNvSpPr/>
              <p:nvPr/>
            </p:nvSpPr>
            <p:spPr>
              <a:xfrm>
                <a:off x="18864" y="4218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3" name="Ellipse 48"/>
              <p:cNvSpPr/>
              <p:nvPr/>
            </p:nvSpPr>
            <p:spPr>
              <a:xfrm>
                <a:off x="19109" y="4269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4" name="Ellipse 49"/>
              <p:cNvSpPr/>
              <p:nvPr/>
            </p:nvSpPr>
            <p:spPr>
              <a:xfrm>
                <a:off x="19354" y="4290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5" name="Ellipse 50"/>
              <p:cNvSpPr/>
              <p:nvPr/>
            </p:nvSpPr>
            <p:spPr>
              <a:xfrm>
                <a:off x="19599" y="4286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6" name="Ellipse 51"/>
              <p:cNvSpPr/>
              <p:nvPr/>
            </p:nvSpPr>
            <p:spPr>
              <a:xfrm>
                <a:off x="19844" y="4251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7" name="Ellipse 52"/>
              <p:cNvSpPr/>
              <p:nvPr/>
            </p:nvSpPr>
            <p:spPr>
              <a:xfrm>
                <a:off x="20089" y="4167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8" name="Ellipse 53"/>
              <p:cNvSpPr/>
              <p:nvPr/>
            </p:nvSpPr>
            <p:spPr>
              <a:xfrm>
                <a:off x="20334" y="3968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09" name="Ellipse 54"/>
              <p:cNvSpPr/>
              <p:nvPr/>
            </p:nvSpPr>
            <p:spPr>
              <a:xfrm>
                <a:off x="20580" y="3396"/>
                <a:ext cx="63" cy="63"/>
              </a:xfrm>
              <a:prstGeom prst="ellipse">
                <a:avLst/>
              </a:prstGeom>
              <a:noFill/>
              <a:ln w="8572">
                <a:solidFill>
                  <a:srgbClr val="762A83"/>
                </a:solidFill>
              </a:ln>
            </p:spPr>
          </p:sp>
          <p:sp>
            <p:nvSpPr>
              <p:cNvPr id="1010" name="TextBox 55"/>
              <p:cNvSpPr txBox="1"/>
              <p:nvPr/>
            </p:nvSpPr>
            <p:spPr>
              <a:xfrm>
                <a:off x="18202" y="2324"/>
                <a:ext cx="264" cy="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2166AC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AB</a:t>
                </a:r>
                <a:endParaRPr lang="zh-CN" sz="975" dirty="0">
                  <a:solidFill>
                    <a:srgbClr val="2166AC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1" name="Freeform 56"/>
              <p:cNvSpPr/>
              <p:nvPr/>
            </p:nvSpPr>
            <p:spPr>
              <a:xfrm>
                <a:off x="18061" y="2707"/>
                <a:ext cx="219" cy="14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 cap="rnd">
                <a:solidFill>
                  <a:srgbClr val="0072B2"/>
                </a:solidFill>
                <a:round/>
              </a:ln>
            </p:spPr>
          </p:sp>
          <p:sp>
            <p:nvSpPr>
              <p:cNvPr id="1012" name="Freeform 57"/>
              <p:cNvSpPr/>
              <p:nvPr/>
            </p:nvSpPr>
            <p:spPr>
              <a:xfrm>
                <a:off x="18279" y="2707"/>
                <a:ext cx="287" cy="1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 cap="rnd">
                <a:solidFill>
                  <a:srgbClr val="E69F00"/>
                </a:solidFill>
                <a:round/>
              </a:ln>
            </p:spPr>
          </p:sp>
          <p:sp>
            <p:nvSpPr>
              <p:cNvPr id="1013" name="TextBox 58"/>
              <p:cNvSpPr txBox="1"/>
              <p:nvPr/>
            </p:nvSpPr>
            <p:spPr>
              <a:xfrm>
                <a:off x="19089" y="2324"/>
                <a:ext cx="377" cy="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D6604D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AB2</a:t>
                </a:r>
                <a:endParaRPr lang="zh-CN" sz="975" dirty="0">
                  <a:solidFill>
                    <a:srgbClr val="D6604D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4" name="Freeform 59"/>
              <p:cNvSpPr/>
              <p:nvPr/>
            </p:nvSpPr>
            <p:spPr>
              <a:xfrm>
                <a:off x="19004" y="2707"/>
                <a:ext cx="219" cy="14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 cap="rnd">
                <a:solidFill>
                  <a:srgbClr val="0072B2"/>
                </a:solidFill>
                <a:round/>
              </a:ln>
            </p:spPr>
          </p:sp>
          <p:sp>
            <p:nvSpPr>
              <p:cNvPr id="1015" name="Freeform 60"/>
              <p:cNvSpPr/>
              <p:nvPr/>
            </p:nvSpPr>
            <p:spPr>
              <a:xfrm>
                <a:off x="19223" y="2557"/>
                <a:ext cx="260" cy="301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09550">
                    <a:moveTo>
                      <a:pt x="0" y="104775"/>
                    </a:moveTo>
                    <a:lnTo>
                      <a:pt x="180975" y="0"/>
                    </a:lnTo>
                    <a:moveTo>
                      <a:pt x="0" y="104775"/>
                    </a:moveTo>
                    <a:lnTo>
                      <a:pt x="180975" y="209550"/>
                    </a:lnTo>
                  </a:path>
                </a:pathLst>
              </a:custGeom>
              <a:noFill/>
              <a:ln w="19050" cap="rnd">
                <a:solidFill>
                  <a:srgbClr val="E69F00"/>
                </a:solidFill>
                <a:round/>
              </a:ln>
            </p:spPr>
          </p:sp>
          <p:sp>
            <p:nvSpPr>
              <p:cNvPr id="1016" name="TextBox 61"/>
              <p:cNvSpPr txBox="1"/>
              <p:nvPr/>
            </p:nvSpPr>
            <p:spPr>
              <a:xfrm>
                <a:off x="20032" y="2324"/>
                <a:ext cx="377" cy="28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762A83"/>
                    </a:solidFill>
                    <a:latin typeface="Arial" panose="020B0604020202020204"/>
                    <a:ea typeface="微软雅黑" panose="020B0503020204020204" charset="-122"/>
                    <a:cs typeface="Arial" panose="020B0604020202020204"/>
                  </a:rPr>
                  <a:t>AB3</a:t>
                </a:r>
                <a:endParaRPr lang="zh-CN" sz="975" dirty="0">
                  <a:solidFill>
                    <a:srgbClr val="762A83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endParaRPr>
              </a:p>
            </p:txBody>
          </p:sp>
          <p:sp>
            <p:nvSpPr>
              <p:cNvPr id="1017" name="Freeform 62"/>
              <p:cNvSpPr/>
              <p:nvPr/>
            </p:nvSpPr>
            <p:spPr>
              <a:xfrm>
                <a:off x="19947" y="2707"/>
                <a:ext cx="219" cy="14"/>
              </a:xfrm>
              <a:custGeom>
                <a:avLst/>
                <a:gdLst/>
                <a:ahLst/>
                <a:cxnLst/>
                <a:rect l="l" t="t" r="r" b="b"/>
                <a:pathLst>
                  <a:path w="152400" h="9525">
                    <a:moveTo>
                      <a:pt x="0" y="0"/>
                    </a:moveTo>
                    <a:lnTo>
                      <a:pt x="152400" y="0"/>
                    </a:lnTo>
                  </a:path>
                </a:pathLst>
              </a:custGeom>
              <a:noFill/>
              <a:ln w="19050" cap="rnd">
                <a:solidFill>
                  <a:srgbClr val="0072B2"/>
                </a:solidFill>
                <a:round/>
              </a:ln>
            </p:spPr>
          </p:sp>
          <p:sp>
            <p:nvSpPr>
              <p:cNvPr id="1018" name="Freeform 63"/>
              <p:cNvSpPr/>
              <p:nvPr/>
            </p:nvSpPr>
            <p:spPr>
              <a:xfrm>
                <a:off x="20166" y="2557"/>
                <a:ext cx="260" cy="301"/>
              </a:xfrm>
              <a:custGeom>
                <a:avLst/>
                <a:gdLst/>
                <a:ahLst/>
                <a:cxnLst/>
                <a:rect l="l" t="t" r="r" b="b"/>
                <a:pathLst>
                  <a:path w="180975" h="209550">
                    <a:moveTo>
                      <a:pt x="0" y="104775"/>
                    </a:moveTo>
                    <a:lnTo>
                      <a:pt x="180975" y="0"/>
                    </a:lnTo>
                    <a:moveTo>
                      <a:pt x="0" y="104775"/>
                    </a:moveTo>
                    <a:lnTo>
                      <a:pt x="180975" y="209550"/>
                    </a:lnTo>
                  </a:path>
                </a:pathLst>
              </a:custGeom>
              <a:noFill/>
              <a:ln w="19050" cap="rnd">
                <a:solidFill>
                  <a:srgbClr val="E69F00"/>
                </a:solidFill>
                <a:round/>
              </a:ln>
            </p:spPr>
          </p:sp>
          <p:sp>
            <p:nvSpPr>
              <p:cNvPr id="1019" name="Freeform 64"/>
              <p:cNvSpPr/>
              <p:nvPr/>
            </p:nvSpPr>
            <p:spPr>
              <a:xfrm>
                <a:off x="20166" y="2707"/>
                <a:ext cx="287" cy="1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9525">
                    <a:moveTo>
                      <a:pt x="0" y="0"/>
                    </a:moveTo>
                    <a:lnTo>
                      <a:pt x="200025" y="0"/>
                    </a:lnTo>
                  </a:path>
                </a:pathLst>
              </a:custGeom>
              <a:noFill/>
              <a:ln w="19050" cap="rnd">
                <a:solidFill>
                  <a:srgbClr val="E69F00"/>
                </a:solidFill>
                <a:round/>
              </a:ln>
            </p:spPr>
          </p:sp>
        </p:grpSp>
        <p:sp>
          <p:nvSpPr>
            <p:cNvPr id="1020" name="TextBox 65"/>
            <p:cNvSpPr txBox="1"/>
            <p:nvPr/>
          </p:nvSpPr>
          <p:spPr>
            <a:xfrm>
              <a:off x="17880" y="5480"/>
              <a:ext cx="2795" cy="26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111111"/>
                  </a:solidFill>
                  <a:latin typeface="Arial" panose="020B0604020202020204"/>
                  <a:ea typeface="微软雅黑" panose="020B0503020204020204" charset="-122"/>
                  <a:cs typeface="Arial" panose="020B0604020202020204"/>
                </a:rPr>
                <a:t>Lines: RPA · circles: GNN mean</a:t>
              </a:r>
              <a:endParaRPr lang="zh-CN" sz="900" dirty="0">
                <a:solidFill>
                  <a:srgbClr val="111111"/>
                </a:solidFill>
                <a:latin typeface="Arial" panose="020B0604020202020204"/>
                <a:ea typeface="微软雅黑" panose="020B0503020204020204" charset="-122"/>
                <a:cs typeface="Arial" panose="020B0604020202020204"/>
              </a:endParaRPr>
            </a:p>
          </p:txBody>
        </p:sp>
      </p:grpSp>
      <p:sp>
        <p:nvSpPr>
          <p:cNvPr id="1023" name="Freeform 68"/>
          <p:cNvSpPr/>
          <p:nvPr/>
        </p:nvSpPr>
        <p:spPr>
          <a:xfrm>
            <a:off x="8230195" y="3281660"/>
            <a:ext cx="130225" cy="8682"/>
          </a:xfrm>
          <a:custGeom>
            <a:avLst/>
            <a:gdLst/>
            <a:ahLst/>
            <a:cxnLst/>
            <a:rect l="l" t="t" r="r" b="b"/>
            <a:pathLst>
              <a:path w="142875" h="9525">
                <a:moveTo>
                  <a:pt x="0" y="0"/>
                </a:moveTo>
                <a:lnTo>
                  <a:pt x="142875" y="0"/>
                </a:lnTo>
              </a:path>
            </a:pathLst>
          </a:custGeom>
          <a:noFill/>
          <a:ln w="13335" cap="rnd">
            <a:solidFill>
              <a:srgbClr val="555555"/>
            </a:solidFill>
            <a:round/>
          </a:ln>
        </p:spPr>
      </p:sp>
      <p:sp>
        <p:nvSpPr>
          <p:cNvPr id="1024" name="Freeform 69"/>
          <p:cNvSpPr/>
          <p:nvPr/>
        </p:nvSpPr>
        <p:spPr>
          <a:xfrm>
            <a:off x="8290967" y="3251274"/>
            <a:ext cx="69453" cy="60771"/>
          </a:xfrm>
          <a:custGeom>
            <a:avLst/>
            <a:gdLst/>
            <a:ahLst/>
            <a:cxnLst/>
            <a:rect l="l" t="t" r="r" b="b"/>
            <a:pathLst>
              <a:path w="76200" h="66675">
                <a:moveTo>
                  <a:pt x="76200" y="33338"/>
                </a:moveTo>
                <a:lnTo>
                  <a:pt x="0" y="0"/>
                </a:lnTo>
                <a:lnTo>
                  <a:pt x="0" y="66675"/>
                </a:lnTo>
                <a:close/>
              </a:path>
            </a:pathLst>
          </a:custGeom>
          <a:solidFill>
            <a:srgbClr val="555555"/>
          </a:solidFill>
          <a:ln w="0" cap="rnd">
            <a:solidFill>
              <a:srgbClr val="555555"/>
            </a:solidFill>
            <a:round/>
          </a:ln>
        </p:spPr>
      </p:sp>
      <p:sp>
        <p:nvSpPr>
          <p:cNvPr id="1031" name="Freeform 3"/>
          <p:cNvSpPr/>
          <p:nvPr/>
        </p:nvSpPr>
        <p:spPr>
          <a:xfrm rot="10800000">
            <a:off x="11224141" y="1356023"/>
            <a:ext cx="1797100" cy="1623467"/>
          </a:xfrm>
          <a:custGeom>
            <a:avLst/>
            <a:gdLst/>
            <a:ahLst/>
            <a:cxnLst/>
            <a:rect l="l" t="t" r="r" b="b"/>
            <a:pathLst>
              <a:path w="1971675" h="1781175">
                <a:moveTo>
                  <a:pt x="0" y="0"/>
                </a:moveTo>
                <a:lnTo>
                  <a:pt x="0" y="1781175"/>
                </a:lnTo>
                <a:lnTo>
                  <a:pt x="1971675" y="1781175"/>
                </a:lnTo>
              </a:path>
            </a:pathLst>
          </a:custGeom>
          <a:noFill/>
          <a:ln w="10478" cap="rnd">
            <a:solidFill>
              <a:srgbClr val="333333"/>
            </a:solidFill>
            <a:round/>
          </a:ln>
        </p:spPr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2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3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4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5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6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7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8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4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5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6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7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8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99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00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01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02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03.xml><?xml version="1.0" encoding="utf-8"?>
<p:tagLst xmlns:p="http://schemas.openxmlformats.org/presentationml/2006/main">
  <p:tag name="KSO_WM_DIAGRAM_VIRTUALLY_FRAME" val="{&quot;height&quot;:198.52666877547207,&quot;left&quot;:37.4771728515625,&quot;top&quot;:464.15,&quot;width&quot;:612.4273596174506}"/>
</p:tagLst>
</file>

<file path=ppt/tags/tag104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05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06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07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08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09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0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1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2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3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4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5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6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7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8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19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20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21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22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23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ags/tag124.xml><?xml version="1.0" encoding="utf-8"?>
<p:tagLst xmlns:p="http://schemas.openxmlformats.org/presentationml/2006/main">
  <p:tag name="KSO_WM_DIAGRAM_VIRTUALLY_FRAME" val="{&quot;height&quot;:630,&quot;left&quot;:105,&quot;top&quot;:33.75,&quot;width&quot;:840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1315</Words>
  <Application>WPS 演示</Application>
  <PresentationFormat>On-screen Show (4:3)</PresentationFormat>
  <Paragraphs>277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Times New Roman</vt:lpstr>
      <vt:lpstr>Cambria Math</vt:lpstr>
      <vt:lpstr>MS Mincho</vt:lpstr>
      <vt:lpstr>Cambria Math</vt:lpstr>
      <vt:lpstr>Times New Roman</vt:lpstr>
      <vt:lpstr>Arial Unicode MS</vt:lpstr>
      <vt:lpstr>Calibri</vt:lpstr>
      <vt:lpstr>MS PGothic</vt:lpstr>
      <vt:lpstr>Ms.Luce</vt:lpstr>
      <vt:lpstr>Office Theme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张曦月</cp:lastModifiedBy>
  <cp:revision>43</cp:revision>
  <dcterms:created xsi:type="dcterms:W3CDTF">2013-01-27T09:14:00Z</dcterms:created>
  <dcterms:modified xsi:type="dcterms:W3CDTF">2026-10-08T11:36:11Z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EE8486B5C7DA4179A2C7FBBB4B56DDC3_13</vt:lpwstr>
  </property>
  <property fmtid="{D5CDD505-2E9C-101B-9397-08002B2CF9AE}" pid="3" name="KSOProductBuildVer">
    <vt:lpwstr>2052-12.1.0.28505</vt:lpwstr>
  </property>
</Properties>
</file>